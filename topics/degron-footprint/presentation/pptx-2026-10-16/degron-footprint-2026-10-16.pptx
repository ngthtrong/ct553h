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Tiêu đề theo khuôn [bài toán] bằng [nguồn nhãn]; chưa đặt tên mô hình (lựa chọn 3 của Trọng). Không dùng chữ 'enhanced/improved/novel'. Dải 28 ô là hình minh họa một peptide 28 residue; các ô san hô = residue mang tín hiệu degron (lấy đúng vị trí 15–19 của peptide ví dụ ở slide 16).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biệt residue (vị trí) và loại acid amin (chất nằm ở vị trí đó) phải nói ngay ở đây: cả đề tài đứng trên ma trận 28 vị trí × 20 loại. Animation 3 bước: chuỗi → gập → đột biến M7V. GIF: Protein synthesis (Translation), Tekksavvy, CC BY-SA 3.0 (Commons).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giải thích vì sao độ bền là đại lượng đáng dự đoán. Cố ý không có con số định lượng. Phương trình viết ở dạng tốc độ dP/dt (không đồng nhất lượng với tốc độ). Animation: mũi tên tổng hợp → mũi tên phân hủy nặng hơn → mức protein tụt.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số 'over 600 E3 ligases' lấy từ DegronMD (Xu et al., Mol Biol Evol 40(12), 2023, DOI 10.1093/molbev/msad253). GIF 2QJL là URM1, protein họ giống ubiquitin (nếp β-grasp), chỉ minh họa cấu trúc, KHÔNG phải ubiquitin hay E3 của người. Hsp90, CC BY-SA 3.0. Ba bước animation khớp ba dòng bên trái.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scope statement là yêu cầu cứng, phải nằm ngay slide định nghĩa bài toán. Cụm 'autonomous degrons' theo D-035 (giới hạn của assay, đã đo). Phân bố 19%/30%/51% (Voutsinos 2026) để dành tới slide 10. Animation zoom 3 tầng: protein → 28-mer → residue.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trả lời câu GVHD nhấn mạnh nhất (vì sao cần nghiên cứu). Số 2,148 là TỰ ĐO (ClinVar 12/10/2026, 2,56 triệu missense, MH theo 3.114 protein). BA DÒNG 'does and does not say' là bắt buộc, không tách khỏi con số (D-033, D-036): mức residue ba phép đo đều nhất quán với rỗng (AUC 0,5166 [0,479; 0,554]). Không nói 'validated against ClinVar', 'degrons are mutation hotspots', 'pathogenic because it breaks a degron'. Nếu hỏi vì sao bỏ khung ung thư: 7/8 degron lái ung thư kinh điển không hiện trong assay (D-035). PNPO D33V là số của tác giả. Chân slide: ghi công ClinVar (PMID 29165669) + câu phủ nhận chẩn đoán, bắt buộc.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Chiều của PSI và ΔPSI là HAI CHỖ đã nhầm trong tài liệu học của repo: PSI thấp = bị phân hủy nhanh = degron mạnh; ΔPSI &gt; 0 = đột biến làm bền. In to, giữ đúng chiều ở mọi hình. 'in the dataset used here' vì số bin khác nhau giữa các bài (Zhang 6, Voutsinos 4, Larsen 4 cổng, thang đảo). GIF: GFP (PDB 1EMA) của Erik A. Rodriguez, CC BY-SA 4.0, đã giảm kích thước/giảm số khung từ bản gốc Commons. Trích dẫn: Koren et al., Cell 173(7):1622, 2018.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dễ sai tên nhất, dùng đúng danh sách tác giả ở phụ lục A1. Hai điều phải giữ đúng: (a) Larsen 2025 là PREPRINT; (b) Degformer KHÔNG có bài báo, ghi 'GitHub, no publication'. Mức bằng chứng: Degpred [CHƯA KIỂM] chỉ tóm tắt; DEGRONOPEDIA, MetaDegron, DegronMD [NGUỒN]; Degformer đọc toàn bộ mã nguồn. Animation: hiện 9 dòng, dừng, rồi dòng 'This thesis' để người nghe tự thấy chỗ trống ở cột prediction unit.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Mức bằng chứng từng bài khác nhau: Degpred [CHƯA KIỂM], DEGRONOPEDIA/MetaDegron/DegronMD [NGUỒN]. Vì vậy các dòng 'fall short' viết ở mức 'not reported' / 'often random peptides', KHÔNG viết 'they leak' hay 'numbers are wrong'. AUC 0,87–0,90 của MetaDegron: nói 'not comparable', đừng nói 'inflated'. Việc cần làm cho luận văn (không chặn buổi gặp): đọc toàn văn Degpred, kiểm cách chia tập của MetaDegron.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quan trọng nhất của phần 3 và dễ sai nhất. (1) PHẢI nói Degformer đã xuất ma trận 28×20; câu 'chưa sản phẩm nào xuất 28×20' đã bị bác bỏ. Cách nói đúng: nhiệm vụ không còn trống, nhưng ĐIỀU KIỆN ĐÁNH GIÁ còn trống. (2) 0,9162–0,9463 là self-reported, ghi 'self-reported correlations', không ghi ρ. (3) Phép đo bất biến hoán vị của PAP là TỰ ĐO (Pearson 1.000000): nhãn nguồn phải rõ. (4) Larsen 2025 là preprint; đừng nói nó là test trình tự chưa thấy (97,4% TF đã có trong peptidome GPS). Hình Fig. 4: Voutsinos et al. Sci Adv 2026, DOI 10.1126/sciadv.adz3483, CC BY-NC 4.0.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này là nguồn của hai quy ước đánh giá đề tài sẽ dùng; khi dùng ba cách làm của LeBlanc phải ghi 'theo LeBlanc et al. 2026', không trình bày như lựa chọn riêng. Trích dẫn đầy đủ ở phụ lục A1. rASA đơn lẻ cho Spearman 0,45 (Schulze &amp; Lindorff-Larsen); mô hình tốt nhất 0,555 so với trần 0,568 (LeBlanc).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sản mạnh nhất của đề tài, nên mở đầu phần lập luận. Nói rõ 'provable' và nói rõ đây là TỰ ĐO. 89,7% là trên 2.624 peptide có footprint (68,9% là trên bộ quét, giữ để trả lời nếu hỏi). Khi nói '+0,0289' PHẢI nói kèm 80% của nó là thành phần của lân cận ±3, không phải thứ tự hay vị trí tuyệt đối (C-17). Câu chuyển: 'PAP is not a bad model; it was trained for a segment-level score. Using it for residue-level effects is using it outside its design.' Animation: hai peptide cùng thành phần, khác thứ tự → nhãn đổi vị trí → điểm số của mô hình không nhích.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search statement ở chân slide là BẮT BUỘC, viết đúng dạng 'queries run on 15 Oct 2026 returned no…', tuyệt đối KHÔNG viết 'nobody has done this'. Nhóm diễn giải biến thể: viết đúng 'mechanistic hypothesis', KHÔNG viết 'explains why a variant is pathogenic' (D-036). Nhà thực nghiệm: 'prioritisation tool', không phải công cụ quyết định (Jaccard 0,50). Không thêm lại nhóm PROTAC. Nếu hỏi 'đã có Degformer rồi thì sao': nhiệm vụ đã có người làm, nhưng chưa ai làm dưới điều kiện đánh giá đứng được (split theo cụm, trần nhãn, bất định); đo được 4,09% rò rỉ trình tự y hệt.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Chỗ mạnh nhất là bảng phân rã: nó TỰ HẠ cách nói 'vị trí thắng thành phần'. Câu đúng: 'composition at which scale?'. Câu chân slide bắt buộc: thắng ΔPAP là thắng một mô hình dùng ngoài thiết kế; M0 chỉ-thành-phần HOÀ ΔPAP cnn2w7 (+0,0008, CI [−0,0057; 0,0074]). Trụ 1 ghi 'region level' theo D-036. Lời GVHD xác nhận trụ phần mềm (D-034) KHÔNG lên slide, nói miệng và xin ghi biên bản ở slide 26. Mốc đã khoá: 0,7693 / trần 0,9519 / ngưỡng 0,0123.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of inference = protein cluster' phải nói sớm. Sau phiên 8 mức phạt đo được nhỏ hơn lo ngại: 91 peptide nằm trên 89 cụm; phạt thật nằm ở ô lồng trong peptide (ICC 0,0625, hệ số thiết kế 33,79, ≈1.416 ô độc lập hiệu dụng). Không trích 'dương giả trên 45%' như số của đề tài. Thước đo chính của ma trận là AUROC mức ô (trần 0,9519), KHÔNG phải Spearman (trần 0,6989) (D-028 mục 2). Hình đầu ra là sơ đồ: không số liệu.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thật: peptide O00468_AGRN_82 từ psi-sat_a/b.tsv, chọn bằng quy tắc cố định (peptide đầu theo thứ tự từ điển có ≥520 ô đo), kèm SHA-256 đầu vào (assets/figs-meta.json). ⚠ Cả 91 peptide bão hòa đều ở phía ĐÁNH GIÁ trong thiết kế cross-source hiện hành, nên đây là minh họa nhãn đo, KHÔNG phải 'peptide trong tập train', không dùng để chọn mô hình. Không dùng ví dụ M7V +1,4 của tài liệu học (đó là số giả định). Con số kiểm 5,0×10⁻⁷ là kết quả đo thật (research/full-data-audit/psi-build.json).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trung thực nhất. (1) Câu chân slide 'measurement ceiling ≠ achievable performance' là BẮT BUỘC (lỗi đã mắc hai lần trong repo); không viết 'headroom to the ceiling'. (2) Không dùng 0,6045 và 0,7792 (oracle đọc nhãn test, D-025 loại). (3) Thước đo chính là AUROC mức ô (D-028 mục 2); precision@3 để phụ lục. (4) 'Committed in advance': ngưỡng 0,0123 gắn với cặp ghép M3−M0 đã đo, cặp mới cần ước lượng lại. MDE cũ 0,071 đã sai (suy từ phương sai không ghép cặp). (5) 'ranking reverses by metric' phải giữ: M3 thắng ở mức vị trí (Spearman 0,4440 vs 0,3553) và thua ở mức ô; báo từng thước đo riêng. Animation: bộ quét (thắng) → bộ bão hòa (chưa thắng) → mũi tên khoảng cách −0,0420.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ClinVar (nguồn 7): KHÔNG có giấy phép kiểu CC; điều kiện là ghi công + câu phủ nhận chẩn đoán phải đi theo đầu ra; file ghi đè mỗi tuần nên muốn tái lập phải dùng bản archive tháng 10/2026; vai là 'motivation only' (D-036). Larsen: MIT là giấy phép phần mềm; Trọng ĐÃ GỬI email xin xác nhận MIT phủ cả file dữ liệu và đang chờ trả lời (C-11a), nên ô giấy phép ghi 'đang chờ xác nhận' thay vì 'đã hoàn tất'. Nguồn 5 là mức tile, không có nhãn mức residue: vai là test chuyển assay.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'em đã làm gì với dữ liệu' bằng một con số kiểm được. Cổng kiểm: PSI dựng lại từ read thô khớp bảng của tác giả, sai lệch tối đa 5,0×10⁻⁷ trên 261.865 giá trị (research/full-data-audit/psi-build.json). Tác giả chỉ công bố bảng PSI cho Replicate 1; dựng lại cho ra cả năm điều kiện, kể cả replicate 2, nên mới tính được trần đo lường. Ba construct sai trong bảng tác giả do lỗi tiêu đề: nêu ngắn gọn. Animation: phễu hẹp dần, người nghe thấy 91 đến từ đâu.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Bảng này đã sửa sau phiên 8: bộ quét CŨNG là nhãn hiệu ứng đột biến và lớn hơn (1.985 cụm so với 89). BỎ câu 'n = 91 là cỡ mẫu của phần mức residue'; n = 91 chỉ là cỡ mẫu phần ma trận 19 thay thế. Nhãn mức tile (Voutsinos, Larsen) thì vẫn không đỡ được tuyên bố mức residue. Bộ bão hòa không có phép đo hoang dã riêng: ô đồng nghĩa là WT nội tại (28 ô mỗi peptide). '*' cuối trình tự (813 peptide 27 aa) phải được mask. Trường dữ liệu đầy đủ ở phụ lục A2. 'Dương giả &gt;45%' là cảnh báo chung từ y văn, không phải số đo trên dữ liệu này.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SƯỜN: kiến trúc chưa chạy. Lý lẽ đã đổi sau phiên 8: KHÔNG nói 'MIL so với đầu theo vị trí chưa có tiền lệ' (mô típ chuẩn đã có, C-17 mục a); tính mới đặt ở GIÁM SÁT YẾU. Năm câu cấm: 'novel aggregation mechanism' (BioBlobs 2025 có tiền lệ attention-MIL trên protein); 'MIL robust to noisy labels' (Ilse 2018 nói về nhãn vắng mặt, không phải nhiễu); 'nobody has placed an exposure gate at the pooling step' (Yang et al. PLOS Comput Biol 2026 là tập mẹ); 'MIL vs per-position head has no precedent'; mọi dạng 'nobody has done X'. rASA/pLDDT không có phương sai trên nhãn chính, nên cổng phơi lộ không nằm trên đường găng (D-028 mục 1). Cần điền sau: chọn A/B/C, sơ đồ tensor, delta so với 0,7693 kèm bất định, ablation ô chéo.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đã đổi tính chất sau phiên 8: bốn dòng đầu ĐÃ có kết quả. Giữ ký hiệu ●/○ để GVHD thấy ngay đâu là đã đo. Khi chưa chạy thì ô ghi 'not measured', KHÔNG điền số minh họa. Rủi ro LeBlanc 'thành phần &gt; vị trí' trả lời bằng số: trên nhãn mức peptide/tile thành phần ổn định hơn vị trí ≈56 lần; trên nhãn hiệu ứng đột biến còn 2,2 lần, và tỉ lệ hệ số ngữ cảnh tách khỏi 0 tăng từ 28,9% lên 53,3%. Nói kèm điều ngược lại: bộ bão hòa một mình thiếu lực cho tham số ngữ cảnh (25% trên 89 cụm), đó là lý do học ngữ cảnh trên bộ quét và xác nhận ma trận trên bộ bão hòa. Quy ước báo trần theo LeBlanc et al. 2026.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Lý lẽ 'vì sao là phần mềm' là chỗ quan trọng nhất: nút thắt của bài toán không chỉ là độ chính xác mà là nhiễu đo (75,9% phần dư sau oracle thành phần là nhiễu đo, full-data-audit). ⚠ Sản phẩm CHƯA XÂY: mọi ô là thiết kế. Bảng so sánh chỉ ghi những dòng đã kiểm (14–15/10/2026); KHÔNG thêm dòng 'batch submission' (MetaDegron và DegronMD đều có); ô nào chưa kiểm được thì ghi 'not checked'. Degformer CÓ xuất ma trận 28×20, nên khác biệt nằm ở ba dòng dưới. 'Calibrated' là mục tiêu thiết kế, chưa chọn phương pháp (ensemble theo seed hoặc conformal trên tập hiệu chỉnh tách theo cụm); đừng hứa độ phủ. Dịch vụ KHÔNG phát phân loại gây bệnh (D-036). Nếu hiển thị ClinVar thì ghi công và câu phủ nhận phải đi kèm. Lời D-034 không lên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 là phần (b) của trụ phần mềm (D-033): dịch vụ là trụ, harness là chương đánh giá; cũng là nơi thực hiện nghĩa vụ đối chứng Degformer dưới split cụm (D-028.8). Checkpoint Degformer là pickle (nạp thực thi mã tuỳ ý): chạy trong thư mục riêng, python3 -I (chữ 'isolated'). ⚠ KHÔNG đưa số ≈1.600 biến thể 'chấm được bằng đúng ô đã đo' lên slide này (D-036: chỉ là độ phủ, dễ bị đọc thành phép kiểm). 87,3% là theo cụm cov80 (13.814/15.819); theo protein thì 67,9% tile nằm trên protein chưa thấy: dùng một số trên slide, giữ số kia để trả lời. ClinVar là động lực của miền, không phải phép kiểm. Lời D-034 không lên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Thứ tự tuần đã dịch lên một bậc so với D-029 (việc tuần 7 cũ đã làm xong ở phiên 8). Điểm kiểm cứng cuối tuần 10 giữ theo D-028 mục 3 và nói ra trước GVHD là điểm mạnh. Bảng tuần là SUY RA từ D-029 + D-031, chưa phải quyết định ghi sổ: nếu Trọng muốn làm căn cứ thì cần một mục quyết định mới sửa D-029. Ba 'cổng' G1/G2/G3 là khung nội bộ của repo, KHÔNG phải của học phần nên slide gọi là readiness check. KHÔNG nêu trên slide rằng không có đề tài dự phòng (D-026); nếu GVHD hỏi thì trả lời thẳng. Rủi ro 'cả hai nguồn nhãn mức residue đều của Zhang 2023' vẫn mở: không lên slide, nếu hỏi thì nói thẳng.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CẦN TRỌNG TỰ VIẾT: Q1 (xin duyệt khung ba trụ, C-5) và Q4 (phạm vi phần mềm) phải viết lại theo khung ba trụ (việc 9 của brief). Hai ô amber là chỗ giữ chỗ; thay trước buổi gặp. Q1 là C-5: việc phải làm, chưa làm; hỏi xong ghi vào project/meetings/ và cập nhật DECISIONS.md. Q2 xin xác nhận lại lời GVHD 11/10 ('kỳ vọng kiến trúc chưa ai dùng') so với 12/10 (chấp nhận đóng góp dạng công cụ). Q3 đổi sau phiên 8: hỏi cách đọc kết quả hai mặt. Nếu còn thời gian: có nên dành ngân sách cho chuyển giao sang protein nguyên vẹn (MaveDB, 9 gene) hay dồn vào nhiệm vụ chính; xin ghi biên bản lời D-034.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Danh sách tác giả đã đối chiếu qua PubMed ngày 15/10/2026 (bioRxiv API cho Larsen). Larsen 2025 là PREPRINT; Degformer không có bài báo. Tokheim/Liu giữ ở đây để trả lời nếu GVHD hỏi về ung thư (không lên slide 6 nữa).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tắc tile đã kiểm trên 128/130 peptide có trình tự biết trước; 2 peptide lệch bị loại. Hàng mẫu lấy thật từ data/processed/psi-rep1.tsv và psi-sat_a.tsv (dữ liệu không lên git).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gif"/><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323F"/>
        </a:solidFill>
        <a:effectLst/>
      </p:bgPr>
    </p:bg>
    <p:spTree>
      <p:nvGrpSpPr>
        <p:cNvPr id="1" name=""/>
        <p:cNvGrpSpPr/>
        <p:nvPr/>
      </p:nvGrpSpPr>
      <p:grpSpPr/>
      <p:sp>
        <p:nvSpPr>
          <p:cNvPr id="2" name="Title 1"/>
          <p:cNvSpPr>
            <a:spLocks noGrp="1"/>
          </p:cNvSpPr>
          <p:nvPr>
            <p:ph type="title"/>
          </p:nvPr>
        </p:nvSpPr>
        <p:spPr>
          <a:xfrm>
            <a:off x="548640" y="1234440"/>
            <a:ext cx="11094415" cy="1737360"/>
          </a:xfrm>
        </p:spPr>
        <p:txBody>
          <a:bodyPr wrap="square" anchor="t" lIns="0" rIns="0" tIns="0" bIns="0"/>
          <a:lstStyle/>
          <a:p>
            <a:pPr algn="l"/>
            <a:r>
              <a:rPr sz="3800" b="1">
                <a:solidFill>
                  <a:srgbClr val="FAFBFC"/>
                </a:solidFill>
                <a:latin typeface="Calibri"/>
              </a:rPr>
              <a:t>Residue-Level Prediction of Degron Mutation Effects from Experimental Protein-Stability Data</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8FA3AD"/>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8FA3AD"/>
                </a:solidFill>
                <a:latin typeface="Calibri"/>
              </a:rPr>
              <a:t>1</a:t>
            </a:r>
          </a:p>
        </p:txBody>
      </p:sp>
      <p:sp>
        <p:nvSpPr>
          <p:cNvPr id="15" name="chip: Undergraduate thesis"/>
          <p:cNvSpPr/>
          <p:nvPr/>
        </p:nvSpPr>
        <p:spPr>
          <a:xfrm>
            <a:off x="548640" y="640080"/>
            <a:ext cx="3566160" cy="310896"/>
          </a:xfrm>
          <a:prstGeom prst="roundRect">
            <a:avLst>
              <a:gd name="adj" fmla="val 50000"/>
            </a:avLst>
          </a:prstGeom>
          <a:solidFill>
            <a:srgbClr val="244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FAFBFC"/>
                </a:solidFill>
                <a:latin typeface="Calibri"/>
              </a:rPr>
              <a:t>Undergraduate thesis proposal · CT553H</a:t>
            </a:r>
          </a:p>
        </p:txBody>
      </p:sp>
      <p:sp>
        <p:nvSpPr>
          <p:cNvPr id="16" name="affiliation"/>
          <p:cNvSpPr txBox="1"/>
          <p:nvPr/>
        </p:nvSpPr>
        <p:spPr>
          <a:xfrm>
            <a:off x="548640" y="2743200"/>
            <a:ext cx="6583680" cy="914400"/>
          </a:xfrm>
          <a:prstGeom prst="rect">
            <a:avLst/>
          </a:prstGeom>
          <a:noFill/>
        </p:spPr>
        <p:txBody>
          <a:bodyPr wrap="square" lIns="0" rIns="0" tIns="0" bIns="0" anchor="t">
            <a:spAutoFit/>
          </a:bodyPr>
          <a:lstStyle/>
          <a:p>
            <a:pPr algn="l"/>
            <a:r>
              <a:rPr sz="1500" b="0" i="0">
                <a:solidFill>
                  <a:srgbClr val="C9D6DC"/>
                </a:solidFill>
                <a:latin typeface="Calibri"/>
              </a:rPr>
              <a:t>Software Engineering, College of Information and Communication Technology</a:t>
            </a:r>
          </a:p>
          <a:p>
            <a:pPr algn="l"/>
            <a:r>
              <a:rPr sz="1500" b="0" i="0">
                <a:solidFill>
                  <a:srgbClr val="C9D6DC"/>
                </a:solidFill>
                <a:latin typeface="Calibri"/>
              </a:rPr>
              <a:t>Can Tho University</a:t>
            </a:r>
          </a:p>
        </p:txBody>
      </p:sp>
      <p:sp>
        <p:nvSpPr>
          <p:cNvPr id="17" name="people"/>
          <p:cNvSpPr txBox="1"/>
          <p:nvPr/>
        </p:nvSpPr>
        <p:spPr>
          <a:xfrm>
            <a:off x="7498079" y="2743200"/>
            <a:ext cx="4114800" cy="1097280"/>
          </a:xfrm>
          <a:prstGeom prst="rect">
            <a:avLst/>
          </a:prstGeom>
          <a:noFill/>
        </p:spPr>
        <p:txBody>
          <a:bodyPr wrap="square" lIns="0" rIns="0" tIns="0" bIns="0" anchor="t">
            <a:spAutoFit/>
          </a:bodyPr>
          <a:lstStyle/>
          <a:p>
            <a:pPr algn="l"/>
            <a:r>
              <a:rPr sz="1500" b="0" i="0">
                <a:solidFill>
                  <a:srgbClr val="8FA3AD"/>
                </a:solidFill>
                <a:latin typeface="Calibri"/>
              </a:rPr>
              <a:t>Student  </a:t>
            </a:r>
            <a:r>
              <a:rPr sz="1500" b="1" i="0">
                <a:solidFill>
                  <a:srgbClr val="FAFBFC"/>
                </a:solidFill>
                <a:latin typeface="Calibri"/>
              </a:rPr>
              <a:t>Nguyễn Thế Trọng — B2305615</a:t>
            </a:r>
          </a:p>
          <a:p>
            <a:pPr algn="l">
              <a:spcBef>
                <a:spcPts val="600"/>
              </a:spcBef>
            </a:pPr>
            <a:r>
              <a:rPr sz="1500" b="0" i="0">
                <a:solidFill>
                  <a:srgbClr val="8FA3AD"/>
                </a:solidFill>
                <a:latin typeface="Calibri"/>
              </a:rPr>
              <a:t>Advisor  </a:t>
            </a:r>
            <a:r>
              <a:rPr sz="1500" b="1" i="0">
                <a:solidFill>
                  <a:srgbClr val="FAFBFC"/>
                </a:solidFill>
                <a:latin typeface="Calibri"/>
              </a:rPr>
              <a:t>Dr. Hồ Quang Thái</a:t>
            </a:r>
          </a:p>
          <a:p>
            <a:pPr algn="l">
              <a:spcBef>
                <a:spcPts val="1000"/>
              </a:spcBef>
            </a:pPr>
            <a:r>
              <a:rPr sz="1500" b="0" i="0">
                <a:solidFill>
                  <a:srgbClr val="E9C46A"/>
                </a:solidFill>
                <a:latin typeface="Calibri"/>
              </a:rPr>
              <a:t>Progress report, week 6 · October 2026</a:t>
            </a:r>
          </a:p>
        </p:txBody>
      </p:sp>
      <p:sp>
        <p:nvSpPr>
          <p:cNvPr id="18" name="peptide cell 1"/>
          <p:cNvSpPr/>
          <p:nvPr/>
        </p:nvSpPr>
        <p:spPr>
          <a:xfrm>
            <a:off x="548640"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peptide cell 2"/>
          <p:cNvSpPr/>
          <p:nvPr/>
        </p:nvSpPr>
        <p:spPr>
          <a:xfrm>
            <a:off x="907084"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peptide cell 3"/>
          <p:cNvSpPr/>
          <p:nvPr/>
        </p:nvSpPr>
        <p:spPr>
          <a:xfrm>
            <a:off x="1265529"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peptide cell 4"/>
          <p:cNvSpPr/>
          <p:nvPr/>
        </p:nvSpPr>
        <p:spPr>
          <a:xfrm>
            <a:off x="1623974"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peptide cell 5"/>
          <p:cNvSpPr/>
          <p:nvPr/>
        </p:nvSpPr>
        <p:spPr>
          <a:xfrm>
            <a:off x="1982419"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peptide cell 6"/>
          <p:cNvSpPr/>
          <p:nvPr/>
        </p:nvSpPr>
        <p:spPr>
          <a:xfrm>
            <a:off x="2340864"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peptide cell 7"/>
          <p:cNvSpPr/>
          <p:nvPr/>
        </p:nvSpPr>
        <p:spPr>
          <a:xfrm>
            <a:off x="2699308"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peptide cell 8"/>
          <p:cNvSpPr/>
          <p:nvPr/>
        </p:nvSpPr>
        <p:spPr>
          <a:xfrm>
            <a:off x="3057753"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peptide cell 9"/>
          <p:cNvSpPr/>
          <p:nvPr/>
        </p:nvSpPr>
        <p:spPr>
          <a:xfrm>
            <a:off x="3416198"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peptide cell 10"/>
          <p:cNvSpPr/>
          <p:nvPr/>
        </p:nvSpPr>
        <p:spPr>
          <a:xfrm>
            <a:off x="3774643"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peptide cell 11"/>
          <p:cNvSpPr/>
          <p:nvPr/>
        </p:nvSpPr>
        <p:spPr>
          <a:xfrm>
            <a:off x="4133087"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peptide cell 12"/>
          <p:cNvSpPr/>
          <p:nvPr/>
        </p:nvSpPr>
        <p:spPr>
          <a:xfrm>
            <a:off x="4491532"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peptide cell 13"/>
          <p:cNvSpPr/>
          <p:nvPr/>
        </p:nvSpPr>
        <p:spPr>
          <a:xfrm>
            <a:off x="4849977"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peptide cell 14"/>
          <p:cNvSpPr/>
          <p:nvPr/>
        </p:nvSpPr>
        <p:spPr>
          <a:xfrm>
            <a:off x="5208422"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peptide cell 15"/>
          <p:cNvSpPr/>
          <p:nvPr/>
        </p:nvSpPr>
        <p:spPr>
          <a:xfrm>
            <a:off x="5566867"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peptide cell 16"/>
          <p:cNvSpPr/>
          <p:nvPr/>
        </p:nvSpPr>
        <p:spPr>
          <a:xfrm>
            <a:off x="5925312"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peptide cell 17"/>
          <p:cNvSpPr/>
          <p:nvPr/>
        </p:nvSpPr>
        <p:spPr>
          <a:xfrm>
            <a:off x="6283756"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peptide cell 18"/>
          <p:cNvSpPr/>
          <p:nvPr/>
        </p:nvSpPr>
        <p:spPr>
          <a:xfrm>
            <a:off x="6642201"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peptide cell 19"/>
          <p:cNvSpPr/>
          <p:nvPr/>
        </p:nvSpPr>
        <p:spPr>
          <a:xfrm>
            <a:off x="7000646"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peptide cell 20"/>
          <p:cNvSpPr/>
          <p:nvPr/>
        </p:nvSpPr>
        <p:spPr>
          <a:xfrm>
            <a:off x="7359091"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peptide cell 21"/>
          <p:cNvSpPr/>
          <p:nvPr/>
        </p:nvSpPr>
        <p:spPr>
          <a:xfrm>
            <a:off x="7717536"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peptide cell 22"/>
          <p:cNvSpPr/>
          <p:nvPr/>
        </p:nvSpPr>
        <p:spPr>
          <a:xfrm>
            <a:off x="8075980"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peptide cell 23"/>
          <p:cNvSpPr/>
          <p:nvPr/>
        </p:nvSpPr>
        <p:spPr>
          <a:xfrm>
            <a:off x="8434425"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peptide cell 24"/>
          <p:cNvSpPr/>
          <p:nvPr/>
        </p:nvSpPr>
        <p:spPr>
          <a:xfrm>
            <a:off x="8792870"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peptide cell 25"/>
          <p:cNvSpPr/>
          <p:nvPr/>
        </p:nvSpPr>
        <p:spPr>
          <a:xfrm>
            <a:off x="9151315"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peptide cell 26"/>
          <p:cNvSpPr/>
          <p:nvPr/>
        </p:nvSpPr>
        <p:spPr>
          <a:xfrm>
            <a:off x="9509760"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peptide cell 27"/>
          <p:cNvSpPr/>
          <p:nvPr/>
        </p:nvSpPr>
        <p:spPr>
          <a:xfrm>
            <a:off x="9868204"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peptide cell 28"/>
          <p:cNvSpPr/>
          <p:nvPr/>
        </p:nvSpPr>
        <p:spPr>
          <a:xfrm>
            <a:off x="10226649" y="4480560"/>
            <a:ext cx="310896" cy="310896"/>
          </a:xfrm>
          <a:prstGeom prst="rect">
            <a:avLst/>
          </a:prstGeom>
          <a:solidFill>
            <a:srgbClr val="2F4B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degron residue 15"/>
          <p:cNvSpPr/>
          <p:nvPr/>
        </p:nvSpPr>
        <p:spPr>
          <a:xfrm>
            <a:off x="5566867" y="4480560"/>
            <a:ext cx="310896" cy="310896"/>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7" name="degron residue 16"/>
          <p:cNvSpPr/>
          <p:nvPr/>
        </p:nvSpPr>
        <p:spPr>
          <a:xfrm>
            <a:off x="5925312" y="4480560"/>
            <a:ext cx="310896" cy="310896"/>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8" name="degron residue 17"/>
          <p:cNvSpPr/>
          <p:nvPr/>
        </p:nvSpPr>
        <p:spPr>
          <a:xfrm>
            <a:off x="6283756" y="4480560"/>
            <a:ext cx="310896" cy="310896"/>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9" name="degron residue 18"/>
          <p:cNvSpPr/>
          <p:nvPr/>
        </p:nvSpPr>
        <p:spPr>
          <a:xfrm>
            <a:off x="6642201" y="4480560"/>
            <a:ext cx="310896" cy="310896"/>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0" name="degron residue 19"/>
          <p:cNvSpPr/>
          <p:nvPr/>
        </p:nvSpPr>
        <p:spPr>
          <a:xfrm>
            <a:off x="7000646" y="4480560"/>
            <a:ext cx="310896" cy="310896"/>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1" name="caption"/>
          <p:cNvSpPr txBox="1"/>
          <p:nvPr/>
        </p:nvSpPr>
        <p:spPr>
          <a:xfrm>
            <a:off x="548640" y="4937760"/>
            <a:ext cx="10058400" cy="274320"/>
          </a:xfrm>
          <a:prstGeom prst="rect">
            <a:avLst/>
          </a:prstGeom>
          <a:noFill/>
        </p:spPr>
        <p:txBody>
          <a:bodyPr wrap="square" lIns="0" rIns="0" tIns="0" bIns="0" anchor="t">
            <a:spAutoFit/>
          </a:bodyPr>
          <a:lstStyle/>
          <a:p>
            <a:pPr algn="l"/>
            <a:r>
              <a:rPr sz="1100" b="0" i="0">
                <a:solidFill>
                  <a:srgbClr val="8FA3AD"/>
                </a:solidFill>
                <a:latin typeface="Calibri"/>
              </a:rPr>
              <a:t>Illustration: one 28-residue peptide; coral residues are the ones that carry the degron signal.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6"/>
                                        </p:tgtEl>
                                        <p:attrNameLst>
                                          <p:attrName>style.visibility</p:attrName>
                                        </p:attrNameLst>
                                      </p:cBhvr>
                                      <p:to>
                                        <p:strVal val="visible"/>
                                      </p:to>
                                    </p:set>
                                    <p:animEffect transition="in" filter="fade">
                                      <p:cBhvr>
                                        <p:cTn id="5" dur="500"/>
                                        <p:tgtEl>
                                          <p:spTgt spid="46"/>
                                        </p:tgtEl>
                                      </p:cBhvr>
                                    </p:animEffect>
                                  </p:childTnLst>
                                </p:cTn>
                              </p:par>
                              <p:par>
                                <p:cTn id="6" presetID="10" presetClass="entr" presetSubtype="0" fill="hold" nodeType="withEffect">
                                  <p:stCondLst>
                                    <p:cond delay="0"/>
                                  </p:stCondLst>
                                  <p:childTnLst>
                                    <p:set>
                                      <p:cBhvr>
                                        <p:cTn id="7" dur="1" fill="hold">
                                          <p:stCondLst>
                                            <p:cond delay="0"/>
                                          </p:stCondLst>
                                        </p:cTn>
                                        <p:tgtEl>
                                          <p:spTgt spid="47"/>
                                        </p:tgtEl>
                                        <p:attrNameLst>
                                          <p:attrName>style.visibility</p:attrName>
                                        </p:attrNameLst>
                                      </p:cBhvr>
                                      <p:to>
                                        <p:strVal val="visible"/>
                                      </p:to>
                                    </p:set>
                                    <p:animEffect transition="in" filter="fade">
                                      <p:cBhvr>
                                        <p:cTn id="8" dur="500"/>
                                        <p:tgtEl>
                                          <p:spTgt spid="47"/>
                                        </p:tgtEl>
                                      </p:cBhvr>
                                    </p:animEffect>
                                  </p:childTnLst>
                                </p:cTn>
                              </p:par>
                              <p:par>
                                <p:cTn id="9" presetID="10" presetClass="entr" presetSubtype="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fade">
                                      <p:cBhvr>
                                        <p:cTn id="11" dur="500"/>
                                        <p:tgtEl>
                                          <p:spTgt spid="48"/>
                                        </p:tgtEl>
                                      </p:cBhvr>
                                    </p:animEffect>
                                  </p:childTnLst>
                                </p:cTn>
                              </p:par>
                              <p:par>
                                <p:cTn id="12" presetID="10" presetClass="entr" presetSubtype="0" fill="hold" nodeType="withEffect">
                                  <p:stCondLst>
                                    <p:cond delay="0"/>
                                  </p:stCondLst>
                                  <p:childTnLst>
                                    <p:set>
                                      <p:cBhvr>
                                        <p:cTn id="13" dur="1" fill="hold">
                                          <p:stCondLst>
                                            <p:cond delay="0"/>
                                          </p:stCondLst>
                                        </p:cTn>
                                        <p:tgtEl>
                                          <p:spTgt spid="49"/>
                                        </p:tgtEl>
                                        <p:attrNameLst>
                                          <p:attrName>style.visibility</p:attrName>
                                        </p:attrNameLst>
                                      </p:cBhvr>
                                      <p:to>
                                        <p:strVal val="visible"/>
                                      </p:to>
                                    </p:set>
                                    <p:animEffect transition="in" filter="fade">
                                      <p:cBhvr>
                                        <p:cTn id="14" dur="500"/>
                                        <p:tgtEl>
                                          <p:spTgt spid="49"/>
                                        </p:tgtEl>
                                      </p:cBhvr>
                                    </p:animEffect>
                                  </p:childTnLst>
                                </p:cTn>
                              </p:par>
                              <p:par>
                                <p:cTn id="15" presetID="10"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868680"/>
          </a:xfrm>
        </p:spPr>
        <p:txBody>
          <a:bodyPr wrap="square" anchor="t" lIns="0" rIns="0" tIns="0" bIns="0"/>
          <a:lstStyle/>
          <a:p>
            <a:pPr algn="l"/>
            <a:r>
              <a:rPr sz="2600" b="1">
                <a:solidFill>
                  <a:srgbClr val="15323F"/>
                </a:solidFill>
                <a:latin typeface="Calibri"/>
              </a:rPr>
              <a:t>Proteins are chains of amino acid residues, and one residue can change</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2</a:t>
            </a:r>
          </a:p>
        </p:txBody>
      </p:sp>
      <p:sp>
        <p:nvSpPr>
          <p:cNvPr id="15" name="intro"/>
          <p:cNvSpPr txBox="1"/>
          <p:nvPr/>
        </p:nvSpPr>
        <p:spPr>
          <a:xfrm>
            <a:off x="548640" y="1097280"/>
            <a:ext cx="7223760" cy="1828800"/>
          </a:xfrm>
          <a:prstGeom prst="rect">
            <a:avLst/>
          </a:prstGeom>
          <a:noFill/>
        </p:spPr>
        <p:txBody>
          <a:bodyPr wrap="square" lIns="0" rIns="0" tIns="0" bIns="0" anchor="t">
            <a:spAutoFit/>
          </a:bodyPr>
          <a:lstStyle/>
          <a:p>
            <a:pPr algn="l"/>
            <a:r>
              <a:rPr sz="1700" b="1" i="0">
                <a:solidFill>
                  <a:srgbClr val="15323F"/>
                </a:solidFill>
                <a:latin typeface="Calibri"/>
              </a:rPr>
              <a:t>Proteins do the work of the cell: catalysis, signalling, structure, transport.</a:t>
            </a:r>
          </a:p>
          <a:p>
            <a:pPr algn="l" marL="182880" indent="-182880">
              <a:spcBef>
                <a:spcPts val="400"/>
              </a:spcBef>
              <a:buClr>
                <a:srgbClr val="D1495B"/>
              </a:buClr>
              <a:buFont typeface="Arial"/>
              <a:buChar char="•"/>
            </a:pPr>
            <a:r>
              <a:rPr sz="1400" b="0" i="0">
                <a:solidFill>
                  <a:srgbClr val="15323F"/>
                </a:solidFill>
                <a:latin typeface="Calibri"/>
              </a:rPr>
              <a:t>A protein is a linear chain of amino acids; each link is a residue</a:t>
            </a:r>
          </a:p>
          <a:p>
            <a:pPr algn="l" marL="182880" indent="-182880">
              <a:spcBef>
                <a:spcPts val="400"/>
              </a:spcBef>
              <a:buClr>
                <a:srgbClr val="D1495B"/>
              </a:buClr>
              <a:buFont typeface="Arial"/>
              <a:buChar char="•"/>
            </a:pPr>
            <a:r>
              <a:rPr sz="1400" b="0" i="0">
                <a:solidFill>
                  <a:srgbClr val="15323F"/>
                </a:solidFill>
                <a:latin typeface="Calibri"/>
              </a:rPr>
              <a:t>20 standard amino acid types; the order is the sequence, e.g. GAKTYIMQRQLS…</a:t>
            </a:r>
          </a:p>
          <a:p>
            <a:pPr algn="l" marL="182880" indent="-182880">
              <a:spcBef>
                <a:spcPts val="400"/>
              </a:spcBef>
              <a:buClr>
                <a:srgbClr val="D1495B"/>
              </a:buClr>
              <a:buFont typeface="Arial"/>
              <a:buChar char="•"/>
            </a:pPr>
            <a:r>
              <a:rPr sz="1400" b="0" i="0">
                <a:solidFill>
                  <a:srgbClr val="15323F"/>
                </a:solidFill>
                <a:latin typeface="Calibri"/>
              </a:rPr>
              <a:t>The sequence sets the 3-D fold, and the fold sets the function</a:t>
            </a:r>
          </a:p>
        </p:txBody>
      </p:sp>
      <p:graphicFrame>
        <p:nvGraphicFramePr>
          <p:cNvPr id="16" name="terms"/>
          <p:cNvGraphicFramePr>
            <a:graphicFrameLocks noGrp="1"/>
          </p:cNvGraphicFramePr>
          <p:nvPr/>
        </p:nvGraphicFramePr>
        <p:xfrm>
          <a:off x="548640" y="2880360"/>
          <a:ext cx="7223760" cy="868680"/>
        </p:xfrm>
        <a:graphic>
          <a:graphicData uri="http://schemas.openxmlformats.org/drawingml/2006/table">
            <a:tbl>
              <a:tblPr firstRow="0" bandRow="0">
                <a:tableStyleId>{2D5ABB26-0587-4C30-8999-92F81FD0307C}</a:tableStyleId>
              </a:tblPr>
              <a:tblGrid>
                <a:gridCol w="1737360"/>
                <a:gridCol w="5486400"/>
              </a:tblGrid>
              <a:tr h="289560">
                <a:tc>
                  <a:txBody>
                    <a:bodyPr wrap="square"/>
                    <a:lstStyle/>
                    <a:p>
                      <a:pPr algn="l"/>
                      <a:r>
                        <a:rPr sz="1300" b="1" i="0">
                          <a:solidFill>
                            <a:srgbClr val="FAFBFC"/>
                          </a:solidFill>
                          <a:latin typeface="Calibri"/>
                        </a:rPr>
                        <a:t>Term</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300" b="1" i="0">
                          <a:solidFill>
                            <a:srgbClr val="FAFBFC"/>
                          </a:solidFill>
                          <a:latin typeface="Calibri"/>
                        </a:rPr>
                        <a:t>Meaning</a:t>
                      </a:r>
                    </a:p>
                  </a:txBody>
                  <a:tcPr marL="54864" marR="54864" marT="27432" marB="27432" anchor="ctr">
                    <a:lnL w="0">
                      <a:noFill/>
                    </a:lnL>
                    <a:lnR w="0">
                      <a:noFill/>
                    </a:lnR>
                    <a:lnT w="0">
                      <a:noFill/>
                    </a:lnT>
                    <a:lnB w="6350">
                      <a:solidFill>
                        <a:srgbClr val="DDE4E8"/>
                      </a:solidFill>
                    </a:lnB>
                    <a:solidFill>
                      <a:srgbClr val="15323F"/>
                    </a:solidFill>
                  </a:tcPr>
                </a:tc>
              </a:tr>
              <a:tr h="289560">
                <a:tc>
                  <a:txBody>
                    <a:bodyPr wrap="square"/>
                    <a:lstStyle/>
                    <a:p>
                      <a:pPr algn="l"/>
                      <a:r>
                        <a:rPr sz="1300" b="1" i="0">
                          <a:solidFill>
                            <a:srgbClr val="15323F"/>
                          </a:solidFill>
                          <a:latin typeface="Calibri"/>
                        </a:rPr>
                        <a:t>Residue</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300" b="0" i="0">
                          <a:solidFill>
                            <a:srgbClr val="15323F"/>
                          </a:solidFill>
                          <a:latin typeface="Calibri"/>
                        </a:rPr>
                        <a:t>one position in the chain: “position 7”</a:t>
                      </a:r>
                    </a:p>
                  </a:txBody>
                  <a:tcPr marL="54864" marR="54864" marT="27432" marB="27432" anchor="ctr">
                    <a:lnL w="0">
                      <a:noFill/>
                    </a:lnL>
                    <a:lnR w="0">
                      <a:noFill/>
                    </a:lnR>
                    <a:lnT w="0">
                      <a:noFill/>
                    </a:lnT>
                    <a:lnB w="6350">
                      <a:solidFill>
                        <a:srgbClr val="DDE4E8"/>
                      </a:solidFill>
                    </a:lnB>
                    <a:solidFill>
                      <a:srgbClr val="FFFFFF"/>
                    </a:solidFill>
                  </a:tcPr>
                </a:tc>
              </a:tr>
              <a:tr h="289560">
                <a:tc>
                  <a:txBody>
                    <a:bodyPr wrap="square"/>
                    <a:lstStyle/>
                    <a:p>
                      <a:pPr algn="l"/>
                      <a:r>
                        <a:rPr sz="1300" b="1" i="0">
                          <a:solidFill>
                            <a:srgbClr val="15323F"/>
                          </a:solidFill>
                          <a:latin typeface="Calibri"/>
                        </a:rPr>
                        <a:t>Amino acid type</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300" b="0" i="0">
                          <a:solidFill>
                            <a:srgbClr val="15323F"/>
                          </a:solidFill>
                          <a:latin typeface="Calibri"/>
                        </a:rPr>
                        <a:t>what sits at that position: “methionine”</a:t>
                      </a:r>
                    </a:p>
                  </a:txBody>
                  <a:tcPr marL="54864" marR="54864" marT="27432" marB="27432" anchor="ctr">
                    <a:lnL w="0">
                      <a:noFill/>
                    </a:lnL>
                    <a:lnR w="0">
                      <a:noFill/>
                    </a:lnR>
                    <a:lnT w="0">
                      <a:noFill/>
                    </a:lnT>
                    <a:lnB w="6350">
                      <a:solidFill>
                        <a:srgbClr val="DDE4E8"/>
                      </a:solidFill>
                    </a:lnB>
                    <a:solidFill>
                      <a:srgbClr val="F4F7F8"/>
                    </a:solidFill>
                  </a:tcPr>
                </a:tc>
              </a:tr>
            </a:tbl>
          </a:graphicData>
        </a:graphic>
      </p:graphicFrame>
      <p:sp>
        <p:nvSpPr>
          <p:cNvPr id="17" name="mutation def"/>
          <p:cNvSpPr txBox="1"/>
          <p:nvPr/>
        </p:nvSpPr>
        <p:spPr>
          <a:xfrm>
            <a:off x="548640" y="4069080"/>
            <a:ext cx="7223760" cy="548640"/>
          </a:xfrm>
          <a:prstGeom prst="rect">
            <a:avLst/>
          </a:prstGeom>
          <a:noFill/>
        </p:spPr>
        <p:txBody>
          <a:bodyPr wrap="square" lIns="0" rIns="0" tIns="0" bIns="0" anchor="t">
            <a:spAutoFit/>
          </a:bodyPr>
          <a:lstStyle/>
          <a:p>
            <a:pPr algn="l"/>
            <a:r>
              <a:rPr sz="1400" b="1" i="0">
                <a:solidFill>
                  <a:srgbClr val="15323F"/>
                </a:solidFill>
                <a:latin typeface="Calibri"/>
              </a:rPr>
              <a:t>A mutation </a:t>
            </a:r>
            <a:r>
              <a:rPr sz="1400" b="0" i="0">
                <a:solidFill>
                  <a:srgbClr val="15323F"/>
                </a:solidFill>
                <a:latin typeface="Calibri"/>
              </a:rPr>
              <a:t>changes the type at one residue: </a:t>
            </a:r>
            <a:r>
              <a:rPr sz="1400" b="1" i="0">
                <a:solidFill>
                  <a:srgbClr val="D1495B"/>
                </a:solidFill>
                <a:latin typeface="Courier New"/>
              </a:rPr>
              <a:t>M7V</a:t>
            </a:r>
            <a:r>
              <a:rPr sz="1400" b="0" i="0">
                <a:solidFill>
                  <a:srgbClr val="15323F"/>
                </a:solidFill>
                <a:latin typeface="Calibri"/>
              </a:rPr>
              <a:t> = methionine → valine at position 7.</a:t>
            </a:r>
          </a:p>
        </p:txBody>
      </p:sp>
      <p:sp>
        <p:nvSpPr>
          <p:cNvPr id="18" name="gif card"/>
          <p:cNvSpPr/>
          <p:nvPr/>
        </p:nvSpPr>
        <p:spPr>
          <a:xfrm>
            <a:off x="8229600" y="1097280"/>
            <a:ext cx="3410712" cy="3410712"/>
          </a:xfrm>
          <a:prstGeom prst="roundRect">
            <a:avLst>
              <a:gd name="adj" fmla="val 2680"/>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pic>
        <p:nvPicPr>
          <p:cNvPr id="19" name="Picture 18" descr="Animated schematic of mRNA translation by a ribosome adding amino acids to a growing chain"/>
          <p:cNvPicPr>
            <a:picLocks noChangeAspect="1"/>
          </p:cNvPicPr>
          <p:nvPr/>
        </p:nvPicPr>
        <p:blipFill>
          <a:blip r:embed="rId3"/>
          <a:stretch>
            <a:fillRect/>
          </a:stretch>
        </p:blipFill>
        <p:spPr>
          <a:xfrm>
            <a:off x="8275320" y="1143000"/>
            <a:ext cx="3319272" cy="3319272"/>
          </a:xfrm>
          <a:prstGeom prst="rect">
            <a:avLst/>
          </a:prstGeom>
        </p:spPr>
      </p:pic>
      <p:sp>
        <p:nvSpPr>
          <p:cNvPr id="20" name="gif caption"/>
          <p:cNvSpPr txBox="1"/>
          <p:nvPr/>
        </p:nvSpPr>
        <p:spPr>
          <a:xfrm>
            <a:off x="8229600" y="4572000"/>
            <a:ext cx="3410712" cy="502920"/>
          </a:xfrm>
          <a:prstGeom prst="rect">
            <a:avLst/>
          </a:prstGeom>
          <a:noFill/>
        </p:spPr>
        <p:txBody>
          <a:bodyPr wrap="square" lIns="0" rIns="0" tIns="0" bIns="0" anchor="t">
            <a:spAutoFit/>
          </a:bodyPr>
          <a:lstStyle/>
          <a:p>
            <a:pPr algn="l"/>
            <a:r>
              <a:rPr sz="1000" b="0" i="0">
                <a:solidFill>
                  <a:srgbClr val="5B7380"/>
                </a:solidFill>
                <a:latin typeface="Calibri"/>
              </a:rPr>
              <a:t>Translation: a ribosome links amino acids into a chain. Animation: Tekksavvy, CC BY-SA 3.0, Wikimedia Commons.</a:t>
            </a:r>
          </a:p>
        </p:txBody>
      </p:sp>
      <p:sp>
        <p:nvSpPr>
          <p:cNvPr id="21" name="residue 1"/>
          <p:cNvSpPr/>
          <p:nvPr/>
        </p:nvSpPr>
        <p:spPr>
          <a:xfrm>
            <a:off x="548640"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G</a:t>
            </a:r>
          </a:p>
        </p:txBody>
      </p:sp>
      <p:sp>
        <p:nvSpPr>
          <p:cNvPr id="22" name="index 1"/>
          <p:cNvSpPr txBox="1"/>
          <p:nvPr/>
        </p:nvSpPr>
        <p:spPr>
          <a:xfrm>
            <a:off x="548640"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1</a:t>
            </a:r>
          </a:p>
        </p:txBody>
      </p:sp>
      <p:sp>
        <p:nvSpPr>
          <p:cNvPr id="23" name="residue 2"/>
          <p:cNvSpPr/>
          <p:nvPr/>
        </p:nvSpPr>
        <p:spPr>
          <a:xfrm>
            <a:off x="1115568"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A</a:t>
            </a:r>
          </a:p>
        </p:txBody>
      </p:sp>
      <p:sp>
        <p:nvSpPr>
          <p:cNvPr id="24" name="index 2"/>
          <p:cNvSpPr txBox="1"/>
          <p:nvPr/>
        </p:nvSpPr>
        <p:spPr>
          <a:xfrm>
            <a:off x="1115568"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2</a:t>
            </a:r>
          </a:p>
        </p:txBody>
      </p:sp>
      <p:sp>
        <p:nvSpPr>
          <p:cNvPr id="25" name="residue 3"/>
          <p:cNvSpPr/>
          <p:nvPr/>
        </p:nvSpPr>
        <p:spPr>
          <a:xfrm>
            <a:off x="1682495"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K</a:t>
            </a:r>
          </a:p>
        </p:txBody>
      </p:sp>
      <p:sp>
        <p:nvSpPr>
          <p:cNvPr id="26" name="index 3"/>
          <p:cNvSpPr txBox="1"/>
          <p:nvPr/>
        </p:nvSpPr>
        <p:spPr>
          <a:xfrm>
            <a:off x="1682495"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3</a:t>
            </a:r>
          </a:p>
        </p:txBody>
      </p:sp>
      <p:sp>
        <p:nvSpPr>
          <p:cNvPr id="27" name="residue 4"/>
          <p:cNvSpPr/>
          <p:nvPr/>
        </p:nvSpPr>
        <p:spPr>
          <a:xfrm>
            <a:off x="2249424"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T</a:t>
            </a:r>
          </a:p>
        </p:txBody>
      </p:sp>
      <p:sp>
        <p:nvSpPr>
          <p:cNvPr id="28" name="index 4"/>
          <p:cNvSpPr txBox="1"/>
          <p:nvPr/>
        </p:nvSpPr>
        <p:spPr>
          <a:xfrm>
            <a:off x="2249424"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4</a:t>
            </a:r>
          </a:p>
        </p:txBody>
      </p:sp>
      <p:sp>
        <p:nvSpPr>
          <p:cNvPr id="29" name="residue 5"/>
          <p:cNvSpPr/>
          <p:nvPr/>
        </p:nvSpPr>
        <p:spPr>
          <a:xfrm>
            <a:off x="2816352"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Y</a:t>
            </a:r>
          </a:p>
        </p:txBody>
      </p:sp>
      <p:sp>
        <p:nvSpPr>
          <p:cNvPr id="30" name="index 5"/>
          <p:cNvSpPr txBox="1"/>
          <p:nvPr/>
        </p:nvSpPr>
        <p:spPr>
          <a:xfrm>
            <a:off x="2816352"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5</a:t>
            </a:r>
          </a:p>
        </p:txBody>
      </p:sp>
      <p:sp>
        <p:nvSpPr>
          <p:cNvPr id="31" name="residue 6"/>
          <p:cNvSpPr/>
          <p:nvPr/>
        </p:nvSpPr>
        <p:spPr>
          <a:xfrm>
            <a:off x="3383280"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I</a:t>
            </a:r>
          </a:p>
        </p:txBody>
      </p:sp>
      <p:sp>
        <p:nvSpPr>
          <p:cNvPr id="32" name="index 6"/>
          <p:cNvSpPr txBox="1"/>
          <p:nvPr/>
        </p:nvSpPr>
        <p:spPr>
          <a:xfrm>
            <a:off x="3383280"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6</a:t>
            </a:r>
          </a:p>
        </p:txBody>
      </p:sp>
      <p:sp>
        <p:nvSpPr>
          <p:cNvPr id="33" name="residue 7"/>
          <p:cNvSpPr/>
          <p:nvPr/>
        </p:nvSpPr>
        <p:spPr>
          <a:xfrm>
            <a:off x="3950207"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M</a:t>
            </a:r>
          </a:p>
        </p:txBody>
      </p:sp>
      <p:sp>
        <p:nvSpPr>
          <p:cNvPr id="34" name="index 7"/>
          <p:cNvSpPr txBox="1"/>
          <p:nvPr/>
        </p:nvSpPr>
        <p:spPr>
          <a:xfrm>
            <a:off x="3950207"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7</a:t>
            </a:r>
          </a:p>
        </p:txBody>
      </p:sp>
      <p:sp>
        <p:nvSpPr>
          <p:cNvPr id="35" name="residue 8"/>
          <p:cNvSpPr/>
          <p:nvPr/>
        </p:nvSpPr>
        <p:spPr>
          <a:xfrm>
            <a:off x="4517136"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Q</a:t>
            </a:r>
          </a:p>
        </p:txBody>
      </p:sp>
      <p:sp>
        <p:nvSpPr>
          <p:cNvPr id="36" name="index 8"/>
          <p:cNvSpPr txBox="1"/>
          <p:nvPr/>
        </p:nvSpPr>
        <p:spPr>
          <a:xfrm>
            <a:off x="4517136"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8</a:t>
            </a:r>
          </a:p>
        </p:txBody>
      </p:sp>
      <p:sp>
        <p:nvSpPr>
          <p:cNvPr id="37" name="residue 9"/>
          <p:cNvSpPr/>
          <p:nvPr/>
        </p:nvSpPr>
        <p:spPr>
          <a:xfrm>
            <a:off x="5084064"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R</a:t>
            </a:r>
          </a:p>
        </p:txBody>
      </p:sp>
      <p:sp>
        <p:nvSpPr>
          <p:cNvPr id="38" name="index 9"/>
          <p:cNvSpPr txBox="1"/>
          <p:nvPr/>
        </p:nvSpPr>
        <p:spPr>
          <a:xfrm>
            <a:off x="5084064"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9</a:t>
            </a:r>
          </a:p>
        </p:txBody>
      </p:sp>
      <p:sp>
        <p:nvSpPr>
          <p:cNvPr id="39" name="residue 10"/>
          <p:cNvSpPr/>
          <p:nvPr/>
        </p:nvSpPr>
        <p:spPr>
          <a:xfrm>
            <a:off x="5650992"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Q</a:t>
            </a:r>
          </a:p>
        </p:txBody>
      </p:sp>
      <p:sp>
        <p:nvSpPr>
          <p:cNvPr id="40" name="index 10"/>
          <p:cNvSpPr txBox="1"/>
          <p:nvPr/>
        </p:nvSpPr>
        <p:spPr>
          <a:xfrm>
            <a:off x="5650992"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10</a:t>
            </a:r>
          </a:p>
        </p:txBody>
      </p:sp>
      <p:sp>
        <p:nvSpPr>
          <p:cNvPr id="41" name="residue 11"/>
          <p:cNvSpPr/>
          <p:nvPr/>
        </p:nvSpPr>
        <p:spPr>
          <a:xfrm>
            <a:off x="6217920"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L</a:t>
            </a:r>
          </a:p>
        </p:txBody>
      </p:sp>
      <p:sp>
        <p:nvSpPr>
          <p:cNvPr id="42" name="index 11"/>
          <p:cNvSpPr txBox="1"/>
          <p:nvPr/>
        </p:nvSpPr>
        <p:spPr>
          <a:xfrm>
            <a:off x="6217920"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11</a:t>
            </a:r>
          </a:p>
        </p:txBody>
      </p:sp>
      <p:sp>
        <p:nvSpPr>
          <p:cNvPr id="43" name="residue 12"/>
          <p:cNvSpPr/>
          <p:nvPr/>
        </p:nvSpPr>
        <p:spPr>
          <a:xfrm>
            <a:off x="6784848" y="4892040"/>
            <a:ext cx="420624" cy="420624"/>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S</a:t>
            </a:r>
          </a:p>
        </p:txBody>
      </p:sp>
      <p:sp>
        <p:nvSpPr>
          <p:cNvPr id="44" name="index 12"/>
          <p:cNvSpPr txBox="1"/>
          <p:nvPr/>
        </p:nvSpPr>
        <p:spPr>
          <a:xfrm>
            <a:off x="6784848" y="5340096"/>
            <a:ext cx="420624" cy="201168"/>
          </a:xfrm>
          <a:prstGeom prst="rect">
            <a:avLst/>
          </a:prstGeom>
          <a:noFill/>
        </p:spPr>
        <p:txBody>
          <a:bodyPr wrap="square" lIns="0" rIns="0" tIns="0" bIns="0" anchor="t">
            <a:spAutoFit/>
          </a:bodyPr>
          <a:lstStyle/>
          <a:p>
            <a:pPr algn="ctr"/>
            <a:r>
              <a:rPr sz="1000" b="0" i="0">
                <a:solidFill>
                  <a:srgbClr val="5B7380"/>
                </a:solidFill>
                <a:latin typeface="Calibri"/>
              </a:rPr>
              <a:t>12</a:t>
            </a:r>
          </a:p>
        </p:txBody>
      </p:sp>
      <p:sp>
        <p:nvSpPr>
          <p:cNvPr id="45" name="fold label"/>
          <p:cNvSpPr/>
          <p:nvPr/>
        </p:nvSpPr>
        <p:spPr>
          <a:xfrm>
            <a:off x="7406640" y="4919472"/>
            <a:ext cx="822960" cy="329184"/>
          </a:xfrm>
          <a:prstGeom prst="roundRect">
            <a:avLst>
              <a:gd name="adj" fmla="val 50000"/>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386FA4"/>
                </a:solidFill>
                <a:latin typeface="Calibri"/>
              </a:rPr>
              <a:t>fold</a:t>
            </a:r>
          </a:p>
        </p:txBody>
      </p:sp>
      <p:sp>
        <p:nvSpPr>
          <p:cNvPr id="46" name="arrow"/>
          <p:cNvSpPr/>
          <p:nvPr/>
        </p:nvSpPr>
        <p:spPr>
          <a:xfrm>
            <a:off x="7315200" y="4983480"/>
            <a:ext cx="182880" cy="201168"/>
          </a:xfrm>
          <a:prstGeom prst="rightArrow">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7" name="mutated residue"/>
          <p:cNvSpPr/>
          <p:nvPr/>
        </p:nvSpPr>
        <p:spPr>
          <a:xfrm>
            <a:off x="3950207" y="4892040"/>
            <a:ext cx="420624" cy="42062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AFBFC"/>
                </a:solidFill>
                <a:latin typeface="Courier New"/>
              </a:rPr>
              <a:t>V</a:t>
            </a:r>
          </a:p>
        </p:txBody>
      </p:sp>
      <p:sp>
        <p:nvSpPr>
          <p:cNvPr id="48" name="mutation label"/>
          <p:cNvSpPr/>
          <p:nvPr/>
        </p:nvSpPr>
        <p:spPr>
          <a:xfrm>
            <a:off x="3630167" y="5577840"/>
            <a:ext cx="1060704" cy="256032"/>
          </a:xfrm>
          <a:prstGeom prst="roundRect">
            <a:avLst>
              <a:gd name="adj" fmla="val 50000"/>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D1495B"/>
                </a:solidFill>
                <a:latin typeface="Calibri"/>
              </a:rPr>
              <a:t>M7V  mutation</a:t>
            </a:r>
          </a:p>
        </p:txBody>
      </p:sp>
      <p:sp>
        <p:nvSpPr>
          <p:cNvPr id="49" name="hint"/>
          <p:cNvSpPr txBox="1"/>
          <p:nvPr/>
        </p:nvSpPr>
        <p:spPr>
          <a:xfrm>
            <a:off x="548640" y="4572000"/>
            <a:ext cx="5486400" cy="274320"/>
          </a:xfrm>
          <a:prstGeom prst="rect">
            <a:avLst/>
          </a:prstGeom>
          <a:noFill/>
        </p:spPr>
        <p:txBody>
          <a:bodyPr wrap="square" lIns="0" rIns="0" tIns="0" bIns="0" anchor="t">
            <a:spAutoFit/>
          </a:bodyPr>
          <a:lstStyle/>
          <a:p>
            <a:pPr algn="l"/>
            <a:r>
              <a:rPr sz="1000" b="0" i="1">
                <a:solidFill>
                  <a:srgbClr val="5B7380"/>
                </a:solidFill>
                <a:latin typeface="Calibri"/>
              </a:rPr>
              <a:t>Click: chain  →  fold  →  mutation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5" fill="hold">
                      <p:stCondLst>
                        <p:cond delay="indefinite"/>
                      </p:stCondLst>
                      <p:childTnLst>
                        <p:par>
                          <p:cTn id="7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500"/>
                                        <p:tgtEl>
                                          <p:spTgt spid="21"/>
                                        </p:tgtEl>
                                      </p:cBhvr>
                                    </p:animEffect>
                                  </p:childTnLst>
                                </p:cTn>
                              </p:par>
                              <p:par>
                                <p:cTn id="6" presetID="10" presetClass="entr" presetSubtype="0" fill="hold"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500"/>
                                        <p:tgtEl>
                                          <p:spTgt spid="23"/>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500"/>
                                        <p:tgtEl>
                                          <p:spTgt spid="27"/>
                                        </p:tgtEl>
                                      </p:cBhvr>
                                    </p:animEffect>
                                  </p:childTnLst>
                                </p:cTn>
                              </p:par>
                              <p:par>
                                <p:cTn id="15" presetID="10"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10" presetClass="entr" presetSubtype="0" fill="hold"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par>
                                <p:cTn id="21" presetID="10"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500"/>
                                        <p:tgtEl>
                                          <p:spTgt spid="35"/>
                                        </p:tgtEl>
                                      </p:cBhvr>
                                    </p:animEffect>
                                  </p:childTnLst>
                                </p:cTn>
                              </p:par>
                              <p:par>
                                <p:cTn id="27" presetID="10"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10" presetClass="entr" presetSubtype="0" fill="hold"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par>
                                <p:cTn id="33" presetID="10"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500"/>
                                        <p:tgtEl>
                                          <p:spTgt spid="41"/>
                                        </p:tgtEl>
                                      </p:cBhvr>
                                    </p:animEffect>
                                  </p:childTnLst>
                                </p:cTn>
                              </p:par>
                              <p:par>
                                <p:cTn id="36" presetID="10" presetClass="entr" presetSubtype="0" fill="hold" nodeType="with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500"/>
                                        <p:tgtEl>
                                          <p:spTgt spid="43"/>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par>
                                <p:cTn id="42" presetID="10" presetClass="entr" presetSubtype="0" fill="hold"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500"/>
                                        <p:tgtEl>
                                          <p:spTgt spid="24"/>
                                        </p:tgtEl>
                                      </p:cBhvr>
                                    </p:animEffect>
                                  </p:childTnLst>
                                </p:cTn>
                              </p:par>
                              <p:par>
                                <p:cTn id="45" presetID="10"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par>
                                <p:cTn id="51" presetID="10"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00"/>
                                        <p:tgtEl>
                                          <p:spTgt spid="30"/>
                                        </p:tgtEl>
                                      </p:cBhvr>
                                    </p:animEffect>
                                  </p:childTnLst>
                                </p:cTn>
                              </p:par>
                              <p:par>
                                <p:cTn id="54" presetID="10" presetClass="entr" presetSubtype="0" fill="hold"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par>
                                <p:cTn id="57" presetID="10" presetClass="entr" presetSubtype="0" fill="hold"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00"/>
                                        <p:tgtEl>
                                          <p:spTgt spid="34"/>
                                        </p:tgtEl>
                                      </p:cBhvr>
                                    </p:animEffect>
                                  </p:childTnLst>
                                </p:cTn>
                              </p:par>
                              <p:par>
                                <p:cTn id="60" presetID="10" presetClass="entr" presetSubtype="0" fill="hold"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fade">
                                      <p:cBhvr>
                                        <p:cTn id="62" dur="500"/>
                                        <p:tgtEl>
                                          <p:spTgt spid="36"/>
                                        </p:tgtEl>
                                      </p:cBhvr>
                                    </p:animEffect>
                                  </p:childTnLst>
                                </p:cTn>
                              </p:par>
                              <p:par>
                                <p:cTn id="63" presetID="10" presetClass="entr" presetSubtype="0" fill="hold" nodeType="with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fade">
                                      <p:cBhvr>
                                        <p:cTn id="65" dur="500"/>
                                        <p:tgtEl>
                                          <p:spTgt spid="38"/>
                                        </p:tgtEl>
                                      </p:cBhvr>
                                    </p:animEffect>
                                  </p:childTnLst>
                                </p:cTn>
                              </p:par>
                              <p:par>
                                <p:cTn id="66" presetID="10" presetClass="entr" presetSubtype="0" fill="hold" nodeType="with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500"/>
                                        <p:tgtEl>
                                          <p:spTgt spid="40"/>
                                        </p:tgtEl>
                                      </p:cBhvr>
                                    </p:animEffect>
                                  </p:childTnLst>
                                </p:cTn>
                              </p:par>
                              <p:par>
                                <p:cTn id="69" presetID="10" presetClass="entr" presetSubtype="0" fill="hold"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par>
                                <p:cTn id="72" presetID="10" presetClass="entr" presetSubtype="0" fill="hold" nodeType="withEffect">
                                  <p:stCondLst>
                                    <p:cond delay="0"/>
                                  </p:stCondLst>
                                  <p:childTnLst>
                                    <p:set>
                                      <p:cBhvr>
                                        <p:cTn id="73" dur="1" fill="hold">
                                          <p:stCondLst>
                                            <p:cond delay="0"/>
                                          </p:stCondLst>
                                        </p:cTn>
                                        <p:tgtEl>
                                          <p:spTgt spid="44"/>
                                        </p:tgtEl>
                                        <p:attrNameLst>
                                          <p:attrName>style.visibility</p:attrName>
                                        </p:attrNameLst>
                                      </p:cBhvr>
                                      <p:to>
                                        <p:strVal val="visible"/>
                                      </p:to>
                                    </p:set>
                                    <p:animEffect transition="in" filter="fade">
                                      <p:cBhvr>
                                        <p:cTn id="74" dur="500"/>
                                        <p:tgtEl>
                                          <p:spTgt spid="44"/>
                                        </p:tgtEl>
                                      </p:cBhvr>
                                    </p:animEffect>
                                  </p:childTnLst>
                                </p:cTn>
                              </p:par>
                            </p:childTnLst>
                          </p:cTn>
                        </p:par>
                      </p:childTnLst>
                    </p:cTn>
                  </p:par>
                  <p:par>
                    <p:cTn id="83" fill="hold">
                      <p:stCondLst>
                        <p:cond delay="indefinite"/>
                      </p:stCondLst>
                      <p:childTnLst>
                        <p:par>
                          <p:cTn id="84"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500"/>
                                        <p:tgtEl>
                                          <p:spTgt spid="45"/>
                                        </p:tgtEl>
                                      </p:cBhvr>
                                    </p:animEffect>
                                  </p:childTnLst>
                                </p:cTn>
                              </p:par>
                              <p:par>
                                <p:cTn id="80" presetID="10" presetClass="entr" presetSubtype="0" fill="hold" nodeType="with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500"/>
                                        <p:tgtEl>
                                          <p:spTgt spid="46"/>
                                        </p:tgtEl>
                                      </p:cBhvr>
                                    </p:animEffect>
                                  </p:childTnLst>
                                </p:cTn>
                              </p:par>
                            </p:childTnLst>
                          </p:cTn>
                        </p:par>
                      </p:childTnLst>
                    </p:cTn>
                  </p:par>
                  <p:par>
                    <p:cTn id="91" fill="hold">
                      <p:stCondLst>
                        <p:cond delay="indefinite"/>
                      </p:stCondLst>
                      <p:childTnLst>
                        <p:par>
                          <p:cTn id="92"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500"/>
                                        <p:tgtEl>
                                          <p:spTgt spid="47"/>
                                        </p:tgtEl>
                                      </p:cBhvr>
                                    </p:animEffect>
                                  </p:childTnLst>
                                </p:cTn>
                              </p:par>
                              <p:par>
                                <p:cTn id="88" presetID="10" presetClass="entr" presetSubtype="0" fill="hold" nodeType="withEffect">
                                  <p:stCondLst>
                                    <p:cond delay="0"/>
                                  </p:stCondLst>
                                  <p:childTnLst>
                                    <p:set>
                                      <p:cBhvr>
                                        <p:cTn id="89" dur="1" fill="hold">
                                          <p:stCondLst>
                                            <p:cond delay="0"/>
                                          </p:stCondLst>
                                        </p:cTn>
                                        <p:tgtEl>
                                          <p:spTgt spid="48"/>
                                        </p:tgtEl>
                                        <p:attrNameLst>
                                          <p:attrName>style.visibility</p:attrName>
                                        </p:attrNameLst>
                                      </p:cBhvr>
                                      <p:to>
                                        <p:strVal val="visible"/>
                                      </p:to>
                                    </p:set>
                                    <p:animEffect transition="in" filter="fade">
                                      <p:cBhvr>
                                        <p:cTn id="9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868680"/>
          </a:xfrm>
        </p:spPr>
        <p:txBody>
          <a:bodyPr wrap="square" anchor="t" lIns="0" rIns="0" tIns="0" bIns="0"/>
          <a:lstStyle/>
          <a:p>
            <a:pPr algn="l"/>
            <a:r>
              <a:rPr sz="2600" b="1">
                <a:solidFill>
                  <a:srgbClr val="15323F"/>
                </a:solidFill>
                <a:latin typeface="Calibri"/>
              </a:rPr>
              <a:t>Protein level is set by a balance: synthesis against degradation</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3</a:t>
            </a:r>
          </a:p>
        </p:txBody>
      </p:sp>
      <p:sp>
        <p:nvSpPr>
          <p:cNvPr id="15" name="cell"/>
          <p:cNvSpPr/>
          <p:nvPr/>
        </p:nvSpPr>
        <p:spPr>
          <a:xfrm>
            <a:off x="2011680" y="1463040"/>
            <a:ext cx="2377440" cy="3108960"/>
          </a:xfrm>
          <a:prstGeom prst="roundRect">
            <a:avLst>
              <a:gd name="adj" fmla="val 3846"/>
            </a:avLst>
          </a:prstGeom>
          <a:solidFill>
            <a:srgbClr val="DCE7F2"/>
          </a:solidFill>
          <a:ln w="19050">
            <a:solidFill>
              <a:srgbClr val="386FA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cell label"/>
          <p:cNvSpPr txBox="1"/>
          <p:nvPr/>
        </p:nvSpPr>
        <p:spPr>
          <a:xfrm>
            <a:off x="2011680" y="1115568"/>
            <a:ext cx="2377440" cy="292608"/>
          </a:xfrm>
          <a:prstGeom prst="rect">
            <a:avLst/>
          </a:prstGeom>
          <a:noFill/>
        </p:spPr>
        <p:txBody>
          <a:bodyPr wrap="square" lIns="0" rIns="0" tIns="0" bIns="0" anchor="t">
            <a:spAutoFit/>
          </a:bodyPr>
          <a:lstStyle/>
          <a:p>
            <a:pPr algn="ctr"/>
            <a:r>
              <a:rPr sz="1200" b="1" i="0">
                <a:solidFill>
                  <a:srgbClr val="386FA4"/>
                </a:solidFill>
                <a:latin typeface="Calibri"/>
              </a:rPr>
              <a:t>protein level in the cell</a:t>
            </a:r>
          </a:p>
        </p:txBody>
      </p:sp>
      <p:sp>
        <p:nvSpPr>
          <p:cNvPr id="17" name="protein level"/>
          <p:cNvSpPr/>
          <p:nvPr/>
        </p:nvSpPr>
        <p:spPr>
          <a:xfrm>
            <a:off x="2148840" y="1645920"/>
            <a:ext cx="2103120" cy="2788920"/>
          </a:xfrm>
          <a:prstGeom prst="rect">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level drop"/>
          <p:cNvSpPr/>
          <p:nvPr/>
        </p:nvSpPr>
        <p:spPr>
          <a:xfrm>
            <a:off x="2148840" y="1645920"/>
            <a:ext cx="2103120" cy="1417320"/>
          </a:xfrm>
          <a:prstGeom prst="rect">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synthesis arrow"/>
          <p:cNvSpPr/>
          <p:nvPr/>
        </p:nvSpPr>
        <p:spPr>
          <a:xfrm>
            <a:off x="548640" y="2148840"/>
            <a:ext cx="1371600" cy="68580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r>
              <a:rPr sz="1300" b="1" i="0">
                <a:solidFill>
                  <a:srgbClr val="FAFBFC"/>
                </a:solidFill>
                <a:latin typeface="Calibri"/>
              </a:rPr>
              <a:t>in</a:t>
            </a:r>
          </a:p>
        </p:txBody>
      </p:sp>
      <p:sp>
        <p:nvSpPr>
          <p:cNvPr id="20" name="synthesis label"/>
          <p:cNvSpPr txBox="1"/>
          <p:nvPr/>
        </p:nvSpPr>
        <p:spPr>
          <a:xfrm>
            <a:off x="548640" y="2880360"/>
            <a:ext cx="1371600" cy="457200"/>
          </a:xfrm>
          <a:prstGeom prst="rect">
            <a:avLst/>
          </a:prstGeom>
          <a:noFill/>
        </p:spPr>
        <p:txBody>
          <a:bodyPr wrap="square" lIns="0" rIns="0" tIns="0" bIns="0" anchor="t">
            <a:spAutoFit/>
          </a:bodyPr>
          <a:lstStyle/>
          <a:p>
            <a:pPr algn="ctr"/>
            <a:r>
              <a:rPr sz="1400" b="1" i="0">
                <a:solidFill>
                  <a:srgbClr val="2A9D8F"/>
                </a:solidFill>
                <a:latin typeface="Calibri"/>
              </a:rPr>
              <a:t>synthesis</a:t>
            </a:r>
          </a:p>
        </p:txBody>
      </p:sp>
      <p:sp>
        <p:nvSpPr>
          <p:cNvPr id="21" name="degradation arrow"/>
          <p:cNvSpPr/>
          <p:nvPr/>
        </p:nvSpPr>
        <p:spPr>
          <a:xfrm>
            <a:off x="4480560" y="2743200"/>
            <a:ext cx="1737360" cy="1051560"/>
          </a:xfrm>
          <a:prstGeom prst="rightArrow">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r>
              <a:rPr sz="1400" b="1" i="0">
                <a:solidFill>
                  <a:srgbClr val="FAFBFC"/>
                </a:solidFill>
                <a:latin typeface="Calibri"/>
              </a:rPr>
              <a:t>out</a:t>
            </a:r>
          </a:p>
        </p:txBody>
      </p:sp>
      <p:sp>
        <p:nvSpPr>
          <p:cNvPr id="22" name="degradation label"/>
          <p:cNvSpPr txBox="1"/>
          <p:nvPr/>
        </p:nvSpPr>
        <p:spPr>
          <a:xfrm>
            <a:off x="4480560" y="3840480"/>
            <a:ext cx="1737360" cy="457200"/>
          </a:xfrm>
          <a:prstGeom prst="rect">
            <a:avLst/>
          </a:prstGeom>
          <a:noFill/>
        </p:spPr>
        <p:txBody>
          <a:bodyPr wrap="square" lIns="0" rIns="0" tIns="0" bIns="0" anchor="t">
            <a:spAutoFit/>
          </a:bodyPr>
          <a:lstStyle/>
          <a:p>
            <a:pPr algn="ctr"/>
            <a:r>
              <a:rPr sz="1400" b="1" i="0">
                <a:solidFill>
                  <a:srgbClr val="D1495B"/>
                </a:solidFill>
                <a:latin typeface="Calibri"/>
              </a:rPr>
              <a:t>degradation</a:t>
            </a:r>
          </a:p>
        </p:txBody>
      </p:sp>
      <p:sp>
        <p:nvSpPr>
          <p:cNvPr id="23" name="hint"/>
          <p:cNvSpPr txBox="1"/>
          <p:nvPr/>
        </p:nvSpPr>
        <p:spPr>
          <a:xfrm>
            <a:off x="548640" y="4754880"/>
            <a:ext cx="5669280" cy="548640"/>
          </a:xfrm>
          <a:prstGeom prst="rect">
            <a:avLst/>
          </a:prstGeom>
          <a:noFill/>
        </p:spPr>
        <p:txBody>
          <a:bodyPr wrap="square" lIns="0" rIns="0" tIns="0" bIns="0" anchor="t">
            <a:spAutoFit/>
          </a:bodyPr>
          <a:lstStyle/>
          <a:p>
            <a:pPr algn="l"/>
            <a:r>
              <a:rPr sz="1000" b="0" i="1">
                <a:solidFill>
                  <a:srgbClr val="5B7380"/>
                </a:solidFill>
                <a:latin typeface="Calibri"/>
              </a:rPr>
              <a:t>Click: synthesis  →  faster degradation  →  the level falls</a:t>
            </a:r>
          </a:p>
        </p:txBody>
      </p:sp>
      <p:sp>
        <p:nvSpPr>
          <p:cNvPr id="24" name="equation"/>
          <p:cNvSpPr/>
          <p:nvPr/>
        </p:nvSpPr>
        <p:spPr>
          <a:xfrm>
            <a:off x="6675120" y="1097280"/>
            <a:ext cx="4965192" cy="731520"/>
          </a:xfrm>
          <a:prstGeom prst="roundRect">
            <a:avLst>
              <a:gd name="adj" fmla="val 12500"/>
            </a:avLst>
          </a:prstGeom>
          <a:solidFill>
            <a:srgbClr val="15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68580" bIns="68580"/>
          <a:lstStyle/>
          <a:p>
            <a:pPr algn="ctr"/>
            <a:r>
              <a:rPr sz="1700" b="1" i="0">
                <a:solidFill>
                  <a:srgbClr val="FAFBFC"/>
                </a:solidFill>
                <a:latin typeface="Calibri"/>
              </a:rPr>
              <a:t>dP/dt  =  rate of synthesis  −  rate of degradation</a:t>
            </a:r>
          </a:p>
        </p:txBody>
      </p:sp>
      <p:sp>
        <p:nvSpPr>
          <p:cNvPr id="25" name="reasons"/>
          <p:cNvSpPr txBox="1"/>
          <p:nvPr/>
        </p:nvSpPr>
        <p:spPr>
          <a:xfrm>
            <a:off x="6675120" y="2057400"/>
            <a:ext cx="4965192" cy="2194560"/>
          </a:xfrm>
          <a:prstGeom prst="rect">
            <a:avLst/>
          </a:prstGeom>
          <a:noFill/>
        </p:spPr>
        <p:txBody>
          <a:bodyPr wrap="square" lIns="0" rIns="0" tIns="0" bIns="0" anchor="t">
            <a:spAutoFit/>
          </a:bodyPr>
          <a:lstStyle/>
          <a:p>
            <a:pPr algn="l"/>
            <a:r>
              <a:rPr sz="1500" b="1" i="0">
                <a:solidFill>
                  <a:srgbClr val="15323F"/>
                </a:solidFill>
                <a:latin typeface="Calibri"/>
              </a:rPr>
              <a:t>Cells destroy proteins on purpose, and constantly:</a:t>
            </a:r>
          </a:p>
          <a:p>
            <a:pPr algn="l" marL="182880" indent="-182880">
              <a:spcBef>
                <a:spcPts val="400"/>
              </a:spcBef>
              <a:buClr>
                <a:srgbClr val="D1495B"/>
              </a:buClr>
              <a:buFont typeface="Arial"/>
              <a:buChar char="•"/>
            </a:pPr>
            <a:r>
              <a:rPr sz="1400" b="0" i="0">
                <a:solidFill>
                  <a:srgbClr val="15323F"/>
                </a:solidFill>
                <a:latin typeface="Calibri"/>
              </a:rPr>
              <a:t>to switch signals off on schedule (cell-cycle regulators, transcription factors)</a:t>
            </a:r>
          </a:p>
          <a:p>
            <a:pPr algn="l" marL="182880" indent="-182880">
              <a:spcBef>
                <a:spcPts val="400"/>
              </a:spcBef>
              <a:buClr>
                <a:srgbClr val="D1495B"/>
              </a:buClr>
              <a:buFont typeface="Arial"/>
              <a:buChar char="•"/>
            </a:pPr>
            <a:r>
              <a:rPr sz="1400" b="0" i="0">
                <a:solidFill>
                  <a:srgbClr val="15323F"/>
                </a:solidFill>
                <a:latin typeface="Calibri"/>
              </a:rPr>
              <a:t>to clear misfolded or damaged copies before they aggregate</a:t>
            </a:r>
          </a:p>
          <a:p>
            <a:pPr algn="l" marL="182880" indent="-182880">
              <a:spcBef>
                <a:spcPts val="400"/>
              </a:spcBef>
              <a:buClr>
                <a:srgbClr val="D1495B"/>
              </a:buClr>
              <a:buFont typeface="Arial"/>
              <a:buChar char="•"/>
            </a:pPr>
            <a:r>
              <a:rPr sz="1400" b="0" i="0">
                <a:solidFill>
                  <a:srgbClr val="15323F"/>
                </a:solidFill>
                <a:latin typeface="Calibri"/>
              </a:rPr>
              <a:t>to adjust quickly to changed conditions</a:t>
            </a:r>
          </a:p>
        </p:txBody>
      </p:sp>
      <p:sp>
        <p:nvSpPr>
          <p:cNvPr id="26" name="card: Consequence"/>
          <p:cNvSpPr/>
          <p:nvPr/>
        </p:nvSpPr>
        <p:spPr>
          <a:xfrm>
            <a:off x="6675120" y="4206240"/>
            <a:ext cx="4965192" cy="1325880"/>
          </a:xfrm>
          <a:prstGeom prst="roundRect">
            <a:avLst>
              <a:gd name="adj" fmla="val 6896"/>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7" name="card text: Consequence"/>
          <p:cNvSpPr txBox="1"/>
          <p:nvPr/>
        </p:nvSpPr>
        <p:spPr>
          <a:xfrm>
            <a:off x="6812280" y="4297680"/>
            <a:ext cx="4690872" cy="1188720"/>
          </a:xfrm>
          <a:prstGeom prst="rect">
            <a:avLst/>
          </a:prstGeom>
          <a:noFill/>
        </p:spPr>
        <p:txBody>
          <a:bodyPr wrap="square" lIns="0" rIns="0" tIns="0" bIns="0" anchor="t">
            <a:spAutoFit/>
          </a:bodyPr>
          <a:lstStyle/>
          <a:p>
            <a:pPr algn="l"/>
            <a:r>
              <a:rPr sz="1500" b="1" i="0">
                <a:solidFill>
                  <a:srgbClr val="D1495B"/>
                </a:solidFill>
                <a:latin typeface="Calibri"/>
              </a:rPr>
              <a:t>Consequence</a:t>
            </a:r>
          </a:p>
          <a:p>
            <a:pPr algn="l">
              <a:spcBef>
                <a:spcPts val="300"/>
              </a:spcBef>
            </a:pPr>
            <a:r>
              <a:rPr sz="1400" b="0" i="0">
                <a:solidFill>
                  <a:srgbClr val="15323F"/>
                </a:solidFill>
                <a:latin typeface="Calibri"/>
              </a:rPr>
              <a:t>A protein that is made correctly but destroyed too fast is just as absent as one that was never made. Degradation is a control layer in its own right.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500"/>
                                        <p:tgtEl>
                                          <p:spTgt spid="19"/>
                                        </p:tgtEl>
                                      </p:cBhvr>
                                    </p:animEffect>
                                  </p:childTnLst>
                                </p:cTn>
                              </p:par>
                              <p:par>
                                <p:cTn id="6" presetID="10" presetClass="entr" presetSubtype="0" fill="hold"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868680"/>
          </a:xfrm>
        </p:spPr>
        <p:txBody>
          <a:bodyPr wrap="square" anchor="t" lIns="0" rIns="0" tIns="0" bIns="0"/>
          <a:lstStyle/>
          <a:p>
            <a:pPr algn="l"/>
            <a:r>
              <a:rPr sz="2600" b="1">
                <a:solidFill>
                  <a:srgbClr val="15323F"/>
                </a:solidFill>
                <a:latin typeface="Calibri"/>
              </a:rPr>
              <a:t>Ubiquitin–proteasome degradation has three steps; specificity lives in step one</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4</a:t>
            </a:r>
          </a:p>
        </p:txBody>
      </p:sp>
      <p:sp>
        <p:nvSpPr>
          <p:cNvPr id="15" name="card: 1  Recognition"/>
          <p:cNvSpPr/>
          <p:nvPr/>
        </p:nvSpPr>
        <p:spPr>
          <a:xfrm>
            <a:off x="548640" y="1097280"/>
            <a:ext cx="5394960" cy="804672"/>
          </a:xfrm>
          <a:prstGeom prst="roundRect">
            <a:avLst>
              <a:gd name="adj" fmla="val 11363"/>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card text: 1  Recognition"/>
          <p:cNvSpPr txBox="1"/>
          <p:nvPr/>
        </p:nvSpPr>
        <p:spPr>
          <a:xfrm>
            <a:off x="685800" y="1188720"/>
            <a:ext cx="5120640" cy="667512"/>
          </a:xfrm>
          <a:prstGeom prst="rect">
            <a:avLst/>
          </a:prstGeom>
          <a:noFill/>
        </p:spPr>
        <p:txBody>
          <a:bodyPr wrap="square" lIns="0" rIns="0" tIns="0" bIns="0" anchor="t">
            <a:spAutoFit/>
          </a:bodyPr>
          <a:lstStyle/>
          <a:p>
            <a:pPr algn="l"/>
            <a:r>
              <a:rPr sz="1400" b="1" i="0">
                <a:solidFill>
                  <a:srgbClr val="386FA4"/>
                </a:solidFill>
                <a:latin typeface="Calibri"/>
              </a:rPr>
              <a:t>1  Recognition</a:t>
            </a:r>
          </a:p>
          <a:p>
            <a:pPr algn="l">
              <a:spcBef>
                <a:spcPts val="300"/>
              </a:spcBef>
            </a:pPr>
            <a:r>
              <a:rPr sz="1250" b="0" i="0">
                <a:solidFill>
                  <a:srgbClr val="15323F"/>
                </a:solidFill>
                <a:latin typeface="Calibri"/>
              </a:rPr>
              <a:t>an E3 ubiquitin ligase binds a specific signal in the target protein</a:t>
            </a:r>
          </a:p>
        </p:txBody>
      </p:sp>
      <p:sp>
        <p:nvSpPr>
          <p:cNvPr id="17" name="card: 2  Tagging"/>
          <p:cNvSpPr/>
          <p:nvPr/>
        </p:nvSpPr>
        <p:spPr>
          <a:xfrm>
            <a:off x="548640" y="1993392"/>
            <a:ext cx="5394960" cy="804672"/>
          </a:xfrm>
          <a:prstGeom prst="roundRect">
            <a:avLst>
              <a:gd name="adj" fmla="val 11363"/>
            </a:avLst>
          </a:prstGeom>
          <a:solidFill>
            <a:srgbClr val="FBF1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card text: 2  Tagging"/>
          <p:cNvSpPr txBox="1"/>
          <p:nvPr/>
        </p:nvSpPr>
        <p:spPr>
          <a:xfrm>
            <a:off x="685800" y="2084832"/>
            <a:ext cx="5120640" cy="667512"/>
          </a:xfrm>
          <a:prstGeom prst="rect">
            <a:avLst/>
          </a:prstGeom>
          <a:noFill/>
        </p:spPr>
        <p:txBody>
          <a:bodyPr wrap="square" lIns="0" rIns="0" tIns="0" bIns="0" anchor="t">
            <a:spAutoFit/>
          </a:bodyPr>
          <a:lstStyle/>
          <a:p>
            <a:pPr algn="l"/>
            <a:r>
              <a:rPr sz="1400" b="1" i="0">
                <a:solidFill>
                  <a:srgbClr val="B08A1E"/>
                </a:solidFill>
                <a:latin typeface="Calibri"/>
              </a:rPr>
              <a:t>2  Tagging</a:t>
            </a:r>
          </a:p>
          <a:p>
            <a:pPr algn="l">
              <a:spcBef>
                <a:spcPts val="300"/>
              </a:spcBef>
            </a:pPr>
            <a:r>
              <a:rPr sz="1250" b="0" i="0">
                <a:solidFill>
                  <a:srgbClr val="15323F"/>
                </a:solidFill>
                <a:latin typeface="Calibri"/>
              </a:rPr>
              <a:t>the E3 transfers chains of ubiquitin, a small marker protein, onto the target</a:t>
            </a:r>
          </a:p>
        </p:txBody>
      </p:sp>
      <p:sp>
        <p:nvSpPr>
          <p:cNvPr id="19" name="card: 3  Degradation"/>
          <p:cNvSpPr/>
          <p:nvPr/>
        </p:nvSpPr>
        <p:spPr>
          <a:xfrm>
            <a:off x="548640" y="2889504"/>
            <a:ext cx="5394960" cy="804672"/>
          </a:xfrm>
          <a:prstGeom prst="roundRect">
            <a:avLst>
              <a:gd name="adj" fmla="val 11363"/>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card text: 3  Degradation"/>
          <p:cNvSpPr txBox="1"/>
          <p:nvPr/>
        </p:nvSpPr>
        <p:spPr>
          <a:xfrm>
            <a:off x="685800" y="2980944"/>
            <a:ext cx="5120640" cy="667512"/>
          </a:xfrm>
          <a:prstGeom prst="rect">
            <a:avLst/>
          </a:prstGeom>
          <a:noFill/>
        </p:spPr>
        <p:txBody>
          <a:bodyPr wrap="square" lIns="0" rIns="0" tIns="0" bIns="0" anchor="t">
            <a:spAutoFit/>
          </a:bodyPr>
          <a:lstStyle/>
          <a:p>
            <a:pPr algn="l"/>
            <a:r>
              <a:rPr sz="1400" b="1" i="0">
                <a:solidFill>
                  <a:srgbClr val="D1495B"/>
                </a:solidFill>
                <a:latin typeface="Calibri"/>
              </a:rPr>
              <a:t>3  Degradation</a:t>
            </a:r>
          </a:p>
          <a:p>
            <a:pPr algn="l">
              <a:spcBef>
                <a:spcPts val="300"/>
              </a:spcBef>
            </a:pPr>
            <a:r>
              <a:rPr sz="1250" b="0" i="0">
                <a:solidFill>
                  <a:srgbClr val="15323F"/>
                </a:solidFill>
                <a:latin typeface="Calibri"/>
              </a:rPr>
              <a:t>the 26S proteasome recognises the chain, unfolds the target and cuts it into peptides</a:t>
            </a:r>
          </a:p>
        </p:txBody>
      </p:sp>
      <p:pic>
        <p:nvPicPr>
          <p:cNvPr id="21" name="Picture 20" descr="Rotating structure of a ubiquitin-like protein (URM1, PDB 2QJL)"/>
          <p:cNvPicPr>
            <a:picLocks noChangeAspect="1"/>
          </p:cNvPicPr>
          <p:nvPr/>
        </p:nvPicPr>
        <p:blipFill>
          <a:blip r:embed="rId3"/>
          <a:stretch>
            <a:fillRect/>
          </a:stretch>
        </p:blipFill>
        <p:spPr>
          <a:xfrm>
            <a:off x="548640" y="3886200"/>
            <a:ext cx="1737360" cy="1494129"/>
          </a:xfrm>
          <a:prstGeom prst="rect">
            <a:avLst/>
          </a:prstGeom>
        </p:spPr>
      </p:pic>
      <p:sp>
        <p:nvSpPr>
          <p:cNvPr id="22" name="scale"/>
          <p:cNvSpPr txBox="1"/>
          <p:nvPr/>
        </p:nvSpPr>
        <p:spPr>
          <a:xfrm>
            <a:off x="2468880" y="3886200"/>
            <a:ext cx="3474720" cy="1554480"/>
          </a:xfrm>
          <a:prstGeom prst="rect">
            <a:avLst/>
          </a:prstGeom>
          <a:noFill/>
        </p:spPr>
        <p:txBody>
          <a:bodyPr wrap="square" lIns="0" rIns="0" tIns="0" bIns="0" anchor="t">
            <a:spAutoFit/>
          </a:bodyPr>
          <a:lstStyle/>
          <a:p>
            <a:pPr algn="l"/>
            <a:r>
              <a:rPr sz="1300" b="1" i="0">
                <a:solidFill>
                  <a:srgbClr val="386FA4"/>
                </a:solidFill>
                <a:latin typeface="Calibri"/>
              </a:rPr>
              <a:t>Scale of the recognition problem</a:t>
            </a:r>
          </a:p>
          <a:p>
            <a:pPr algn="l">
              <a:spcBef>
                <a:spcPts val="300"/>
              </a:spcBef>
            </a:pPr>
            <a:r>
              <a:rPr sz="1300" b="0" i="0">
                <a:solidFill>
                  <a:srgbClr val="15323F"/>
                </a:solidFill>
                <a:latin typeface="Calibri"/>
              </a:rPr>
              <a:t>The human genome encodes over 600 E3 ligases, each recognising its own targets. The specificity of the whole system therefore lives in step 1.</a:t>
            </a:r>
          </a:p>
        </p:txBody>
      </p:sp>
      <p:sp>
        <p:nvSpPr>
          <p:cNvPr id="23" name="gif caption"/>
          <p:cNvSpPr txBox="1"/>
          <p:nvPr/>
        </p:nvSpPr>
        <p:spPr>
          <a:xfrm>
            <a:off x="548640" y="5413248"/>
            <a:ext cx="5394960" cy="365760"/>
          </a:xfrm>
          <a:prstGeom prst="rect">
            <a:avLst/>
          </a:prstGeom>
          <a:noFill/>
        </p:spPr>
        <p:txBody>
          <a:bodyPr wrap="square" lIns="0" rIns="0" tIns="0" bIns="0" anchor="t">
            <a:spAutoFit/>
          </a:bodyPr>
          <a:lstStyle/>
          <a:p>
            <a:pPr algn="l"/>
            <a:r>
              <a:rPr sz="1000" b="0" i="0">
                <a:solidFill>
                  <a:srgbClr val="5B7380"/>
                </a:solidFill>
                <a:latin typeface="Calibri"/>
              </a:rPr>
              <a:t>Structure: ubiquitin-fold protein URM1 (PDB 2QJL), Hsp90, CC BY-SA 3.0.</a:t>
            </a:r>
          </a:p>
        </p:txBody>
      </p:sp>
      <p:sp>
        <p:nvSpPr>
          <p:cNvPr id="24" name="schematic panel"/>
          <p:cNvSpPr/>
          <p:nvPr/>
        </p:nvSpPr>
        <p:spPr>
          <a:xfrm>
            <a:off x="6309360" y="1097280"/>
            <a:ext cx="5330952" cy="4297680"/>
          </a:xfrm>
          <a:prstGeom prst="roundRect">
            <a:avLst>
              <a:gd name="adj" fmla="val 2127"/>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5" name="schematic label"/>
          <p:cNvSpPr txBox="1"/>
          <p:nvPr/>
        </p:nvSpPr>
        <p:spPr>
          <a:xfrm>
            <a:off x="6446520" y="1170432"/>
            <a:ext cx="2743200" cy="274320"/>
          </a:xfrm>
          <a:prstGeom prst="rect">
            <a:avLst/>
          </a:prstGeom>
          <a:noFill/>
        </p:spPr>
        <p:txBody>
          <a:bodyPr wrap="square" lIns="0" rIns="0" tIns="0" bIns="0" anchor="t">
            <a:spAutoFit/>
          </a:bodyPr>
          <a:lstStyle/>
          <a:p>
            <a:pPr algn="l"/>
            <a:r>
              <a:rPr sz="1000" b="0" i="0">
                <a:solidFill>
                  <a:srgbClr val="5B7380"/>
                </a:solidFill>
                <a:latin typeface="Calibri"/>
              </a:rPr>
              <a:t>own diagram, simplified</a:t>
            </a:r>
          </a:p>
        </p:txBody>
      </p:sp>
      <p:sp>
        <p:nvSpPr>
          <p:cNvPr id="26" name="target protein"/>
          <p:cNvSpPr/>
          <p:nvPr/>
        </p:nvSpPr>
        <p:spPr>
          <a:xfrm>
            <a:off x="6583680" y="3246120"/>
            <a:ext cx="2468880" cy="777240"/>
          </a:xfrm>
          <a:prstGeom prst="roundRect">
            <a:avLst>
              <a:gd name="adj" fmla="val 11764"/>
            </a:avLst>
          </a:prstGeom>
          <a:solidFill>
            <a:srgbClr val="C9D4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68580" bIns="68580"/>
          <a:lstStyle/>
          <a:p>
            <a:pPr algn="r"/>
            <a:r>
              <a:rPr sz="1200" b="0" i="0">
                <a:solidFill>
                  <a:srgbClr val="15323F"/>
                </a:solidFill>
                <a:latin typeface="Calibri"/>
              </a:rPr>
              <a:t>target protein</a:t>
            </a:r>
          </a:p>
        </p:txBody>
      </p:sp>
      <p:sp>
        <p:nvSpPr>
          <p:cNvPr id="27" name="degron segment"/>
          <p:cNvSpPr/>
          <p:nvPr/>
        </p:nvSpPr>
        <p:spPr>
          <a:xfrm>
            <a:off x="6720840" y="3337560"/>
            <a:ext cx="685800" cy="59436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AFBFC"/>
                </a:solidFill>
                <a:latin typeface="Calibri"/>
              </a:rPr>
              <a:t>degron</a:t>
            </a:r>
          </a:p>
        </p:txBody>
      </p:sp>
      <p:sp>
        <p:nvSpPr>
          <p:cNvPr id="28" name="E3 ligase"/>
          <p:cNvSpPr/>
          <p:nvPr/>
        </p:nvSpPr>
        <p:spPr>
          <a:xfrm>
            <a:off x="6400800" y="1645920"/>
            <a:ext cx="1737360" cy="685800"/>
          </a:xfrm>
          <a:prstGeom prst="roundRect">
            <a:avLst>
              <a:gd name="adj" fmla="val 13333"/>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i="0">
                <a:solidFill>
                  <a:srgbClr val="FAFBFC"/>
                </a:solidFill>
                <a:latin typeface="Calibri"/>
              </a:rPr>
              <a:t>E3 ligase</a:t>
            </a:r>
          </a:p>
        </p:txBody>
      </p:sp>
      <p:cxnSp>
        <p:nvCxnSpPr>
          <p:cNvPr id="29" name="binding"/>
          <p:cNvCxnSpPr/>
          <p:nvPr/>
        </p:nvCxnSpPr>
        <p:spPr>
          <a:xfrm>
            <a:off x="7059168" y="2331720"/>
            <a:ext cx="0" cy="1005840"/>
          </a:xfrm>
          <a:prstGeom prst="line">
            <a:avLst/>
          </a:prstGeom>
          <a:ln w="31750">
            <a:solidFill>
              <a:srgbClr val="386FA4"/>
            </a:solidFill>
            <a:tailEnd type="triangle"/>
          </a:ln>
        </p:spPr>
        <p:style>
          <a:lnRef idx="2">
            <a:schemeClr val="accent1"/>
          </a:lnRef>
          <a:fillRef idx="0">
            <a:schemeClr val="accent1"/>
          </a:fillRef>
          <a:effectRef idx="1">
            <a:schemeClr val="accent1"/>
          </a:effectRef>
          <a:fontRef idx="minor">
            <a:schemeClr val="tx1"/>
          </a:fontRef>
        </p:style>
      </p:cxnSp>
      <p:sp>
        <p:nvSpPr>
          <p:cNvPr id="30" name="ubiquitin 1"/>
          <p:cNvSpPr/>
          <p:nvPr/>
        </p:nvSpPr>
        <p:spPr>
          <a:xfrm>
            <a:off x="7680960" y="2944368"/>
            <a:ext cx="274320" cy="274320"/>
          </a:xfrm>
          <a:prstGeom prst="ellipse">
            <a:avLst/>
          </a:prstGeom>
          <a:solidFill>
            <a:srgbClr val="E9C46A"/>
          </a:solidFill>
          <a:ln w="9525">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1" name="ubiquitin 2"/>
          <p:cNvSpPr/>
          <p:nvPr/>
        </p:nvSpPr>
        <p:spPr>
          <a:xfrm>
            <a:off x="7973568" y="2944368"/>
            <a:ext cx="274320" cy="274320"/>
          </a:xfrm>
          <a:prstGeom prst="ellipse">
            <a:avLst/>
          </a:prstGeom>
          <a:solidFill>
            <a:srgbClr val="E9C46A"/>
          </a:solidFill>
          <a:ln w="9525">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2" name="ubiquitin 3"/>
          <p:cNvSpPr/>
          <p:nvPr/>
        </p:nvSpPr>
        <p:spPr>
          <a:xfrm>
            <a:off x="8266176" y="2944368"/>
            <a:ext cx="274320" cy="274320"/>
          </a:xfrm>
          <a:prstGeom prst="ellipse">
            <a:avLst/>
          </a:prstGeom>
          <a:solidFill>
            <a:srgbClr val="E9C46A"/>
          </a:solidFill>
          <a:ln w="9525">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3" name="ubiquitin 4"/>
          <p:cNvSpPr/>
          <p:nvPr/>
        </p:nvSpPr>
        <p:spPr>
          <a:xfrm>
            <a:off x="8558784" y="2944368"/>
            <a:ext cx="274320" cy="274320"/>
          </a:xfrm>
          <a:prstGeom prst="ellipse">
            <a:avLst/>
          </a:prstGeom>
          <a:solidFill>
            <a:srgbClr val="E9C46A"/>
          </a:solidFill>
          <a:ln w="9525">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4" name="ubiquitin label"/>
          <p:cNvSpPr txBox="1"/>
          <p:nvPr/>
        </p:nvSpPr>
        <p:spPr>
          <a:xfrm>
            <a:off x="7589520" y="2560320"/>
            <a:ext cx="1554480" cy="274320"/>
          </a:xfrm>
          <a:prstGeom prst="rect">
            <a:avLst/>
          </a:prstGeom>
          <a:noFill/>
        </p:spPr>
        <p:txBody>
          <a:bodyPr wrap="square" lIns="0" rIns="0" tIns="0" bIns="0" anchor="t">
            <a:spAutoFit/>
          </a:bodyPr>
          <a:lstStyle/>
          <a:p>
            <a:pPr algn="l"/>
            <a:r>
              <a:rPr sz="1100" b="1" i="0">
                <a:solidFill>
                  <a:srgbClr val="8A6A12"/>
                </a:solidFill>
                <a:latin typeface="Calibri"/>
              </a:rPr>
              <a:t>ubiquitin chain</a:t>
            </a:r>
          </a:p>
        </p:txBody>
      </p:sp>
      <p:sp>
        <p:nvSpPr>
          <p:cNvPr id="35" name="proteasome"/>
          <p:cNvSpPr/>
          <p:nvPr/>
        </p:nvSpPr>
        <p:spPr>
          <a:xfrm>
            <a:off x="9784080" y="1554480"/>
            <a:ext cx="1554480" cy="2011680"/>
          </a:xfrm>
          <a:prstGeom prst="can">
            <a:avLst/>
          </a:prstGeom>
          <a:solidFill>
            <a:srgbClr val="5B7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AFBFC"/>
                </a:solidFill>
                <a:latin typeface="Calibri"/>
              </a:rPr>
              <a:t>26S proteasome</a:t>
            </a:r>
          </a:p>
        </p:txBody>
      </p:sp>
      <p:cxnSp>
        <p:nvCxnSpPr>
          <p:cNvPr id="36" name="entry"/>
          <p:cNvCxnSpPr/>
          <p:nvPr/>
        </p:nvCxnSpPr>
        <p:spPr>
          <a:xfrm flipV="1">
            <a:off x="9052560" y="2834640"/>
            <a:ext cx="731520" cy="640080"/>
          </a:xfrm>
          <a:prstGeom prst="line">
            <a:avLst/>
          </a:prstGeom>
          <a:ln w="31750">
            <a:solidFill>
              <a:srgbClr val="D1495B"/>
            </a:solidFill>
            <a:tailEnd type="triangle"/>
          </a:ln>
        </p:spPr>
        <p:style>
          <a:lnRef idx="2">
            <a:schemeClr val="accent1"/>
          </a:lnRef>
          <a:fillRef idx="0">
            <a:schemeClr val="accent1"/>
          </a:fillRef>
          <a:effectRef idx="1">
            <a:schemeClr val="accent1"/>
          </a:effectRef>
          <a:fontRef idx="minor">
            <a:schemeClr val="tx1"/>
          </a:fontRef>
        </p:style>
      </p:cxnSp>
      <p:sp>
        <p:nvSpPr>
          <p:cNvPr id="37" name="peptide fragment 1"/>
          <p:cNvSpPr/>
          <p:nvPr/>
        </p:nvSpPr>
        <p:spPr>
          <a:xfrm>
            <a:off x="9921240" y="3886200"/>
            <a:ext cx="365760" cy="164592"/>
          </a:xfrm>
          <a:prstGeom prst="roundRect">
            <a:avLst>
              <a:gd name="adj" fmla="val 50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8" name="peptide fragment 2"/>
          <p:cNvSpPr/>
          <p:nvPr/>
        </p:nvSpPr>
        <p:spPr>
          <a:xfrm>
            <a:off x="10378440" y="3886200"/>
            <a:ext cx="365760" cy="164592"/>
          </a:xfrm>
          <a:prstGeom prst="roundRect">
            <a:avLst>
              <a:gd name="adj" fmla="val 50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9" name="peptide fragment 3"/>
          <p:cNvSpPr/>
          <p:nvPr/>
        </p:nvSpPr>
        <p:spPr>
          <a:xfrm>
            <a:off x="10835640" y="3886200"/>
            <a:ext cx="365760" cy="164592"/>
          </a:xfrm>
          <a:prstGeom prst="roundRect">
            <a:avLst>
              <a:gd name="adj" fmla="val 50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0" name="fragments label"/>
          <p:cNvSpPr txBox="1"/>
          <p:nvPr/>
        </p:nvSpPr>
        <p:spPr>
          <a:xfrm>
            <a:off x="9784080" y="4114800"/>
            <a:ext cx="1737360" cy="274320"/>
          </a:xfrm>
          <a:prstGeom prst="rect">
            <a:avLst/>
          </a:prstGeom>
          <a:noFill/>
        </p:spPr>
        <p:txBody>
          <a:bodyPr wrap="square" lIns="0" rIns="0" tIns="0" bIns="0" anchor="t">
            <a:spAutoFit/>
          </a:bodyPr>
          <a:lstStyle/>
          <a:p>
            <a:pPr algn="l"/>
            <a:r>
              <a:rPr sz="1100" b="1" i="0">
                <a:solidFill>
                  <a:srgbClr val="D1495B"/>
                </a:solidFill>
                <a:latin typeface="Calibri"/>
              </a:rPr>
              <a:t>short peptides</a:t>
            </a:r>
          </a:p>
        </p:txBody>
      </p:sp>
      <p:sp>
        <p:nvSpPr>
          <p:cNvPr id="41" name="hint"/>
          <p:cNvSpPr txBox="1"/>
          <p:nvPr/>
        </p:nvSpPr>
        <p:spPr>
          <a:xfrm>
            <a:off x="6446520" y="4709160"/>
            <a:ext cx="5029200" cy="594360"/>
          </a:xfrm>
          <a:prstGeom prst="rect">
            <a:avLst/>
          </a:prstGeom>
          <a:noFill/>
        </p:spPr>
        <p:txBody>
          <a:bodyPr wrap="square" lIns="0" rIns="0" tIns="0" bIns="0" anchor="t">
            <a:spAutoFit/>
          </a:bodyPr>
          <a:lstStyle/>
          <a:p>
            <a:pPr algn="l"/>
            <a:r>
              <a:rPr sz="1000" b="0" i="1">
                <a:solidFill>
                  <a:srgbClr val="5B7380"/>
                </a:solidFill>
                <a:latin typeface="Calibri"/>
              </a:rPr>
              <a:t>Click through the three steps: recognition → tagging → degradation</a:t>
            </a:r>
          </a:p>
        </p:txBody>
      </p:sp>
      <p:sp>
        <p:nvSpPr>
          <p:cNvPr id="42" name="evidence label"/>
          <p:cNvSpPr txBox="1"/>
          <p:nvPr/>
        </p:nvSpPr>
        <p:spPr>
          <a:xfrm>
            <a:off x="548640" y="6144768"/>
            <a:ext cx="11094415" cy="310896"/>
          </a:xfrm>
          <a:prstGeom prst="rect">
            <a:avLst/>
          </a:prstGeom>
          <a:noFill/>
        </p:spPr>
        <p:txBody>
          <a:bodyPr wrap="square" lIns="0" rIns="0" tIns="0" bIns="0" anchor="t">
            <a:spAutoFit/>
          </a:bodyPr>
          <a:lstStyle/>
          <a:p>
            <a:pPr algn="l"/>
            <a:r>
              <a:rPr sz="1000" b="0" i="0">
                <a:solidFill>
                  <a:srgbClr val="5B7380"/>
                </a:solidFill>
                <a:latin typeface="Calibri"/>
              </a:rPr>
              <a:t>Mechanism established in the literature. E3 count as reported in DegronMD, Xu et al., Mol Biol Evol 40(12), 2023.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8"/>
                                        </p:tgtEl>
                                        <p:attrNameLst>
                                          <p:attrName>style.visibility</p:attrName>
                                        </p:attrNameLst>
                                      </p:cBhvr>
                                      <p:to>
                                        <p:strVal val="visible"/>
                                      </p:to>
                                    </p:set>
                                    <p:animEffect transition="in" filter="fade">
                                      <p:cBhvr>
                                        <p:cTn id="5" dur="500"/>
                                        <p:tgtEl>
                                          <p:spTgt spid="28"/>
                                        </p:tgtEl>
                                      </p:cBhvr>
                                    </p:animEffect>
                                  </p:childTnLst>
                                </p:cTn>
                              </p:par>
                              <p:par>
                                <p:cTn id="6" presetID="10" presetClass="entr" presetSubtype="0" fill="hold" nodeType="withEffect">
                                  <p:stCondLst>
                                    <p:cond delay="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par>
                                <p:cTn id="23" presetID="10"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childTnLst>
                          </p:cTn>
                        </p:par>
                      </p:childTnLst>
                    </p:cTn>
                  </p:par>
                  <p:par>
                    <p:cTn id="46" fill="hold">
                      <p:stCondLst>
                        <p:cond delay="indefinite"/>
                      </p:stCondLst>
                      <p:childTnLst>
                        <p:par>
                          <p:cTn id="4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par>
                                <p:cTn id="31" presetID="10"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500"/>
                                        <p:tgtEl>
                                          <p:spTgt spid="36"/>
                                        </p:tgtEl>
                                      </p:cBhvr>
                                    </p:animEffect>
                                  </p:childTnLst>
                                </p:cTn>
                              </p:par>
                              <p:par>
                                <p:cTn id="34" presetID="10" presetClass="entr" presetSubtype="0"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par>
                                <p:cTn id="37" presetID="10"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par>
                                <p:cTn id="40" presetID="10" presetClass="entr" presetSubtype="0" fill="hold" nodeType="with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par>
                                <p:cTn id="43" presetID="10" presetClass="entr" presetSubtype="0"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868680"/>
          </a:xfrm>
        </p:spPr>
        <p:txBody>
          <a:bodyPr wrap="square" anchor="t" lIns="0" rIns="0" tIns="0" bIns="0"/>
          <a:lstStyle/>
          <a:p>
            <a:pPr algn="l"/>
            <a:r>
              <a:rPr sz="2600" b="1">
                <a:solidFill>
                  <a:srgbClr val="15323F"/>
                </a:solidFill>
                <a:latin typeface="Calibri"/>
              </a:rPr>
              <a:t>A degron is the recognition signal, and the question is which residues carry it</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5</a:t>
            </a:r>
          </a:p>
        </p:txBody>
      </p:sp>
      <p:sp>
        <p:nvSpPr>
          <p:cNvPr id="15" name="definition"/>
          <p:cNvSpPr txBox="1"/>
          <p:nvPr/>
        </p:nvSpPr>
        <p:spPr>
          <a:xfrm>
            <a:off x="548640" y="1051560"/>
            <a:ext cx="5760720" cy="2651760"/>
          </a:xfrm>
          <a:prstGeom prst="rect">
            <a:avLst/>
          </a:prstGeom>
          <a:noFill/>
        </p:spPr>
        <p:txBody>
          <a:bodyPr wrap="square" lIns="0" rIns="0" tIns="0" bIns="0" anchor="t">
            <a:spAutoFit/>
          </a:bodyPr>
          <a:lstStyle/>
          <a:p>
            <a:pPr algn="l"/>
            <a:r>
              <a:rPr sz="1400" b="1" i="0">
                <a:solidFill>
                  <a:srgbClr val="15323F"/>
                </a:solidFill>
                <a:latin typeface="Calibri"/>
              </a:rPr>
              <a:t>A degron </a:t>
            </a:r>
            <a:r>
              <a:rPr sz="1400" b="0" i="0">
                <a:solidFill>
                  <a:srgbClr val="15323F"/>
                </a:solidFill>
                <a:latin typeface="Calibri"/>
              </a:rPr>
              <a:t>is the short segment of a protein that an E3 ligase recognises to mark it for degradation: the “address label” of step 1.</a:t>
            </a:r>
          </a:p>
          <a:p>
            <a:pPr algn="l" marL="182880" indent="-182880">
              <a:spcBef>
                <a:spcPts val="400"/>
              </a:spcBef>
              <a:buClr>
                <a:srgbClr val="D1495B"/>
              </a:buClr>
              <a:buFont typeface="Arial"/>
              <a:buChar char="•"/>
            </a:pPr>
            <a:r>
              <a:rPr sz="1300" b="0" i="0">
                <a:solidFill>
                  <a:srgbClr val="15323F"/>
                </a:solidFill>
                <a:latin typeface="Calibri"/>
              </a:rPr>
              <a:t>Typically a short linear motif: a few to a few tens of residues</a:t>
            </a:r>
          </a:p>
          <a:p>
            <a:pPr algn="l" marL="182880" indent="-182880">
              <a:spcBef>
                <a:spcPts val="400"/>
              </a:spcBef>
              <a:buClr>
                <a:srgbClr val="D1495B"/>
              </a:buClr>
              <a:buFont typeface="Arial"/>
              <a:buChar char="•"/>
            </a:pPr>
            <a:r>
              <a:rPr sz="1300" b="0" i="0">
                <a:solidFill>
                  <a:srgbClr val="15323F"/>
                </a:solidFill>
                <a:latin typeface="Calibri"/>
              </a:rPr>
              <a:t>Can sit at the N-terminus, C-terminus, or internally</a:t>
            </a:r>
          </a:p>
          <a:p>
            <a:pPr algn="l" marL="182880" indent="-182880">
              <a:spcBef>
                <a:spcPts val="400"/>
              </a:spcBef>
              <a:buClr>
                <a:srgbClr val="D1495B"/>
              </a:buClr>
              <a:buFont typeface="Arial"/>
              <a:buChar char="•"/>
            </a:pPr>
            <a:r>
              <a:rPr sz="1300" b="0" i="0">
                <a:solidFill>
                  <a:srgbClr val="15323F"/>
                </a:solidFill>
                <a:latin typeface="Calibri"/>
              </a:rPr>
              <a:t>Strength is graded, not binary: strong, intermediate, inactive</a:t>
            </a:r>
          </a:p>
          <a:p>
            <a:pPr algn="l">
              <a:spcBef>
                <a:spcPts val="800"/>
              </a:spcBef>
            </a:pPr>
            <a:r>
              <a:rPr sz="1400" b="1" i="0">
                <a:solidFill>
                  <a:srgbClr val="D1495B"/>
                </a:solidFill>
                <a:latin typeface="Calibri"/>
              </a:rPr>
              <a:t>The thesis question is one level finer:</a:t>
            </a:r>
          </a:p>
          <a:p>
            <a:pPr algn="l">
              <a:spcBef>
                <a:spcPts val="200"/>
              </a:spcBef>
            </a:pPr>
            <a:r>
              <a:rPr sz="1400" b="0" i="1">
                <a:solidFill>
                  <a:srgbClr val="15323F"/>
                </a:solidFill>
                <a:latin typeface="Calibri"/>
              </a:rPr>
              <a:t>Within a degron, which individual residues determine its strength, and by how much does the strength change when one of them is substituted?</a:t>
            </a:r>
          </a:p>
        </p:txBody>
      </p:sp>
      <p:sp>
        <p:nvSpPr>
          <p:cNvPr id="16" name="zoom panel"/>
          <p:cNvSpPr/>
          <p:nvPr/>
        </p:nvSpPr>
        <p:spPr>
          <a:xfrm>
            <a:off x="6675120" y="1051560"/>
            <a:ext cx="4965192" cy="2743200"/>
          </a:xfrm>
          <a:prstGeom prst="roundRect">
            <a:avLst>
              <a:gd name="adj" fmla="val 3333"/>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whole protein"/>
          <p:cNvSpPr/>
          <p:nvPr/>
        </p:nvSpPr>
        <p:spPr>
          <a:xfrm>
            <a:off x="6903720" y="1280160"/>
            <a:ext cx="1371600" cy="1097280"/>
          </a:xfrm>
          <a:prstGeom prst="ellipse">
            <a:avLst/>
          </a:prstGeom>
          <a:solidFill>
            <a:srgbClr val="C9D4D9"/>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a:lstStyle/>
          <a:p>
            <a:pPr algn="ctr"/>
            <a:r>
              <a:rPr sz="1100" b="0" i="0">
                <a:solidFill>
                  <a:srgbClr val="5B7380"/>
                </a:solidFill>
                <a:latin typeface="Calibri"/>
              </a:rPr>
              <a:t>protein</a:t>
            </a:r>
          </a:p>
        </p:txBody>
      </p:sp>
      <p:sp>
        <p:nvSpPr>
          <p:cNvPr id="18" name="degron region"/>
          <p:cNvSpPr/>
          <p:nvPr/>
        </p:nvSpPr>
        <p:spPr>
          <a:xfrm>
            <a:off x="7589520" y="1417320"/>
            <a:ext cx="457200" cy="36576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residue 1"/>
          <p:cNvSpPr/>
          <p:nvPr/>
        </p:nvSpPr>
        <p:spPr>
          <a:xfrm>
            <a:off x="6903720"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esidue 2"/>
          <p:cNvSpPr/>
          <p:nvPr/>
        </p:nvSpPr>
        <p:spPr>
          <a:xfrm>
            <a:off x="7059168"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esidue 3"/>
          <p:cNvSpPr/>
          <p:nvPr/>
        </p:nvSpPr>
        <p:spPr>
          <a:xfrm>
            <a:off x="7214616"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esidue 4"/>
          <p:cNvSpPr/>
          <p:nvPr/>
        </p:nvSpPr>
        <p:spPr>
          <a:xfrm>
            <a:off x="7370064"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residue 5"/>
          <p:cNvSpPr/>
          <p:nvPr/>
        </p:nvSpPr>
        <p:spPr>
          <a:xfrm>
            <a:off x="7525512"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esidue 6"/>
          <p:cNvSpPr/>
          <p:nvPr/>
        </p:nvSpPr>
        <p:spPr>
          <a:xfrm>
            <a:off x="7680960"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residue 7"/>
          <p:cNvSpPr/>
          <p:nvPr/>
        </p:nvSpPr>
        <p:spPr>
          <a:xfrm>
            <a:off x="7836408"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esidue 8"/>
          <p:cNvSpPr/>
          <p:nvPr/>
        </p:nvSpPr>
        <p:spPr>
          <a:xfrm>
            <a:off x="7991856"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residue 9"/>
          <p:cNvSpPr/>
          <p:nvPr/>
        </p:nvSpPr>
        <p:spPr>
          <a:xfrm>
            <a:off x="8147304"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residue 10"/>
          <p:cNvSpPr/>
          <p:nvPr/>
        </p:nvSpPr>
        <p:spPr>
          <a:xfrm>
            <a:off x="8302752"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residue 11"/>
          <p:cNvSpPr/>
          <p:nvPr/>
        </p:nvSpPr>
        <p:spPr>
          <a:xfrm>
            <a:off x="8458200"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residue 12"/>
          <p:cNvSpPr/>
          <p:nvPr/>
        </p:nvSpPr>
        <p:spPr>
          <a:xfrm>
            <a:off x="8613648"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residue 13"/>
          <p:cNvSpPr/>
          <p:nvPr/>
        </p:nvSpPr>
        <p:spPr>
          <a:xfrm>
            <a:off x="8769096"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residue 14"/>
          <p:cNvSpPr/>
          <p:nvPr/>
        </p:nvSpPr>
        <p:spPr>
          <a:xfrm>
            <a:off x="8924544"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residue 15"/>
          <p:cNvSpPr/>
          <p:nvPr/>
        </p:nvSpPr>
        <p:spPr>
          <a:xfrm>
            <a:off x="9079992"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residue 16"/>
          <p:cNvSpPr/>
          <p:nvPr/>
        </p:nvSpPr>
        <p:spPr>
          <a:xfrm>
            <a:off x="9235440"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residue 17"/>
          <p:cNvSpPr/>
          <p:nvPr/>
        </p:nvSpPr>
        <p:spPr>
          <a:xfrm>
            <a:off x="9390888"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esidue 18"/>
          <p:cNvSpPr/>
          <p:nvPr/>
        </p:nvSpPr>
        <p:spPr>
          <a:xfrm>
            <a:off x="9546336"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residue 19"/>
          <p:cNvSpPr/>
          <p:nvPr/>
        </p:nvSpPr>
        <p:spPr>
          <a:xfrm>
            <a:off x="9701784"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esidue 20"/>
          <p:cNvSpPr/>
          <p:nvPr/>
        </p:nvSpPr>
        <p:spPr>
          <a:xfrm>
            <a:off x="9857232"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residue 21"/>
          <p:cNvSpPr/>
          <p:nvPr/>
        </p:nvSpPr>
        <p:spPr>
          <a:xfrm>
            <a:off x="10012680"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residue 22"/>
          <p:cNvSpPr/>
          <p:nvPr/>
        </p:nvSpPr>
        <p:spPr>
          <a:xfrm>
            <a:off x="10168128"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residue 23"/>
          <p:cNvSpPr/>
          <p:nvPr/>
        </p:nvSpPr>
        <p:spPr>
          <a:xfrm>
            <a:off x="10323576"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residue 24"/>
          <p:cNvSpPr/>
          <p:nvPr/>
        </p:nvSpPr>
        <p:spPr>
          <a:xfrm>
            <a:off x="10479024"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residue 25"/>
          <p:cNvSpPr/>
          <p:nvPr/>
        </p:nvSpPr>
        <p:spPr>
          <a:xfrm>
            <a:off x="10634472"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residue 26"/>
          <p:cNvSpPr/>
          <p:nvPr/>
        </p:nvSpPr>
        <p:spPr>
          <a:xfrm>
            <a:off x="10789920"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residue 27"/>
          <p:cNvSpPr/>
          <p:nvPr/>
        </p:nvSpPr>
        <p:spPr>
          <a:xfrm>
            <a:off x="10945367"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residue 28"/>
          <p:cNvSpPr/>
          <p:nvPr/>
        </p:nvSpPr>
        <p:spPr>
          <a:xfrm>
            <a:off x="11100816" y="2971800"/>
            <a:ext cx="137160" cy="137160"/>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key residue 15"/>
          <p:cNvSpPr/>
          <p:nvPr/>
        </p:nvSpPr>
        <p:spPr>
          <a:xfrm>
            <a:off x="9079992" y="2971800"/>
            <a:ext cx="137160" cy="13716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8" name="key residue 16"/>
          <p:cNvSpPr/>
          <p:nvPr/>
        </p:nvSpPr>
        <p:spPr>
          <a:xfrm>
            <a:off x="9235440" y="2971800"/>
            <a:ext cx="137160" cy="13716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9" name="key residue 17"/>
          <p:cNvSpPr/>
          <p:nvPr/>
        </p:nvSpPr>
        <p:spPr>
          <a:xfrm>
            <a:off x="9390888" y="2971800"/>
            <a:ext cx="137160" cy="13716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0" name="key residue 19"/>
          <p:cNvSpPr/>
          <p:nvPr/>
        </p:nvSpPr>
        <p:spPr>
          <a:xfrm>
            <a:off x="9701784" y="2971800"/>
            <a:ext cx="137160" cy="13716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1" name="l2"/>
          <p:cNvSpPr txBox="1"/>
          <p:nvPr/>
        </p:nvSpPr>
        <p:spPr>
          <a:xfrm>
            <a:off x="6903720" y="3200400"/>
            <a:ext cx="4389120" cy="274320"/>
          </a:xfrm>
          <a:prstGeom prst="rect">
            <a:avLst/>
          </a:prstGeom>
          <a:noFill/>
        </p:spPr>
        <p:txBody>
          <a:bodyPr wrap="square" lIns="0" rIns="0" tIns="0" bIns="0" anchor="t">
            <a:spAutoFit/>
          </a:bodyPr>
          <a:lstStyle/>
          <a:p>
            <a:pPr algn="l"/>
            <a:r>
              <a:rPr sz="1100" b="0" i="0">
                <a:solidFill>
                  <a:srgbClr val="5B7380"/>
                </a:solidFill>
                <a:latin typeface="Calibri"/>
              </a:rPr>
              <a:t>28-residue peptide</a:t>
            </a:r>
          </a:p>
        </p:txBody>
      </p:sp>
      <p:sp>
        <p:nvSpPr>
          <p:cNvPr id="52" name="question chip"/>
          <p:cNvSpPr/>
          <p:nvPr/>
        </p:nvSpPr>
        <p:spPr>
          <a:xfrm>
            <a:off x="9144000" y="1600200"/>
            <a:ext cx="2286000" cy="384048"/>
          </a:xfrm>
          <a:prstGeom prst="roundRect">
            <a:avLst>
              <a:gd name="adj" fmla="val 50000"/>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D1495B"/>
                </a:solidFill>
                <a:latin typeface="Calibri"/>
              </a:rPr>
              <a:t>which residues?</a:t>
            </a:r>
          </a:p>
        </p:txBody>
      </p:sp>
      <p:cxnSp>
        <p:nvCxnSpPr>
          <p:cNvPr id="53" name="zoom line"/>
          <p:cNvCxnSpPr/>
          <p:nvPr/>
        </p:nvCxnSpPr>
        <p:spPr>
          <a:xfrm flipH="1">
            <a:off x="6967728" y="1783080"/>
            <a:ext cx="850392" cy="1188720"/>
          </a:xfrm>
          <a:prstGeom prst="line">
            <a:avLst/>
          </a:prstGeom>
          <a:ln w="12700">
            <a:solidFill>
              <a:srgbClr val="8FA3AD"/>
            </a:solidFill>
            <a:prstDash val="dash"/>
          </a:ln>
        </p:spPr>
        <p:style>
          <a:lnRef idx="2">
            <a:schemeClr val="accent1"/>
          </a:lnRef>
          <a:fillRef idx="0">
            <a:schemeClr val="accent1"/>
          </a:fillRef>
          <a:effectRef idx="1">
            <a:schemeClr val="accent1"/>
          </a:effectRef>
          <a:fontRef idx="minor">
            <a:schemeClr val="tx1"/>
          </a:fontRef>
        </p:style>
      </p:cxnSp>
      <p:sp>
        <p:nvSpPr>
          <p:cNvPr id="54" name="scope panel"/>
          <p:cNvSpPr/>
          <p:nvPr/>
        </p:nvSpPr>
        <p:spPr>
          <a:xfrm>
            <a:off x="548640" y="4069080"/>
            <a:ext cx="11094415" cy="1143000"/>
          </a:xfrm>
          <a:prstGeom prst="roundRect">
            <a:avLst>
              <a:gd name="adj" fmla="val 8000"/>
            </a:avLst>
          </a:prstGeom>
          <a:solidFill>
            <a:srgbClr val="FBF1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5" name="scope"/>
          <p:cNvSpPr txBox="1"/>
          <p:nvPr/>
        </p:nvSpPr>
        <p:spPr>
          <a:xfrm>
            <a:off x="731520" y="4142232"/>
            <a:ext cx="10728655" cy="1280160"/>
          </a:xfrm>
          <a:prstGeom prst="rect">
            <a:avLst/>
          </a:prstGeom>
          <a:noFill/>
        </p:spPr>
        <p:txBody>
          <a:bodyPr wrap="square" lIns="0" rIns="0" tIns="0" bIns="0" anchor="t">
            <a:spAutoFit/>
          </a:bodyPr>
          <a:lstStyle/>
          <a:p>
            <a:pPr algn="l"/>
            <a:r>
              <a:rPr sz="1300" b="1" i="0">
                <a:solidFill>
                  <a:srgbClr val="8A6A12"/>
                </a:solidFill>
                <a:latin typeface="Calibri"/>
              </a:rPr>
              <a:t>Scope</a:t>
            </a:r>
          </a:p>
          <a:p>
            <a:pPr algn="l">
              <a:spcBef>
                <a:spcPts val="300"/>
              </a:spcBef>
            </a:pPr>
            <a:r>
              <a:rPr sz="1300" b="0" i="0">
                <a:solidFill>
                  <a:srgbClr val="15323F"/>
                </a:solidFill>
                <a:latin typeface="Calibri"/>
              </a:rPr>
              <a:t>Labels in this work are measured on isolated 28-residue peptides fused to a reporter, so the assay sees autonomous degrons: signals that work inside the 28-mer on their own. Degrons that need priming (for example phosphorylation by another kinase) are outside its reach. Predictions describe peptide-level stability and do not by themselves establish an effect on the intact protein or any therapeutic effect.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500"/>
                                        <p:tgtEl>
                                          <p:spTgt spid="18"/>
                                        </p:tgtEl>
                                      </p:cBhvr>
                                    </p:animEffect>
                                  </p:childTnLst>
                                </p:cTn>
                              </p:par>
                            </p:childTnLst>
                          </p:cTn>
                        </p:par>
                      </p:childTnLst>
                    </p:cTn>
                  </p:par>
                  <p:par>
                    <p:cTn id="95" fill="hold">
                      <p:stCondLst>
                        <p:cond delay="indefinite"/>
                      </p:stCondLst>
                      <p:childTnLst>
                        <p:par>
                          <p:cTn id="96"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53"/>
                                        </p:tgtEl>
                                        <p:attrNameLst>
                                          <p:attrName>style.visibility</p:attrName>
                                        </p:attrNameLst>
                                      </p:cBhvr>
                                      <p:to>
                                        <p:strVal val="visible"/>
                                      </p:to>
                                    </p:set>
                                    <p:animEffect transition="in" filter="fade">
                                      <p:cBhvr>
                                        <p:cTn id="10" dur="500"/>
                                        <p:tgtEl>
                                          <p:spTgt spid="53"/>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par>
                                <p:cTn id="35" presetID="10"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par>
                                <p:cTn id="38" presetID="10" presetClass="entr" presetSubtype="0"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par>
                                <p:cTn id="41" presetID="10"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500"/>
                                        <p:tgtEl>
                                          <p:spTgt spid="29"/>
                                        </p:tgtEl>
                                      </p:cBhvr>
                                    </p:animEffect>
                                  </p:childTnLst>
                                </p:cTn>
                              </p:par>
                              <p:par>
                                <p:cTn id="44" presetID="10" presetClass="entr" presetSubtype="0" fill="hold"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childTnLst>
                                </p:cTn>
                              </p:par>
                              <p:par>
                                <p:cTn id="47" presetID="10"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500"/>
                                        <p:tgtEl>
                                          <p:spTgt spid="31"/>
                                        </p:tgtEl>
                                      </p:cBhvr>
                                    </p:animEffect>
                                  </p:childTnLst>
                                </p:cTn>
                              </p:par>
                              <p:par>
                                <p:cTn id="50" presetID="10" presetClass="entr" presetSubtype="0" fill="hold"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500"/>
                                        <p:tgtEl>
                                          <p:spTgt spid="32"/>
                                        </p:tgtEl>
                                      </p:cBhvr>
                                    </p:animEffect>
                                  </p:childTnLst>
                                </p:cTn>
                              </p:par>
                              <p:par>
                                <p:cTn id="53" presetID="10"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500"/>
                                        <p:tgtEl>
                                          <p:spTgt spid="33"/>
                                        </p:tgtEl>
                                      </p:cBhvr>
                                    </p:animEffect>
                                  </p:childTnLst>
                                </p:cTn>
                              </p:par>
                              <p:par>
                                <p:cTn id="56" presetID="10" presetClass="entr" presetSubtype="0" fill="hold"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fade">
                                      <p:cBhvr>
                                        <p:cTn id="58" dur="500"/>
                                        <p:tgtEl>
                                          <p:spTgt spid="34"/>
                                        </p:tgtEl>
                                      </p:cBhvr>
                                    </p:animEffect>
                                  </p:childTnLst>
                                </p:cTn>
                              </p:par>
                              <p:par>
                                <p:cTn id="59" presetID="10" presetClass="entr" presetSubtype="0" fill="hold"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500"/>
                                        <p:tgtEl>
                                          <p:spTgt spid="35"/>
                                        </p:tgtEl>
                                      </p:cBhvr>
                                    </p:animEffect>
                                  </p:childTnLst>
                                </p:cTn>
                              </p:par>
                              <p:par>
                                <p:cTn id="62" presetID="10" presetClass="entr" presetSubtype="0" fill="hold" nodeType="with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fade">
                                      <p:cBhvr>
                                        <p:cTn id="64" dur="500"/>
                                        <p:tgtEl>
                                          <p:spTgt spid="36"/>
                                        </p:tgtEl>
                                      </p:cBhvr>
                                    </p:animEffect>
                                  </p:childTnLst>
                                </p:cTn>
                              </p:par>
                              <p:par>
                                <p:cTn id="65" presetID="10" presetClass="entr" presetSubtype="0" fill="hold" nodeType="with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500"/>
                                        <p:tgtEl>
                                          <p:spTgt spid="37"/>
                                        </p:tgtEl>
                                      </p:cBhvr>
                                    </p:animEffect>
                                  </p:childTnLst>
                                </p:cTn>
                              </p:par>
                              <p:par>
                                <p:cTn id="68" presetID="10" presetClass="entr" presetSubtype="0" fill="hold"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fade">
                                      <p:cBhvr>
                                        <p:cTn id="70" dur="500"/>
                                        <p:tgtEl>
                                          <p:spTgt spid="38"/>
                                        </p:tgtEl>
                                      </p:cBhvr>
                                    </p:animEffect>
                                  </p:childTnLst>
                                </p:cTn>
                              </p:par>
                              <p:par>
                                <p:cTn id="71" presetID="10" presetClass="entr" presetSubtype="0" fill="hold" nodeType="with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500"/>
                                        <p:tgtEl>
                                          <p:spTgt spid="39"/>
                                        </p:tgtEl>
                                      </p:cBhvr>
                                    </p:animEffect>
                                  </p:childTnLst>
                                </p:cTn>
                              </p:par>
                              <p:par>
                                <p:cTn id="74" presetID="10" presetClass="entr" presetSubtype="0" fill="hold" nodeType="with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fade">
                                      <p:cBhvr>
                                        <p:cTn id="76" dur="500"/>
                                        <p:tgtEl>
                                          <p:spTgt spid="40"/>
                                        </p:tgtEl>
                                      </p:cBhvr>
                                    </p:animEffect>
                                  </p:childTnLst>
                                </p:cTn>
                              </p:par>
                              <p:par>
                                <p:cTn id="77" presetID="10" presetClass="entr" presetSubtype="0" fill="hold" nodeType="with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500"/>
                                        <p:tgtEl>
                                          <p:spTgt spid="41"/>
                                        </p:tgtEl>
                                      </p:cBhvr>
                                    </p:animEffect>
                                  </p:childTnLst>
                                </p:cTn>
                              </p:par>
                              <p:par>
                                <p:cTn id="80" presetID="10" presetClass="entr" presetSubtype="0" fill="hold" nodeType="withEffect">
                                  <p:stCondLst>
                                    <p:cond delay="0"/>
                                  </p:stCondLst>
                                  <p:childTnLst>
                                    <p:set>
                                      <p:cBhvr>
                                        <p:cTn id="81" dur="1" fill="hold">
                                          <p:stCondLst>
                                            <p:cond delay="0"/>
                                          </p:stCondLst>
                                        </p:cTn>
                                        <p:tgtEl>
                                          <p:spTgt spid="42"/>
                                        </p:tgtEl>
                                        <p:attrNameLst>
                                          <p:attrName>style.visibility</p:attrName>
                                        </p:attrNameLst>
                                      </p:cBhvr>
                                      <p:to>
                                        <p:strVal val="visible"/>
                                      </p:to>
                                    </p:set>
                                    <p:animEffect transition="in" filter="fade">
                                      <p:cBhvr>
                                        <p:cTn id="82" dur="500"/>
                                        <p:tgtEl>
                                          <p:spTgt spid="42"/>
                                        </p:tgtEl>
                                      </p:cBhvr>
                                    </p:animEffect>
                                  </p:childTnLst>
                                </p:cTn>
                              </p:par>
                              <p:par>
                                <p:cTn id="83" presetID="10" presetClass="entr" presetSubtype="0" fill="hold" nodeType="with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500"/>
                                        <p:tgtEl>
                                          <p:spTgt spid="43"/>
                                        </p:tgtEl>
                                      </p:cBhvr>
                                    </p:animEffect>
                                  </p:childTnLst>
                                </p:cTn>
                              </p:par>
                              <p:par>
                                <p:cTn id="86" presetID="10" presetClass="entr" presetSubtype="0" fill="hold" nodeType="with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fade">
                                      <p:cBhvr>
                                        <p:cTn id="88" dur="500"/>
                                        <p:tgtEl>
                                          <p:spTgt spid="44"/>
                                        </p:tgtEl>
                                      </p:cBhvr>
                                    </p:animEffect>
                                  </p:childTnLst>
                                </p:cTn>
                              </p:par>
                              <p:par>
                                <p:cTn id="89" presetID="10" presetClass="entr" presetSubtype="0" fill="hold" nodeType="with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500"/>
                                        <p:tgtEl>
                                          <p:spTgt spid="45"/>
                                        </p:tgtEl>
                                      </p:cBhvr>
                                    </p:animEffect>
                                  </p:childTnLst>
                                </p:cTn>
                              </p:par>
                              <p:par>
                                <p:cTn id="92" presetID="10" presetClass="entr" presetSubtype="0" fill="hold" nodeType="with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fade">
                                      <p:cBhvr>
                                        <p:cTn id="94" dur="500"/>
                                        <p:tgtEl>
                                          <p:spTgt spid="46"/>
                                        </p:tgtEl>
                                      </p:cBhvr>
                                    </p:animEffect>
                                  </p:childTnLst>
                                </p:cTn>
                              </p:par>
                            </p:childTnLst>
                          </p:cTn>
                        </p:par>
                      </p:childTnLst>
                    </p:cTn>
                  </p:par>
                  <p:par>
                    <p:cTn id="112" fill="hold">
                      <p:stCondLst>
                        <p:cond delay="indefinite"/>
                      </p:stCondLst>
                      <p:childTnLst>
                        <p:par>
                          <p:cTn id="113"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47"/>
                                        </p:tgtEl>
                                        <p:attrNameLst>
                                          <p:attrName>style.visibility</p:attrName>
                                        </p:attrNameLst>
                                      </p:cBhvr>
                                      <p:to>
                                        <p:strVal val="visible"/>
                                      </p:to>
                                    </p:set>
                                    <p:animEffect transition="in" filter="fade">
                                      <p:cBhvr>
                                        <p:cTn id="99" dur="500"/>
                                        <p:tgtEl>
                                          <p:spTgt spid="47"/>
                                        </p:tgtEl>
                                      </p:cBhvr>
                                    </p:animEffect>
                                  </p:childTnLst>
                                </p:cTn>
                              </p:par>
                              <p:par>
                                <p:cTn id="100" presetID="10" presetClass="entr" presetSubtype="0" fill="hold" nodeType="withEffect">
                                  <p:stCondLst>
                                    <p:cond delay="0"/>
                                  </p:stCondLst>
                                  <p:childTnLst>
                                    <p:set>
                                      <p:cBhvr>
                                        <p:cTn id="101" dur="1" fill="hold">
                                          <p:stCondLst>
                                            <p:cond delay="0"/>
                                          </p:stCondLst>
                                        </p:cTn>
                                        <p:tgtEl>
                                          <p:spTgt spid="48"/>
                                        </p:tgtEl>
                                        <p:attrNameLst>
                                          <p:attrName>style.visibility</p:attrName>
                                        </p:attrNameLst>
                                      </p:cBhvr>
                                      <p:to>
                                        <p:strVal val="visible"/>
                                      </p:to>
                                    </p:set>
                                    <p:animEffect transition="in" filter="fade">
                                      <p:cBhvr>
                                        <p:cTn id="102" dur="500"/>
                                        <p:tgtEl>
                                          <p:spTgt spid="48"/>
                                        </p:tgtEl>
                                      </p:cBhvr>
                                    </p:animEffect>
                                  </p:childTnLst>
                                </p:cTn>
                              </p:par>
                              <p:par>
                                <p:cTn id="103" presetID="10" presetClass="entr" presetSubtype="0" fill="hold" nodeType="withEffect">
                                  <p:stCondLst>
                                    <p:cond delay="0"/>
                                  </p:stCondLst>
                                  <p:childTnLst>
                                    <p:set>
                                      <p:cBhvr>
                                        <p:cTn id="104" dur="1" fill="hold">
                                          <p:stCondLst>
                                            <p:cond delay="0"/>
                                          </p:stCondLst>
                                        </p:cTn>
                                        <p:tgtEl>
                                          <p:spTgt spid="49"/>
                                        </p:tgtEl>
                                        <p:attrNameLst>
                                          <p:attrName>style.visibility</p:attrName>
                                        </p:attrNameLst>
                                      </p:cBhvr>
                                      <p:to>
                                        <p:strVal val="visible"/>
                                      </p:to>
                                    </p:set>
                                    <p:animEffect transition="in" filter="fade">
                                      <p:cBhvr>
                                        <p:cTn id="105" dur="500"/>
                                        <p:tgtEl>
                                          <p:spTgt spid="49"/>
                                        </p:tgtEl>
                                      </p:cBhvr>
                                    </p:animEffect>
                                  </p:childTnLst>
                                </p:cTn>
                              </p:par>
                              <p:par>
                                <p:cTn id="106" presetID="10" presetClass="entr" presetSubtype="0" fill="hold" nodeType="withEffect">
                                  <p:stCondLst>
                                    <p:cond delay="0"/>
                                  </p:stCondLst>
                                  <p:childTnLst>
                                    <p:set>
                                      <p:cBhvr>
                                        <p:cTn id="107" dur="1" fill="hold">
                                          <p:stCondLst>
                                            <p:cond delay="0"/>
                                          </p:stCondLst>
                                        </p:cTn>
                                        <p:tgtEl>
                                          <p:spTgt spid="50"/>
                                        </p:tgtEl>
                                        <p:attrNameLst>
                                          <p:attrName>style.visibility</p:attrName>
                                        </p:attrNameLst>
                                      </p:cBhvr>
                                      <p:to>
                                        <p:strVal val="visible"/>
                                      </p:to>
                                    </p:set>
                                    <p:animEffect transition="in" filter="fade">
                                      <p:cBhvr>
                                        <p:cTn id="108" dur="500"/>
                                        <p:tgtEl>
                                          <p:spTgt spid="50"/>
                                        </p:tgtEl>
                                      </p:cBhvr>
                                    </p:animEffect>
                                  </p:childTnLst>
                                </p:cTn>
                              </p:par>
                              <p:par>
                                <p:cTn id="109" presetID="10" presetClass="entr" presetSubtype="0" fill="hold" nodeType="withEffect">
                                  <p:stCondLst>
                                    <p:cond delay="0"/>
                                  </p:stCondLst>
                                  <p:childTnLst>
                                    <p:set>
                                      <p:cBhvr>
                                        <p:cTn id="110" dur="1" fill="hold">
                                          <p:stCondLst>
                                            <p:cond delay="0"/>
                                          </p:stCondLst>
                                        </p:cTn>
                                        <p:tgtEl>
                                          <p:spTgt spid="52"/>
                                        </p:tgtEl>
                                        <p:attrNameLst>
                                          <p:attrName>style.visibility</p:attrName>
                                        </p:attrNameLst>
                                      </p:cBhvr>
                                      <p:to>
                                        <p:strVal val="visible"/>
                                      </p:to>
                                    </p:set>
                                    <p:animEffect transition="in" filter="fade">
                                      <p:cBhvr>
                                        <p:cTn id="11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Measured degron regions are enriched for disease variants, at region level</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6</a:t>
            </a:r>
          </a:p>
        </p:txBody>
      </p:sp>
      <p:sp>
        <p:nvSpPr>
          <p:cNvPr id="15" name="direction 1"/>
          <p:cNvSpPr/>
          <p:nvPr/>
        </p:nvSpPr>
        <p:spPr>
          <a:xfrm>
            <a:off x="548640" y="1097280"/>
            <a:ext cx="5257800" cy="841248"/>
          </a:xfrm>
          <a:prstGeom prst="roundRect">
            <a:avLst>
              <a:gd name="adj" fmla="val 10869"/>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68580" bIns="68580"/>
          <a:lstStyle/>
          <a:p>
            <a:pPr algn="l"/>
            <a:r>
              <a:rPr sz="1300" b="1" i="0">
                <a:solidFill>
                  <a:srgbClr val="D1495B"/>
                </a:solidFill>
                <a:latin typeface="Calibri"/>
              </a:rPr>
              <a:t>Degron destroyed</a:t>
            </a:r>
            <a:r>
              <a:rPr sz="1300" b="0" i="0">
                <a:solidFill>
                  <a:srgbClr val="15323F"/>
                </a:solidFill>
                <a:latin typeface="Calibri"/>
              </a:rPr>
              <a:t>  →  the protein escapes degradation and accumulates</a:t>
            </a:r>
          </a:p>
        </p:txBody>
      </p:sp>
      <p:sp>
        <p:nvSpPr>
          <p:cNvPr id="16" name="direction 2"/>
          <p:cNvSpPr/>
          <p:nvPr/>
        </p:nvSpPr>
        <p:spPr>
          <a:xfrm>
            <a:off x="548640" y="2029968"/>
            <a:ext cx="5257800" cy="1078992"/>
          </a:xfrm>
          <a:prstGeom prst="roundRect">
            <a:avLst>
              <a:gd name="adj" fmla="val 8474"/>
            </a:avLst>
          </a:prstGeom>
          <a:solidFill>
            <a:srgbClr val="D9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68580" bIns="68580"/>
          <a:lstStyle/>
          <a:p>
            <a:pPr algn="l"/>
            <a:r>
              <a:rPr sz="1300" b="1" i="0">
                <a:solidFill>
                  <a:srgbClr val="1F7A6F"/>
                </a:solidFill>
                <a:latin typeface="Calibri"/>
              </a:rPr>
              <a:t>Degron created</a:t>
            </a:r>
            <a:r>
              <a:rPr sz="1300" b="0" i="0">
                <a:solidFill>
                  <a:srgbClr val="15323F"/>
                </a:solidFill>
                <a:latin typeface="Calibri"/>
              </a:rPr>
              <a:t>  →  a healthy protein is cleared early: loss of function, e.g. PNPO D33V (Voutsinos et al., Sci Adv 2026)</a:t>
            </a:r>
          </a:p>
        </p:txBody>
      </p:sp>
      <p:sp>
        <p:nvSpPr>
          <p:cNvPr id="17" name="limits panel"/>
          <p:cNvSpPr/>
          <p:nvPr/>
        </p:nvSpPr>
        <p:spPr>
          <a:xfrm>
            <a:off x="548640" y="3246120"/>
            <a:ext cx="5257800" cy="1965960"/>
          </a:xfrm>
          <a:prstGeom prst="roundRect">
            <a:avLst>
              <a:gd name="adj" fmla="val 4651"/>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limits"/>
          <p:cNvSpPr txBox="1"/>
          <p:nvPr/>
        </p:nvSpPr>
        <p:spPr>
          <a:xfrm>
            <a:off x="685800" y="3310128"/>
            <a:ext cx="4983480" cy="1874519"/>
          </a:xfrm>
          <a:prstGeom prst="rect">
            <a:avLst/>
          </a:prstGeom>
          <a:noFill/>
        </p:spPr>
        <p:txBody>
          <a:bodyPr wrap="square" lIns="0" rIns="0" tIns="0" bIns="0" anchor="t">
            <a:spAutoFit/>
          </a:bodyPr>
          <a:lstStyle/>
          <a:p>
            <a:pPr algn="l"/>
            <a:r>
              <a:rPr sz="1300" b="1" i="0">
                <a:solidFill>
                  <a:srgbClr val="15323F"/>
                </a:solidFill>
                <a:latin typeface="Calibri"/>
              </a:rPr>
              <a:t>What this number does and does not say</a:t>
            </a:r>
          </a:p>
          <a:p>
            <a:pPr algn="l" marL="182880" indent="-182880">
              <a:spcBef>
                <a:spcPts val="400"/>
              </a:spcBef>
              <a:buClr>
                <a:srgbClr val="D1495B"/>
              </a:buClr>
              <a:buFont typeface="Arial"/>
              <a:buChar char="•"/>
            </a:pPr>
            <a:r>
              <a:rPr sz="1200" b="0" i="0">
                <a:solidFill>
                  <a:srgbClr val="15323F"/>
                </a:solidFill>
                <a:latin typeface="Calibri"/>
              </a:rPr>
              <a:t>It is a region-level association; whether the individual residues in a degron carry the disease signal is not established by our data</a:t>
            </a:r>
          </a:p>
          <a:p>
            <a:pPr algn="l" marL="182880" indent="-182880">
              <a:spcBef>
                <a:spcPts val="400"/>
              </a:spcBef>
              <a:buClr>
                <a:srgbClr val="D1495B"/>
              </a:buClr>
              <a:buFont typeface="Arial"/>
              <a:buChar char="•"/>
            </a:pPr>
            <a:r>
              <a:rPr sz="1200" b="0" i="0">
                <a:solidFill>
                  <a:srgbClr val="15323F"/>
                </a:solidFill>
                <a:latin typeface="Calibri"/>
              </a:rPr>
              <a:t>Variants are not over-represented in degrons by location: 33.4% of variants vs 32.4% of tiles</a:t>
            </a:r>
          </a:p>
          <a:p>
            <a:pPr algn="l" marL="182880" indent="-182880">
              <a:spcBef>
                <a:spcPts val="400"/>
              </a:spcBef>
              <a:buClr>
                <a:srgbClr val="D1495B"/>
              </a:buClr>
              <a:buFont typeface="Arial"/>
              <a:buChar char="•"/>
            </a:pPr>
            <a:r>
              <a:rPr sz="1200" b="0" i="0">
                <a:solidFill>
                  <a:srgbClr val="15323F"/>
                </a:solidFill>
                <a:latin typeface="Calibri"/>
              </a:rPr>
              <a:t>Conservation and disorder are not yet controlled for</a:t>
            </a:r>
          </a:p>
        </p:txBody>
      </p:sp>
      <p:sp>
        <p:nvSpPr>
          <p:cNvPr id="19" name="right heading"/>
          <p:cNvSpPr txBox="1"/>
          <p:nvPr/>
        </p:nvSpPr>
        <p:spPr>
          <a:xfrm>
            <a:off x="6080760" y="1005840"/>
            <a:ext cx="5559552" cy="685800"/>
          </a:xfrm>
          <a:prstGeom prst="rect">
            <a:avLst/>
          </a:prstGeom>
          <a:noFill/>
        </p:spPr>
        <p:txBody>
          <a:bodyPr wrap="square" lIns="0" rIns="0" tIns="0" bIns="0" anchor="t">
            <a:spAutoFit/>
          </a:bodyPr>
          <a:lstStyle/>
          <a:p>
            <a:pPr algn="l"/>
            <a:r>
              <a:rPr sz="1500" b="1" i="0">
                <a:solidFill>
                  <a:srgbClr val="15323F"/>
                </a:solidFill>
                <a:latin typeface="Calibri"/>
              </a:rPr>
              <a:t>How much clinical variation falls in degrons? We measured it.</a:t>
            </a:r>
          </a:p>
          <a:p>
            <a:pPr algn="l">
              <a:spcBef>
                <a:spcPts val="100"/>
              </a:spcBef>
            </a:pPr>
            <a:r>
              <a:rPr sz="1200" b="0" i="0">
                <a:solidFill>
                  <a:srgbClr val="5B7380"/>
                </a:solidFill>
                <a:latin typeface="Calibri"/>
              </a:rPr>
              <a:t>ClinVar, 2.56 million missense variants, mapped onto every peptide the GPS screen measured</a:t>
            </a:r>
          </a:p>
        </p:txBody>
      </p:sp>
      <p:sp>
        <p:nvSpPr>
          <p:cNvPr id="20" name="forest panel"/>
          <p:cNvSpPr/>
          <p:nvPr/>
        </p:nvSpPr>
        <p:spPr>
          <a:xfrm>
            <a:off x="6080760" y="1737360"/>
            <a:ext cx="5559552" cy="2148840"/>
          </a:xfrm>
          <a:prstGeom prst="roundRect">
            <a:avLst>
              <a:gd name="adj" fmla="val 4255"/>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forest label"/>
          <p:cNvSpPr txBox="1"/>
          <p:nvPr/>
        </p:nvSpPr>
        <p:spPr>
          <a:xfrm>
            <a:off x="6217920" y="1792224"/>
            <a:ext cx="5303520" cy="457200"/>
          </a:xfrm>
          <a:prstGeom prst="rect">
            <a:avLst/>
          </a:prstGeom>
          <a:noFill/>
        </p:spPr>
        <p:txBody>
          <a:bodyPr wrap="square" lIns="0" rIns="0" tIns="0" bIns="0" anchor="t">
            <a:spAutoFit/>
          </a:bodyPr>
          <a:lstStyle/>
          <a:p>
            <a:pPr algn="l"/>
            <a:r>
              <a:rPr sz="1150" b="0" i="0">
                <a:solidFill>
                  <a:srgbClr val="15323F"/>
                </a:solidFill>
                <a:latin typeface="Calibri"/>
              </a:rPr>
              <a:t>Pathogenic vs benign, within the same protein: inside a measured degron vs elsewhere in that protein</a:t>
            </a:r>
          </a:p>
        </p:txBody>
      </p:sp>
      <p:cxnSp>
        <p:nvCxnSpPr>
          <p:cNvPr id="22" name="axis"/>
          <p:cNvCxnSpPr/>
          <p:nvPr/>
        </p:nvCxnSpPr>
        <p:spPr>
          <a:xfrm>
            <a:off x="6492240" y="3429000"/>
            <a:ext cx="4754880" cy="0"/>
          </a:xfrm>
          <a:prstGeom prst="line">
            <a:avLst/>
          </a:prstGeom>
          <a:ln w="12700">
            <a:solidFill>
              <a:srgbClr val="8FA3AD"/>
            </a:solidFill>
          </a:ln>
        </p:spPr>
        <p:style>
          <a:lnRef idx="2">
            <a:schemeClr val="accent1"/>
          </a:lnRef>
          <a:fillRef idx="0">
            <a:schemeClr val="accent1"/>
          </a:fillRef>
          <a:effectRef idx="1">
            <a:schemeClr val="accent1"/>
          </a:effectRef>
          <a:fontRef idx="minor">
            <a:schemeClr val="tx1"/>
          </a:fontRef>
        </p:style>
      </p:cxnSp>
      <p:cxnSp>
        <p:nvCxnSpPr>
          <p:cNvPr id="23" name="tick 0.5"/>
          <p:cNvCxnSpPr/>
          <p:nvPr/>
        </p:nvCxnSpPr>
        <p:spPr>
          <a:xfrm>
            <a:off x="6492240" y="3401568"/>
            <a:ext cx="0" cy="73152"/>
          </a:xfrm>
          <a:prstGeom prst="line">
            <a:avLst/>
          </a:prstGeom>
          <a:ln w="12700">
            <a:solidFill>
              <a:srgbClr val="8FA3AD"/>
            </a:solidFill>
          </a:ln>
        </p:spPr>
        <p:style>
          <a:lnRef idx="2">
            <a:schemeClr val="accent1"/>
          </a:lnRef>
          <a:fillRef idx="0">
            <a:schemeClr val="accent1"/>
          </a:fillRef>
          <a:effectRef idx="1">
            <a:schemeClr val="accent1"/>
          </a:effectRef>
          <a:fontRef idx="minor">
            <a:schemeClr val="tx1"/>
          </a:fontRef>
        </p:style>
      </p:cxnSp>
      <p:sp>
        <p:nvSpPr>
          <p:cNvPr id="24" name="tick label 0.5"/>
          <p:cNvSpPr txBox="1"/>
          <p:nvPr/>
        </p:nvSpPr>
        <p:spPr>
          <a:xfrm>
            <a:off x="6217920" y="3493008"/>
            <a:ext cx="548640" cy="228600"/>
          </a:xfrm>
          <a:prstGeom prst="rect">
            <a:avLst/>
          </a:prstGeom>
          <a:noFill/>
        </p:spPr>
        <p:txBody>
          <a:bodyPr wrap="square" lIns="0" rIns="0" tIns="0" bIns="0" anchor="t">
            <a:spAutoFit/>
          </a:bodyPr>
          <a:lstStyle/>
          <a:p>
            <a:pPr algn="ctr"/>
            <a:r>
              <a:rPr sz="1000" b="0" i="0">
                <a:solidFill>
                  <a:srgbClr val="5B7380"/>
                </a:solidFill>
                <a:latin typeface="Calibri"/>
              </a:rPr>
              <a:t>0.5</a:t>
            </a:r>
          </a:p>
        </p:txBody>
      </p:sp>
      <p:cxnSp>
        <p:nvCxnSpPr>
          <p:cNvPr id="25" name="tick 1"/>
          <p:cNvCxnSpPr/>
          <p:nvPr/>
        </p:nvCxnSpPr>
        <p:spPr>
          <a:xfrm>
            <a:off x="8331678" y="3401568"/>
            <a:ext cx="0" cy="73152"/>
          </a:xfrm>
          <a:prstGeom prst="line">
            <a:avLst/>
          </a:prstGeom>
          <a:ln w="12700">
            <a:solidFill>
              <a:srgbClr val="8FA3AD"/>
            </a:solidFill>
          </a:ln>
        </p:spPr>
        <p:style>
          <a:lnRef idx="2">
            <a:schemeClr val="accent1"/>
          </a:lnRef>
          <a:fillRef idx="0">
            <a:schemeClr val="accent1"/>
          </a:fillRef>
          <a:effectRef idx="1">
            <a:schemeClr val="accent1"/>
          </a:effectRef>
          <a:fontRef idx="minor">
            <a:schemeClr val="tx1"/>
          </a:fontRef>
        </p:style>
      </p:cxnSp>
      <p:sp>
        <p:nvSpPr>
          <p:cNvPr id="26" name="tick label 1"/>
          <p:cNvSpPr txBox="1"/>
          <p:nvPr/>
        </p:nvSpPr>
        <p:spPr>
          <a:xfrm>
            <a:off x="8057358" y="3493008"/>
            <a:ext cx="548640" cy="228600"/>
          </a:xfrm>
          <a:prstGeom prst="rect">
            <a:avLst/>
          </a:prstGeom>
          <a:noFill/>
        </p:spPr>
        <p:txBody>
          <a:bodyPr wrap="square" lIns="0" rIns="0" tIns="0" bIns="0" anchor="t">
            <a:spAutoFit/>
          </a:bodyPr>
          <a:lstStyle/>
          <a:p>
            <a:pPr algn="ctr"/>
            <a:r>
              <a:rPr sz="1000" b="0" i="0">
                <a:solidFill>
                  <a:srgbClr val="5B7380"/>
                </a:solidFill>
                <a:latin typeface="Calibri"/>
              </a:rPr>
              <a:t>1</a:t>
            </a:r>
          </a:p>
        </p:txBody>
      </p:sp>
      <p:cxnSp>
        <p:nvCxnSpPr>
          <p:cNvPr id="27" name="tick 2"/>
          <p:cNvCxnSpPr/>
          <p:nvPr/>
        </p:nvCxnSpPr>
        <p:spPr>
          <a:xfrm>
            <a:off x="10171117" y="3401568"/>
            <a:ext cx="0" cy="73152"/>
          </a:xfrm>
          <a:prstGeom prst="line">
            <a:avLst/>
          </a:prstGeom>
          <a:ln w="12700">
            <a:solidFill>
              <a:srgbClr val="8FA3AD"/>
            </a:solidFill>
          </a:ln>
        </p:spPr>
        <p:style>
          <a:lnRef idx="2">
            <a:schemeClr val="accent1"/>
          </a:lnRef>
          <a:fillRef idx="0">
            <a:schemeClr val="accent1"/>
          </a:fillRef>
          <a:effectRef idx="1">
            <a:schemeClr val="accent1"/>
          </a:effectRef>
          <a:fontRef idx="minor">
            <a:schemeClr val="tx1"/>
          </a:fontRef>
        </p:style>
      </p:cxnSp>
      <p:sp>
        <p:nvSpPr>
          <p:cNvPr id="28" name="tick label 2"/>
          <p:cNvSpPr txBox="1"/>
          <p:nvPr/>
        </p:nvSpPr>
        <p:spPr>
          <a:xfrm>
            <a:off x="9896797" y="3493008"/>
            <a:ext cx="548640" cy="228600"/>
          </a:xfrm>
          <a:prstGeom prst="rect">
            <a:avLst/>
          </a:prstGeom>
          <a:noFill/>
        </p:spPr>
        <p:txBody>
          <a:bodyPr wrap="square" lIns="0" rIns="0" tIns="0" bIns="0" anchor="t">
            <a:spAutoFit/>
          </a:bodyPr>
          <a:lstStyle/>
          <a:p>
            <a:pPr algn="ctr"/>
            <a:r>
              <a:rPr sz="1000" b="0" i="0">
                <a:solidFill>
                  <a:srgbClr val="5B7380"/>
                </a:solidFill>
                <a:latin typeface="Calibri"/>
              </a:rPr>
              <a:t>2</a:t>
            </a:r>
          </a:p>
        </p:txBody>
      </p:sp>
      <p:cxnSp>
        <p:nvCxnSpPr>
          <p:cNvPr id="29" name="tick 3"/>
          <p:cNvCxnSpPr/>
          <p:nvPr/>
        </p:nvCxnSpPr>
        <p:spPr>
          <a:xfrm>
            <a:off x="11247120" y="3401568"/>
            <a:ext cx="0" cy="73152"/>
          </a:xfrm>
          <a:prstGeom prst="line">
            <a:avLst/>
          </a:prstGeom>
          <a:ln w="12700">
            <a:solidFill>
              <a:srgbClr val="8FA3AD"/>
            </a:solidFill>
          </a:ln>
        </p:spPr>
        <p:style>
          <a:lnRef idx="2">
            <a:schemeClr val="accent1"/>
          </a:lnRef>
          <a:fillRef idx="0">
            <a:schemeClr val="accent1"/>
          </a:fillRef>
          <a:effectRef idx="1">
            <a:schemeClr val="accent1"/>
          </a:effectRef>
          <a:fontRef idx="minor">
            <a:schemeClr val="tx1"/>
          </a:fontRef>
        </p:style>
      </p:cxnSp>
      <p:sp>
        <p:nvSpPr>
          <p:cNvPr id="30" name="tick label 3"/>
          <p:cNvSpPr txBox="1"/>
          <p:nvPr/>
        </p:nvSpPr>
        <p:spPr>
          <a:xfrm>
            <a:off x="10972800" y="3493008"/>
            <a:ext cx="548640" cy="228600"/>
          </a:xfrm>
          <a:prstGeom prst="rect">
            <a:avLst/>
          </a:prstGeom>
          <a:noFill/>
        </p:spPr>
        <p:txBody>
          <a:bodyPr wrap="square" lIns="0" rIns="0" tIns="0" bIns="0" anchor="t">
            <a:spAutoFit/>
          </a:bodyPr>
          <a:lstStyle/>
          <a:p>
            <a:pPr algn="ctr"/>
            <a:r>
              <a:rPr sz="1000" b="0" i="0">
                <a:solidFill>
                  <a:srgbClr val="5B7380"/>
                </a:solidFill>
                <a:latin typeface="Calibri"/>
              </a:rPr>
              <a:t>3</a:t>
            </a:r>
          </a:p>
        </p:txBody>
      </p:sp>
      <p:sp>
        <p:nvSpPr>
          <p:cNvPr id="31" name="axis title"/>
          <p:cNvSpPr txBox="1"/>
          <p:nvPr/>
        </p:nvSpPr>
        <p:spPr>
          <a:xfrm>
            <a:off x="6492240" y="3675887"/>
            <a:ext cx="4754880" cy="201168"/>
          </a:xfrm>
          <a:prstGeom prst="rect">
            <a:avLst/>
          </a:prstGeom>
          <a:noFill/>
        </p:spPr>
        <p:txBody>
          <a:bodyPr wrap="square" lIns="0" rIns="0" tIns="0" bIns="0" anchor="t">
            <a:spAutoFit/>
          </a:bodyPr>
          <a:lstStyle/>
          <a:p>
            <a:pPr algn="ctr"/>
            <a:r>
              <a:rPr sz="1000" b="0" i="0">
                <a:solidFill>
                  <a:srgbClr val="5B7380"/>
                </a:solidFill>
                <a:latin typeface="Calibri"/>
              </a:rPr>
              <a:t>odds ratio (log scale)</a:t>
            </a:r>
          </a:p>
        </p:txBody>
      </p:sp>
      <p:cxnSp>
        <p:nvCxnSpPr>
          <p:cNvPr id="32" name="OR = 1"/>
          <p:cNvCxnSpPr/>
          <p:nvPr/>
        </p:nvCxnSpPr>
        <p:spPr>
          <a:xfrm>
            <a:off x="8331678" y="2377440"/>
            <a:ext cx="0" cy="1051560"/>
          </a:xfrm>
          <a:prstGeom prst="line">
            <a:avLst/>
          </a:prstGeom>
          <a:ln w="15240">
            <a:solidFill>
              <a:srgbClr val="15323F"/>
            </a:solidFill>
            <a:prstDash val="dash"/>
          </a:ln>
        </p:spPr>
        <p:style>
          <a:lnRef idx="2">
            <a:schemeClr val="accent1"/>
          </a:lnRef>
          <a:fillRef idx="0">
            <a:schemeClr val="accent1"/>
          </a:fillRef>
          <a:effectRef idx="1">
            <a:schemeClr val="accent1"/>
          </a:effectRef>
          <a:fontRef idx="minor">
            <a:schemeClr val="tx1"/>
          </a:fontRef>
        </p:style>
      </p:cxnSp>
      <p:cxnSp>
        <p:nvCxnSpPr>
          <p:cNvPr id="33" name="CI"/>
          <p:cNvCxnSpPr/>
          <p:nvPr/>
        </p:nvCxnSpPr>
        <p:spPr>
          <a:xfrm>
            <a:off x="10264972" y="2926080"/>
            <a:ext cx="191445" cy="0"/>
          </a:xfrm>
          <a:prstGeom prst="line">
            <a:avLst/>
          </a:prstGeom>
          <a:ln w="50800">
            <a:solidFill>
              <a:srgbClr val="D1495B"/>
            </a:solidFill>
          </a:ln>
        </p:spPr>
        <p:style>
          <a:lnRef idx="2">
            <a:schemeClr val="accent1"/>
          </a:lnRef>
          <a:fillRef idx="0">
            <a:schemeClr val="accent1"/>
          </a:fillRef>
          <a:effectRef idx="1">
            <a:schemeClr val="accent1"/>
          </a:effectRef>
          <a:fontRef idx="minor">
            <a:schemeClr val="tx1"/>
          </a:fontRef>
        </p:style>
      </p:cxnSp>
      <p:sp>
        <p:nvSpPr>
          <p:cNvPr id="34" name="OR point"/>
          <p:cNvSpPr/>
          <p:nvPr/>
        </p:nvSpPr>
        <p:spPr>
          <a:xfrm>
            <a:off x="10259984" y="2825496"/>
            <a:ext cx="201168" cy="20116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5" name="OR label"/>
          <p:cNvSpPr txBox="1"/>
          <p:nvPr/>
        </p:nvSpPr>
        <p:spPr>
          <a:xfrm>
            <a:off x="9446168" y="2395728"/>
            <a:ext cx="1828800" cy="365760"/>
          </a:xfrm>
          <a:prstGeom prst="rect">
            <a:avLst/>
          </a:prstGeom>
          <a:noFill/>
        </p:spPr>
        <p:txBody>
          <a:bodyPr wrap="square" lIns="0" rIns="0" tIns="0" bIns="0" anchor="t">
            <a:spAutoFit/>
          </a:bodyPr>
          <a:lstStyle/>
          <a:p>
            <a:pPr algn="ctr"/>
            <a:r>
              <a:rPr sz="1300" b="1" i="0">
                <a:solidFill>
                  <a:srgbClr val="D1495B"/>
                </a:solidFill>
                <a:latin typeface="Calibri"/>
              </a:rPr>
              <a:t>OR 2.148  [2.072, 2.227]</a:t>
            </a:r>
          </a:p>
        </p:txBody>
      </p:sp>
      <p:sp>
        <p:nvSpPr>
          <p:cNvPr id="36" name="stat strata"/>
          <p:cNvSpPr/>
          <p:nvPr/>
        </p:nvSpPr>
        <p:spPr>
          <a:xfrm>
            <a:off x="6080760" y="4023360"/>
            <a:ext cx="2697480" cy="777240"/>
          </a:xfrm>
          <a:prstGeom prst="roundRect">
            <a:avLst>
              <a:gd name="adj" fmla="val 11764"/>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386FA4"/>
                </a:solidFill>
                <a:latin typeface="Calibri"/>
              </a:rPr>
              <a:t>3,114 proteins</a:t>
            </a:r>
          </a:p>
          <a:p>
            <a:pPr algn="l"/>
            <a:r>
              <a:rPr sz="1100" b="0" i="0">
                <a:solidFill>
                  <a:srgbClr val="15323F"/>
                </a:solidFill>
                <a:latin typeface="Calibri"/>
              </a:rPr>
              <a:t>strata (Mantel–Haenszel)</a:t>
            </a:r>
          </a:p>
        </p:txBody>
      </p:sp>
      <p:sp>
        <p:nvSpPr>
          <p:cNvPr id="37" name="stat VUS"/>
          <p:cNvSpPr/>
          <p:nvPr/>
        </p:nvSpPr>
        <p:spPr>
          <a:xfrm>
            <a:off x="8942832" y="4023360"/>
            <a:ext cx="2697480" cy="777240"/>
          </a:xfrm>
          <a:prstGeom prst="roundRect">
            <a:avLst>
              <a:gd name="adj" fmla="val 11764"/>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386FA4"/>
                </a:solidFill>
                <a:latin typeface="Calibri"/>
              </a:rPr>
              <a:t>530,412 VUS</a:t>
            </a:r>
          </a:p>
          <a:p>
            <a:pPr algn="l"/>
            <a:r>
              <a:rPr sz="1100" b="0" i="0">
                <a:solidFill>
                  <a:srgbClr val="15323F"/>
                </a:solidFill>
                <a:latin typeface="Calibri"/>
              </a:rPr>
              <a:t>inside these regions, no tool assigns a mechanism</a:t>
            </a:r>
          </a:p>
        </p:txBody>
      </p:sp>
      <p:sp>
        <p:nvSpPr>
          <p:cNvPr id="38" name="region chip"/>
          <p:cNvSpPr/>
          <p:nvPr/>
        </p:nvSpPr>
        <p:spPr>
          <a:xfrm>
            <a:off x="6080760" y="4937760"/>
            <a:ext cx="5559552" cy="310896"/>
          </a:xfrm>
          <a:prstGeom prst="roundRect">
            <a:avLst>
              <a:gd name="adj" fmla="val 50000"/>
            </a:avLst>
          </a:prstGeom>
          <a:solidFill>
            <a:srgbClr val="FBF1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5210"/>
                </a:solidFill>
                <a:latin typeface="Calibri"/>
              </a:rPr>
              <a:t>region level only: residue level not established</a:t>
            </a:r>
          </a:p>
        </p:txBody>
      </p:sp>
      <p:sp>
        <p:nvSpPr>
          <p:cNvPr id="39" name="drug design"/>
          <p:cNvSpPr txBox="1"/>
          <p:nvPr/>
        </p:nvSpPr>
        <p:spPr>
          <a:xfrm>
            <a:off x="548640" y="5349240"/>
            <a:ext cx="11094415" cy="457200"/>
          </a:xfrm>
          <a:prstGeom prst="rect">
            <a:avLst/>
          </a:prstGeom>
          <a:noFill/>
        </p:spPr>
        <p:txBody>
          <a:bodyPr wrap="square" lIns="0" rIns="0" tIns="0" bIns="0" anchor="t">
            <a:spAutoFit/>
          </a:bodyPr>
          <a:lstStyle/>
          <a:p>
            <a:pPr algn="l"/>
            <a:r>
              <a:rPr sz="1200" b="0" i="0">
                <a:solidFill>
                  <a:srgbClr val="15323F"/>
                </a:solidFill>
                <a:latin typeface="Calibri"/>
              </a:rPr>
              <a:t>Degrons are also a drug-design target: targeted protein degradation works by recruiting the degradation machinery to a protein of interest. Knowing which residues control degron strength is upstream of that design problem.</a:t>
            </a:r>
          </a:p>
        </p:txBody>
      </p:sp>
      <p:sp>
        <p:nvSpPr>
          <p:cNvPr id="40" name="evidence label"/>
          <p:cNvSpPr txBox="1"/>
          <p:nvPr/>
        </p:nvSpPr>
        <p:spPr>
          <a:xfrm>
            <a:off x="548640" y="5897880"/>
            <a:ext cx="11094415" cy="310896"/>
          </a:xfrm>
          <a:prstGeom prst="rect">
            <a:avLst/>
          </a:prstGeom>
          <a:noFill/>
        </p:spPr>
        <p:txBody>
          <a:bodyPr wrap="square" lIns="0" rIns="0" tIns="0" bIns="0" anchor="t">
            <a:spAutoFit/>
          </a:bodyPr>
          <a:lstStyle/>
          <a:p>
            <a:pPr algn="l"/>
            <a:r>
              <a:rPr sz="1000" b="0" i="0">
                <a:solidFill>
                  <a:srgbClr val="5B7380"/>
                </a:solidFill>
                <a:latin typeface="Calibri"/>
              </a:rPr>
              <a:t>Own measurement, ClinVar variant_summary of 12 Oct 2026 (Landrum et al., NAR 2018, PMID 29165669). ClinVar classifications are not for diagnostic use; this thesis does not predict disease or claim therapeutic effect.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500"/>
                                        <p:tgtEl>
                                          <p:spTgt spid="15"/>
                                        </p:tgtEl>
                                      </p:cBhvr>
                                    </p:animEffect>
                                  </p:childTnLst>
                                </p:cTn>
                              </p:par>
                              <p:par>
                                <p:cTn id="6" presetID="10" presetClass="entr" presetSubtype="0" fill="hold" nodeType="withEffect">
                                  <p:stCondLst>
                                    <p:cond delay="0"/>
                                  </p:stCondLst>
                                  <p:childTnLst>
                                    <p:set>
                                      <p:cBhvr>
                                        <p:cTn id="7" dur="1" fill="hold">
                                          <p:stCondLst>
                                            <p:cond delay="0"/>
                                          </p:stCondLst>
                                        </p:cTn>
                                        <p:tgtEl>
                                          <p:spTgt spid="16"/>
                                        </p:tgtEl>
                                        <p:attrNameLst>
                                          <p:attrName>style.visibility</p:attrName>
                                        </p:attrNameLst>
                                      </p:cBhvr>
                                      <p:to>
                                        <p:strVal val="visible"/>
                                      </p:to>
                                    </p:set>
                                    <p:animEffect transition="in" filter="fade">
                                      <p:cBhvr>
                                        <p:cTn id="8"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par>
                                <p:cTn id="25" presetID="10"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GPS profiling turns degradation into a number: low PSI means a strong degron</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7</a:t>
            </a:r>
          </a:p>
        </p:txBody>
      </p:sp>
      <p:sp>
        <p:nvSpPr>
          <p:cNvPr id="15" name="intro"/>
          <p:cNvSpPr txBox="1"/>
          <p:nvPr/>
        </p:nvSpPr>
        <p:spPr>
          <a:xfrm>
            <a:off x="548640" y="1051560"/>
            <a:ext cx="5394960" cy="274320"/>
          </a:xfrm>
          <a:prstGeom prst="rect">
            <a:avLst/>
          </a:prstGeom>
          <a:noFill/>
        </p:spPr>
        <p:txBody>
          <a:bodyPr wrap="square" lIns="0" rIns="0" tIns="0" bIns="0" anchor="t">
            <a:spAutoFit/>
          </a:bodyPr>
          <a:lstStyle/>
          <a:p>
            <a:pPr algn="l"/>
            <a:r>
              <a:rPr sz="1300" b="1" i="0">
                <a:solidFill>
                  <a:srgbClr val="386FA4"/>
                </a:solidFill>
                <a:latin typeface="Calibri"/>
              </a:rPr>
              <a:t>Global Protein Stability (GPS) profiling, introduced by Koren et al., Cell 2018</a:t>
            </a:r>
          </a:p>
        </p:txBody>
      </p:sp>
      <p:sp>
        <p:nvSpPr>
          <p:cNvPr id="16" name="step 1 panel"/>
          <p:cNvSpPr/>
          <p:nvPr/>
        </p:nvSpPr>
        <p:spPr>
          <a:xfrm>
            <a:off x="548640" y="1463040"/>
            <a:ext cx="5394960" cy="804672"/>
          </a:xfrm>
          <a:prstGeom prst="roundRect">
            <a:avLst>
              <a:gd name="adj" fmla="val 11363"/>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step 1 number"/>
          <p:cNvSpPr/>
          <p:nvPr/>
        </p:nvSpPr>
        <p:spPr>
          <a:xfrm>
            <a:off x="685800" y="1636776"/>
            <a:ext cx="457200" cy="457200"/>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AFBFC"/>
                </a:solidFill>
                <a:latin typeface="Calibri"/>
              </a:rPr>
              <a:t>1</a:t>
            </a:r>
          </a:p>
        </p:txBody>
      </p:sp>
      <p:sp>
        <p:nvSpPr>
          <p:cNvPr id="18" name="step 1"/>
          <p:cNvSpPr txBox="1"/>
          <p:nvPr/>
        </p:nvSpPr>
        <p:spPr>
          <a:xfrm>
            <a:off x="1325880" y="1536192"/>
            <a:ext cx="4480560" cy="676656"/>
          </a:xfrm>
          <a:prstGeom prst="rect">
            <a:avLst/>
          </a:prstGeom>
          <a:noFill/>
        </p:spPr>
        <p:txBody>
          <a:bodyPr wrap="square" lIns="0" rIns="0" tIns="0" bIns="0" anchor="ctr">
            <a:spAutoFit/>
          </a:bodyPr>
          <a:lstStyle/>
          <a:p>
            <a:pPr algn="l"/>
            <a:r>
              <a:rPr sz="1350" b="0" i="0">
                <a:solidFill>
                  <a:srgbClr val="15323F"/>
                </a:solidFill>
                <a:latin typeface="Calibri"/>
              </a:rPr>
              <a:t>Synthesise a library of short peptides, each fused to a fluorescent reporter (GFP)</a:t>
            </a:r>
          </a:p>
        </p:txBody>
      </p:sp>
      <p:sp>
        <p:nvSpPr>
          <p:cNvPr id="19" name="step 2 panel"/>
          <p:cNvSpPr/>
          <p:nvPr/>
        </p:nvSpPr>
        <p:spPr>
          <a:xfrm>
            <a:off x="548640" y="2359152"/>
            <a:ext cx="5394960" cy="804672"/>
          </a:xfrm>
          <a:prstGeom prst="roundRect">
            <a:avLst>
              <a:gd name="adj" fmla="val 11363"/>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step 2 number"/>
          <p:cNvSpPr/>
          <p:nvPr/>
        </p:nvSpPr>
        <p:spPr>
          <a:xfrm>
            <a:off x="685800" y="2532888"/>
            <a:ext cx="457200" cy="457200"/>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AFBFC"/>
                </a:solidFill>
                <a:latin typeface="Calibri"/>
              </a:rPr>
              <a:t>2</a:t>
            </a:r>
          </a:p>
        </p:txBody>
      </p:sp>
      <p:sp>
        <p:nvSpPr>
          <p:cNvPr id="21" name="step 2"/>
          <p:cNvSpPr txBox="1"/>
          <p:nvPr/>
        </p:nvSpPr>
        <p:spPr>
          <a:xfrm>
            <a:off x="1325880" y="2432304"/>
            <a:ext cx="4480560" cy="676656"/>
          </a:xfrm>
          <a:prstGeom prst="rect">
            <a:avLst/>
          </a:prstGeom>
          <a:noFill/>
        </p:spPr>
        <p:txBody>
          <a:bodyPr wrap="square" lIns="0" rIns="0" tIns="0" bIns="0" anchor="ctr">
            <a:spAutoFit/>
          </a:bodyPr>
          <a:lstStyle/>
          <a:p>
            <a:pPr algn="l"/>
            <a:r>
              <a:rPr sz="1350" b="0" i="0">
                <a:solidFill>
                  <a:srgbClr val="15323F"/>
                </a:solidFill>
                <a:latin typeface="Calibri"/>
              </a:rPr>
              <a:t>Express one peptide per cell, next to a second, stable reporter as internal control</a:t>
            </a:r>
          </a:p>
        </p:txBody>
      </p:sp>
      <p:sp>
        <p:nvSpPr>
          <p:cNvPr id="22" name="step 3 panel"/>
          <p:cNvSpPr/>
          <p:nvPr/>
        </p:nvSpPr>
        <p:spPr>
          <a:xfrm>
            <a:off x="548640" y="3255264"/>
            <a:ext cx="5394960" cy="804672"/>
          </a:xfrm>
          <a:prstGeom prst="roundRect">
            <a:avLst>
              <a:gd name="adj" fmla="val 11363"/>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3" name="step 3 number"/>
          <p:cNvSpPr/>
          <p:nvPr/>
        </p:nvSpPr>
        <p:spPr>
          <a:xfrm>
            <a:off x="685800" y="3429000"/>
            <a:ext cx="457200" cy="457200"/>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AFBFC"/>
                </a:solidFill>
                <a:latin typeface="Calibri"/>
              </a:rPr>
              <a:t>3</a:t>
            </a:r>
          </a:p>
        </p:txBody>
      </p:sp>
      <p:sp>
        <p:nvSpPr>
          <p:cNvPr id="24" name="step 3"/>
          <p:cNvSpPr txBox="1"/>
          <p:nvPr/>
        </p:nvSpPr>
        <p:spPr>
          <a:xfrm>
            <a:off x="1325880" y="3328416"/>
            <a:ext cx="4480560" cy="676656"/>
          </a:xfrm>
          <a:prstGeom prst="rect">
            <a:avLst/>
          </a:prstGeom>
          <a:noFill/>
        </p:spPr>
        <p:txBody>
          <a:bodyPr wrap="square" lIns="0" rIns="0" tIns="0" bIns="0" anchor="ctr">
            <a:spAutoFit/>
          </a:bodyPr>
          <a:lstStyle/>
          <a:p>
            <a:pPr algn="l"/>
            <a:r>
              <a:rPr sz="1350" b="0" i="0">
                <a:solidFill>
                  <a:srgbClr val="15323F"/>
                </a:solidFill>
                <a:latin typeface="Calibri"/>
              </a:rPr>
              <a:t>Sort cells by the reporter ratio with FACS into stability bins</a:t>
            </a:r>
          </a:p>
        </p:txBody>
      </p:sp>
      <p:sp>
        <p:nvSpPr>
          <p:cNvPr id="25" name="step 4 panel"/>
          <p:cNvSpPr/>
          <p:nvPr/>
        </p:nvSpPr>
        <p:spPr>
          <a:xfrm>
            <a:off x="548640" y="4151376"/>
            <a:ext cx="5394960" cy="804672"/>
          </a:xfrm>
          <a:prstGeom prst="roundRect">
            <a:avLst>
              <a:gd name="adj" fmla="val 11363"/>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6" name="step 4 number"/>
          <p:cNvSpPr/>
          <p:nvPr/>
        </p:nvSpPr>
        <p:spPr>
          <a:xfrm>
            <a:off x="685800" y="4325112"/>
            <a:ext cx="457200" cy="457200"/>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AFBFC"/>
                </a:solidFill>
                <a:latin typeface="Calibri"/>
              </a:rPr>
              <a:t>4</a:t>
            </a:r>
          </a:p>
        </p:txBody>
      </p:sp>
      <p:sp>
        <p:nvSpPr>
          <p:cNvPr id="27" name="step 4"/>
          <p:cNvSpPr txBox="1"/>
          <p:nvPr/>
        </p:nvSpPr>
        <p:spPr>
          <a:xfrm>
            <a:off x="1325880" y="4224528"/>
            <a:ext cx="4480560" cy="676656"/>
          </a:xfrm>
          <a:prstGeom prst="rect">
            <a:avLst/>
          </a:prstGeom>
          <a:noFill/>
        </p:spPr>
        <p:txBody>
          <a:bodyPr wrap="square" lIns="0" rIns="0" tIns="0" bIns="0" anchor="ctr">
            <a:spAutoFit/>
          </a:bodyPr>
          <a:lstStyle/>
          <a:p>
            <a:pPr algn="l"/>
            <a:r>
              <a:rPr sz="1350" b="0" i="0">
                <a:solidFill>
                  <a:srgbClr val="15323F"/>
                </a:solidFill>
                <a:latin typeface="Calibri"/>
              </a:rPr>
              <a:t>Sequence each bin; a peptide's bin distribution gives its stability score</a:t>
            </a:r>
          </a:p>
        </p:txBody>
      </p:sp>
      <p:sp>
        <p:nvSpPr>
          <p:cNvPr id="28" name="gif black card"/>
          <p:cNvSpPr/>
          <p:nvPr/>
        </p:nvSpPr>
        <p:spPr>
          <a:xfrm>
            <a:off x="6172200" y="1463040"/>
            <a:ext cx="2103120" cy="26837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pic>
        <p:nvPicPr>
          <p:cNvPr id="29" name="Picture 28" descr="Rotating structure of green fluorescent protein (GFP), chromophore in yellow"/>
          <p:cNvPicPr>
            <a:picLocks noChangeAspect="1"/>
          </p:cNvPicPr>
          <p:nvPr/>
        </p:nvPicPr>
        <p:blipFill>
          <a:blip r:embed="rId3"/>
          <a:stretch>
            <a:fillRect/>
          </a:stretch>
        </p:blipFill>
        <p:spPr>
          <a:xfrm>
            <a:off x="6172200" y="1463040"/>
            <a:ext cx="2103120" cy="2683764"/>
          </a:xfrm>
          <a:prstGeom prst="rect">
            <a:avLst/>
          </a:prstGeom>
        </p:spPr>
      </p:pic>
      <p:sp>
        <p:nvSpPr>
          <p:cNvPr id="30" name="gif caption"/>
          <p:cNvSpPr txBox="1"/>
          <p:nvPr/>
        </p:nvSpPr>
        <p:spPr>
          <a:xfrm>
            <a:off x="6172200" y="4224528"/>
            <a:ext cx="2103120" cy="822960"/>
          </a:xfrm>
          <a:prstGeom prst="rect">
            <a:avLst/>
          </a:prstGeom>
          <a:noFill/>
        </p:spPr>
        <p:txBody>
          <a:bodyPr wrap="square" lIns="0" rIns="0" tIns="0" bIns="0" anchor="t">
            <a:spAutoFit/>
          </a:bodyPr>
          <a:lstStyle/>
          <a:p>
            <a:pPr algn="l"/>
            <a:r>
              <a:rPr sz="1000" b="0" i="0">
                <a:solidFill>
                  <a:srgbClr val="5B7380"/>
                </a:solidFill>
                <a:latin typeface="Calibri"/>
              </a:rPr>
              <a:t>GFP, the reporter (PDB 1EMA). Erik A. Rodriguez, CC BY-SA 4.0, Wikimedia Commons; reduced size and frame rate.</a:t>
            </a:r>
          </a:p>
        </p:txBody>
      </p:sp>
      <p:sp>
        <p:nvSpPr>
          <p:cNvPr id="31" name="psi panel"/>
          <p:cNvSpPr/>
          <p:nvPr/>
        </p:nvSpPr>
        <p:spPr>
          <a:xfrm>
            <a:off x="8503920" y="1463040"/>
            <a:ext cx="3136392" cy="2011680"/>
          </a:xfrm>
          <a:prstGeom prst="roundRect">
            <a:avLst>
              <a:gd name="adj" fmla="val 4545"/>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2" name="psi head"/>
          <p:cNvSpPr txBox="1"/>
          <p:nvPr/>
        </p:nvSpPr>
        <p:spPr>
          <a:xfrm>
            <a:off x="8641080" y="1536192"/>
            <a:ext cx="2880360" cy="274320"/>
          </a:xfrm>
          <a:prstGeom prst="rect">
            <a:avLst/>
          </a:prstGeom>
          <a:noFill/>
        </p:spPr>
        <p:txBody>
          <a:bodyPr wrap="square" lIns="0" rIns="0" tIns="0" bIns="0" anchor="t">
            <a:spAutoFit/>
          </a:bodyPr>
          <a:lstStyle/>
          <a:p>
            <a:pPr algn="l"/>
            <a:r>
              <a:rPr sz="1300" b="1" i="0">
                <a:solidFill>
                  <a:srgbClr val="15323F"/>
                </a:solidFill>
                <a:latin typeface="Calibri"/>
              </a:rPr>
              <a:t>Protein Stability Index (PSI)</a:t>
            </a:r>
          </a:p>
        </p:txBody>
      </p:sp>
      <p:pic>
        <p:nvPicPr>
          <p:cNvPr id="33" name="Picture 32" descr="Gradient from coral (PSI 1) to teal (PSI 6)"/>
          <p:cNvPicPr>
            <a:picLocks noChangeAspect="1"/>
          </p:cNvPicPr>
          <p:nvPr/>
        </p:nvPicPr>
        <p:blipFill>
          <a:blip r:embed="rId4"/>
          <a:stretch>
            <a:fillRect/>
          </a:stretch>
        </p:blipFill>
        <p:spPr>
          <a:xfrm>
            <a:off x="8641080" y="1938528"/>
            <a:ext cx="2862072" cy="274320"/>
          </a:xfrm>
          <a:prstGeom prst="rect">
            <a:avLst/>
          </a:prstGeom>
        </p:spPr>
      </p:pic>
      <p:sp>
        <p:nvSpPr>
          <p:cNvPr id="34" name="psi 1"/>
          <p:cNvSpPr txBox="1"/>
          <p:nvPr/>
        </p:nvSpPr>
        <p:spPr>
          <a:xfrm>
            <a:off x="8641080" y="1938528"/>
            <a:ext cx="2862072" cy="274320"/>
          </a:xfrm>
          <a:prstGeom prst="rect">
            <a:avLst/>
          </a:prstGeom>
          <a:noFill/>
        </p:spPr>
        <p:txBody>
          <a:bodyPr wrap="square" lIns="54864" rIns="54864" tIns="32918" bIns="32918" anchor="t">
            <a:spAutoFit/>
          </a:bodyPr>
          <a:lstStyle/>
          <a:p>
            <a:pPr algn="l"/>
            <a:r>
              <a:rPr sz="1200" b="1" i="0">
                <a:solidFill>
                  <a:srgbClr val="FAFBFC"/>
                </a:solidFill>
                <a:latin typeface="Calibri"/>
              </a:rPr>
              <a:t>1</a:t>
            </a:r>
          </a:p>
        </p:txBody>
      </p:sp>
      <p:sp>
        <p:nvSpPr>
          <p:cNvPr id="35" name="psi 6"/>
          <p:cNvSpPr txBox="1"/>
          <p:nvPr/>
        </p:nvSpPr>
        <p:spPr>
          <a:xfrm>
            <a:off x="8641080" y="1938528"/>
            <a:ext cx="2862072" cy="274320"/>
          </a:xfrm>
          <a:prstGeom prst="rect">
            <a:avLst/>
          </a:prstGeom>
          <a:noFill/>
        </p:spPr>
        <p:txBody>
          <a:bodyPr wrap="square" lIns="54864" rIns="54864" tIns="32918" bIns="32918" anchor="t">
            <a:spAutoFit/>
          </a:bodyPr>
          <a:lstStyle/>
          <a:p>
            <a:pPr algn="r"/>
            <a:r>
              <a:rPr sz="1200" b="1" i="0">
                <a:solidFill>
                  <a:srgbClr val="FAFBFC"/>
                </a:solidFill>
                <a:latin typeface="Calibri"/>
              </a:rPr>
              <a:t>6</a:t>
            </a:r>
          </a:p>
        </p:txBody>
      </p:sp>
      <p:sp>
        <p:nvSpPr>
          <p:cNvPr id="36" name="low"/>
          <p:cNvSpPr txBox="1"/>
          <p:nvPr/>
        </p:nvSpPr>
        <p:spPr>
          <a:xfrm>
            <a:off x="8641080" y="2286000"/>
            <a:ext cx="1371600" cy="640080"/>
          </a:xfrm>
          <a:prstGeom prst="rect">
            <a:avLst/>
          </a:prstGeom>
          <a:noFill/>
        </p:spPr>
        <p:txBody>
          <a:bodyPr wrap="square" lIns="0" rIns="0" tIns="0" bIns="0" anchor="t">
            <a:spAutoFit/>
          </a:bodyPr>
          <a:lstStyle/>
          <a:p>
            <a:pPr algn="l"/>
            <a:r>
              <a:rPr sz="1200" b="1" i="0">
                <a:solidFill>
                  <a:srgbClr val="D1495B"/>
                </a:solidFill>
                <a:latin typeface="Calibri"/>
              </a:rPr>
              <a:t>low PSI</a:t>
            </a:r>
          </a:p>
          <a:p>
            <a:pPr algn="l"/>
            <a:r>
              <a:rPr sz="1100" b="0" i="0">
                <a:solidFill>
                  <a:srgbClr val="15323F"/>
                </a:solidFill>
                <a:latin typeface="Calibri"/>
              </a:rPr>
              <a:t>degraded fast = strong degron</a:t>
            </a:r>
          </a:p>
        </p:txBody>
      </p:sp>
      <p:sp>
        <p:nvSpPr>
          <p:cNvPr id="37" name="high"/>
          <p:cNvSpPr txBox="1"/>
          <p:nvPr/>
        </p:nvSpPr>
        <p:spPr>
          <a:xfrm>
            <a:off x="10149840" y="2286000"/>
            <a:ext cx="1371600" cy="640080"/>
          </a:xfrm>
          <a:prstGeom prst="rect">
            <a:avLst/>
          </a:prstGeom>
          <a:noFill/>
        </p:spPr>
        <p:txBody>
          <a:bodyPr wrap="square" lIns="0" rIns="0" tIns="0" bIns="0" anchor="t">
            <a:spAutoFit/>
          </a:bodyPr>
          <a:lstStyle/>
          <a:p>
            <a:pPr algn="r"/>
            <a:r>
              <a:rPr sz="1200" b="1" i="0">
                <a:solidFill>
                  <a:srgbClr val="1F7A6F"/>
                </a:solidFill>
                <a:latin typeface="Calibri"/>
              </a:rPr>
              <a:t>high PSI</a:t>
            </a:r>
          </a:p>
          <a:p>
            <a:pPr algn="r"/>
            <a:r>
              <a:rPr sz="1100" b="0" i="0">
                <a:solidFill>
                  <a:srgbClr val="15323F"/>
                </a:solidFill>
                <a:latin typeface="Calibri"/>
              </a:rPr>
              <a:t>stable = not a degron</a:t>
            </a:r>
          </a:p>
        </p:txBody>
      </p:sp>
      <p:sp>
        <p:nvSpPr>
          <p:cNvPr id="38" name="scale note"/>
          <p:cNvSpPr txBox="1"/>
          <p:nvPr/>
        </p:nvSpPr>
        <p:spPr>
          <a:xfrm>
            <a:off x="8641080" y="3017520"/>
            <a:ext cx="2880360" cy="365760"/>
          </a:xfrm>
          <a:prstGeom prst="rect">
            <a:avLst/>
          </a:prstGeom>
          <a:noFill/>
        </p:spPr>
        <p:txBody>
          <a:bodyPr wrap="square" lIns="0" rIns="0" tIns="0" bIns="0" anchor="t">
            <a:spAutoFit/>
          </a:bodyPr>
          <a:lstStyle/>
          <a:p>
            <a:pPr algn="l"/>
            <a:r>
              <a:rPr sz="1050" b="0" i="0">
                <a:solidFill>
                  <a:srgbClr val="5B7380"/>
                </a:solidFill>
                <a:latin typeface="Calibri"/>
              </a:rPr>
              <a:t>Scale 1…6 (6 bins) in the dataset used here</a:t>
            </a:r>
          </a:p>
        </p:txBody>
      </p:sp>
      <p:sp>
        <p:nvSpPr>
          <p:cNvPr id="39" name="card: Mutation effect"/>
          <p:cNvSpPr/>
          <p:nvPr/>
        </p:nvSpPr>
        <p:spPr>
          <a:xfrm>
            <a:off x="8503920" y="3611880"/>
            <a:ext cx="3136392" cy="1554480"/>
          </a:xfrm>
          <a:prstGeom prst="roundRect">
            <a:avLst>
              <a:gd name="adj" fmla="val 5882"/>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0" name="card text: Mutation effect"/>
          <p:cNvSpPr txBox="1"/>
          <p:nvPr/>
        </p:nvSpPr>
        <p:spPr>
          <a:xfrm>
            <a:off x="8641080" y="3703320"/>
            <a:ext cx="2862072" cy="1417320"/>
          </a:xfrm>
          <a:prstGeom prst="rect">
            <a:avLst/>
          </a:prstGeom>
          <a:noFill/>
        </p:spPr>
        <p:txBody>
          <a:bodyPr wrap="square" lIns="0" rIns="0" tIns="0" bIns="0" anchor="t">
            <a:spAutoFit/>
          </a:bodyPr>
          <a:lstStyle/>
          <a:p>
            <a:pPr algn="l"/>
            <a:r>
              <a:rPr sz="1400" b="1" i="0">
                <a:solidFill>
                  <a:srgbClr val="D1495B"/>
                </a:solidFill>
                <a:latin typeface="Calibri"/>
              </a:rPr>
              <a:t>Mutation effect</a:t>
            </a:r>
          </a:p>
          <a:p>
            <a:pPr algn="l">
              <a:spcBef>
                <a:spcPts val="200"/>
              </a:spcBef>
            </a:pPr>
            <a:r>
              <a:rPr sz="1300" b="1" i="0">
                <a:solidFill>
                  <a:srgbClr val="15323F"/>
                </a:solidFill>
                <a:latin typeface="Calibri"/>
              </a:rPr>
              <a:t>ΔPSI = PSI(mutant) − PSI(wild type)</a:t>
            </a:r>
          </a:p>
          <a:p>
            <a:pPr algn="l">
              <a:spcBef>
                <a:spcPts val="300"/>
              </a:spcBef>
            </a:pPr>
            <a:r>
              <a:rPr sz="1200" b="0" i="0">
                <a:solidFill>
                  <a:srgbClr val="15323F"/>
                </a:solidFill>
                <a:latin typeface="Calibri"/>
              </a:rPr>
              <a:t>ΔPSI &gt; 0: the mutation stabilised the peptide, so the substituted residue was part of a working degron.</a:t>
            </a:r>
          </a:p>
        </p:txBody>
      </p:sp>
      <p:sp>
        <p:nvSpPr>
          <p:cNvPr id="41" name="evidence label"/>
          <p:cNvSpPr txBox="1"/>
          <p:nvPr/>
        </p:nvSpPr>
        <p:spPr>
          <a:xfrm>
            <a:off x="548640" y="5486400"/>
            <a:ext cx="11094415" cy="310896"/>
          </a:xfrm>
          <a:prstGeom prst="rect">
            <a:avLst/>
          </a:prstGeom>
          <a:noFill/>
        </p:spPr>
        <p:txBody>
          <a:bodyPr wrap="square" lIns="0" rIns="0" tIns="0" bIns="0" anchor="t">
            <a:spAutoFit/>
          </a:bodyPr>
          <a:lstStyle/>
          <a:p>
            <a:pPr algn="l"/>
            <a:r>
              <a:rPr sz="1000" b="0" i="0">
                <a:solidFill>
                  <a:srgbClr val="5B7380"/>
                </a:solidFill>
                <a:latin typeface="Calibri"/>
              </a:rPr>
              <a:t>Koren I, Timms RT, Kula T, Xu Q, Li MZ, Elledge SJ. Cell 173(7):1622–1635.e14, 2018. DOI 10.1016/j.cell.2018.04.028</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800" b="1">
                <a:solidFill>
                  <a:srgbClr val="15323F"/>
                </a:solidFill>
                <a:latin typeface="Calibri"/>
              </a:rPr>
              <a:t>Prior work at a glance</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8</a:t>
            </a:r>
          </a:p>
        </p:txBody>
      </p:sp>
      <p:graphicFrame>
        <p:nvGraphicFramePr>
          <p:cNvPr id="15" name="prior work table"/>
          <p:cNvGraphicFramePr>
            <a:graphicFrameLocks noGrp="1"/>
          </p:cNvGraphicFramePr>
          <p:nvPr/>
        </p:nvGraphicFramePr>
        <p:xfrm>
          <a:off x="548640" y="1097280"/>
          <a:ext cx="11091672" cy="3895338"/>
        </p:xfrm>
        <a:graphic>
          <a:graphicData uri="http://schemas.openxmlformats.org/drawingml/2006/table">
            <a:tbl>
              <a:tblPr firstRow="0" bandRow="0">
                <a:tableStyleId>{2D5ABB26-0587-4C30-8999-92F81FD0307C}</a:tableStyleId>
              </a:tblPr>
              <a:tblGrid>
                <a:gridCol w="1965960"/>
                <a:gridCol w="1691640"/>
                <a:gridCol w="1783080"/>
                <a:gridCol w="1920240"/>
                <a:gridCol w="2011680"/>
                <a:gridCol w="1719072"/>
              </a:tblGrid>
              <a:tr h="310896">
                <a:tc>
                  <a:txBody>
                    <a:bodyPr wrap="square"/>
                    <a:lstStyle/>
                    <a:p>
                      <a:pPr algn="l"/>
                      <a:r>
                        <a:rPr sz="1150" b="1" i="0">
                          <a:solidFill>
                            <a:srgbClr val="FAFBFC"/>
                          </a:solidFill>
                          <a:latin typeface="Calibri"/>
                        </a:rPr>
                        <a:t>Work</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Year · venue</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Method group</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Prediction unit</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Labels</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Output</a:t>
                      </a:r>
                    </a:p>
                  </a:txBody>
                  <a:tcPr marL="54864" marR="54864" marT="27432" marB="27432" anchor="ctr">
                    <a:lnL w="0">
                      <a:noFill/>
                    </a:lnL>
                    <a:lnR w="0">
                      <a:noFill/>
                    </a:lnR>
                    <a:lnT w="0">
                      <a:noFill/>
                    </a:lnT>
                    <a:lnB w="6350">
                      <a:solidFill>
                        <a:srgbClr val="DDE4E8"/>
                      </a:solidFill>
                    </a:lnB>
                    <a:solidFill>
                      <a:srgbClr val="15323F"/>
                    </a:solidFill>
                  </a:tcPr>
                </a:tc>
              </a:tr>
              <a:tr h="310896">
                <a:tc>
                  <a:txBody>
                    <a:bodyPr wrap="square"/>
                    <a:lstStyle/>
                    <a:p>
                      <a:pPr algn="l"/>
                      <a:r>
                        <a:rPr sz="1150" b="1" i="0">
                          <a:solidFill>
                            <a:srgbClr val="15323F"/>
                          </a:solidFill>
                          <a:latin typeface="Calibri"/>
                        </a:rPr>
                        <a:t>Koren et al.</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2018 · Cell</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experimental screen</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peptide (C-terminal)</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GPS, measured</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degron catalogue</a:t>
                      </a:r>
                    </a:p>
                  </a:txBody>
                  <a:tcPr marL="54864" marR="54864" marT="27432" marB="27432" anchor="ctr">
                    <a:lnL w="0">
                      <a:noFill/>
                    </a:lnL>
                    <a:lnR w="0">
                      <a:noFill/>
                    </a:lnR>
                    <a:lnT w="0">
                      <a:noFill/>
                    </a:lnT>
                    <a:lnB w="6350">
                      <a:solidFill>
                        <a:srgbClr val="DDE4E8"/>
                      </a:solidFill>
                    </a:lnB>
                    <a:solidFill>
                      <a:srgbClr val="DCE7F2"/>
                    </a:solidFill>
                  </a:tcPr>
                </a:tc>
              </a:tr>
              <a:tr h="441959">
                <a:tc>
                  <a:txBody>
                    <a:bodyPr wrap="square"/>
                    <a:lstStyle/>
                    <a:p>
                      <a:pPr algn="l"/>
                      <a:r>
                        <a:rPr sz="1150" b="1" i="0">
                          <a:solidFill>
                            <a:srgbClr val="15323F"/>
                          </a:solidFill>
                          <a:latin typeface="Calibri"/>
                        </a:rPr>
                        <a:t>Degpred (Hou et al.)</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2022 · BMC Biol</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BERT sequence model</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degron location in protein</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curated motifs + E3 interactions</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proteome-wide degron map</a:t>
                      </a:r>
                    </a:p>
                  </a:txBody>
                  <a:tcPr marL="54864" marR="54864" marT="27432" marB="27432" anchor="ctr">
                    <a:lnL w="0">
                      <a:noFill/>
                    </a:lnL>
                    <a:lnR w="0">
                      <a:noFill/>
                    </a:lnR>
                    <a:lnT w="0">
                      <a:noFill/>
                    </a:lnT>
                    <a:lnB w="6350">
                      <a:solidFill>
                        <a:srgbClr val="DDE4E8"/>
                      </a:solidFill>
                    </a:lnB>
                    <a:solidFill>
                      <a:srgbClr val="D9EFEC"/>
                    </a:solidFill>
                  </a:tcPr>
                </a:tc>
              </a:tr>
              <a:tr h="441959">
                <a:tc>
                  <a:txBody>
                    <a:bodyPr wrap="square"/>
                    <a:lstStyle/>
                    <a:p>
                      <a:pPr algn="l"/>
                      <a:r>
                        <a:rPr sz="1150" b="1" i="0">
                          <a:solidFill>
                            <a:srgbClr val="15323F"/>
                          </a:solidFill>
                          <a:latin typeface="Calibri"/>
                        </a:rPr>
                        <a:t>Zhang et al.</a:t>
                      </a:r>
                    </a:p>
                  </a:txBody>
                  <a:tcPr marL="54864" marR="54864" marT="27432" marB="27432" anchor="ctr">
                    <a:lnL w="0">
                      <a:noFill/>
                    </a:lnL>
                    <a:lnR w="0">
                      <a:noFill/>
                    </a:lnR>
                    <a:lnT w="0">
                      <a:noFill/>
                    </a:lnT>
                    <a:lnB w="6350">
                      <a:solidFill>
                        <a:srgbClr val="DDE4E8"/>
                      </a:solidFill>
                    </a:lnB>
                    <a:solidFill>
                      <a:srgbClr val="EEF2F4"/>
                    </a:solidFill>
                  </a:tcPr>
                </a:tc>
                <a:tc>
                  <a:txBody>
                    <a:bodyPr wrap="square"/>
                    <a:lstStyle/>
                    <a:p>
                      <a:pPr algn="l"/>
                      <a:r>
                        <a:rPr sz="1150" b="0" i="0">
                          <a:solidFill>
                            <a:srgbClr val="15323F"/>
                          </a:solidFill>
                          <a:latin typeface="Calibri"/>
                        </a:rPr>
                        <a:t>2023 · Mol Cell</a:t>
                      </a:r>
                    </a:p>
                  </a:txBody>
                  <a:tcPr marL="54864" marR="54864" marT="27432" marB="27432" anchor="ctr">
                    <a:lnL w="0">
                      <a:noFill/>
                    </a:lnL>
                    <a:lnR w="0">
                      <a:noFill/>
                    </a:lnR>
                    <a:lnT w="0">
                      <a:noFill/>
                    </a:lnT>
                    <a:lnB w="6350">
                      <a:solidFill>
                        <a:srgbClr val="DDE4E8"/>
                      </a:solidFill>
                    </a:lnB>
                    <a:solidFill>
                      <a:srgbClr val="EEF2F4"/>
                    </a:solidFill>
                  </a:tcPr>
                </a:tc>
                <a:tc>
                  <a:txBody>
                    <a:bodyPr wrap="square"/>
                    <a:lstStyle/>
                    <a:p>
                      <a:pPr algn="l"/>
                      <a:r>
                        <a:rPr sz="1150" b="0" i="0">
                          <a:solidFill>
                            <a:srgbClr val="15323F"/>
                          </a:solidFill>
                          <a:latin typeface="Calibri"/>
                        </a:rPr>
                        <a:t>screen + ML</a:t>
                      </a:r>
                    </a:p>
                  </a:txBody>
                  <a:tcPr marL="54864" marR="54864" marT="27432" marB="27432" anchor="ctr">
                    <a:lnL w="0">
                      <a:noFill/>
                    </a:lnL>
                    <a:lnR w="0">
                      <a:noFill/>
                    </a:lnR>
                    <a:lnT w="0">
                      <a:noFill/>
                    </a:lnT>
                    <a:lnB w="6350">
                      <a:solidFill>
                        <a:srgbClr val="DDE4E8"/>
                      </a:solidFill>
                    </a:lnB>
                    <a:solidFill>
                      <a:srgbClr val="EEF2F4"/>
                    </a:solidFill>
                  </a:tcPr>
                </a:tc>
                <a:tc>
                  <a:txBody>
                    <a:bodyPr wrap="square"/>
                    <a:lstStyle/>
                    <a:p>
                      <a:pPr algn="l"/>
                      <a:r>
                        <a:rPr sz="1150" b="0" i="0">
                          <a:solidFill>
                            <a:srgbClr val="15323F"/>
                          </a:solidFill>
                          <a:latin typeface="Calibri"/>
                        </a:rPr>
                        <a:t>peptide</a:t>
                      </a:r>
                    </a:p>
                  </a:txBody>
                  <a:tcPr marL="54864" marR="54864" marT="27432" marB="27432" anchor="ctr">
                    <a:lnL w="0">
                      <a:noFill/>
                    </a:lnL>
                    <a:lnR w="0">
                      <a:noFill/>
                    </a:lnR>
                    <a:lnT w="0">
                      <a:noFill/>
                    </a:lnT>
                    <a:lnB w="6350">
                      <a:solidFill>
                        <a:srgbClr val="DDE4E8"/>
                      </a:solidFill>
                    </a:lnB>
                    <a:solidFill>
                      <a:srgbClr val="EEF2F4"/>
                    </a:solidFill>
                  </a:tcPr>
                </a:tc>
                <a:tc>
                  <a:txBody>
                    <a:bodyPr wrap="square"/>
                    <a:lstStyle/>
                    <a:p>
                      <a:pPr algn="l"/>
                      <a:r>
                        <a:rPr sz="1150" b="0" i="0">
                          <a:solidFill>
                            <a:srgbClr val="15323F"/>
                          </a:solidFill>
                          <a:latin typeface="Calibri"/>
                        </a:rPr>
                        <a:t>GPS + mutagenesis, measured</a:t>
                      </a:r>
                    </a:p>
                  </a:txBody>
                  <a:tcPr marL="54864" marR="54864" marT="27432" marB="27432" anchor="ctr">
                    <a:lnL w="0">
                      <a:noFill/>
                    </a:lnL>
                    <a:lnR w="0">
                      <a:noFill/>
                    </a:lnR>
                    <a:lnT w="0">
                      <a:noFill/>
                    </a:lnT>
                    <a:lnB w="6350">
                      <a:solidFill>
                        <a:srgbClr val="DDE4E8"/>
                      </a:solidFill>
                    </a:lnB>
                    <a:solidFill>
                      <a:srgbClr val="EEF2F4"/>
                    </a:solidFill>
                  </a:tcPr>
                </a:tc>
                <a:tc>
                  <a:txBody>
                    <a:bodyPr wrap="square"/>
                    <a:lstStyle/>
                    <a:p>
                      <a:pPr algn="l"/>
                      <a:r>
                        <a:rPr sz="1150" b="0" i="0">
                          <a:solidFill>
                            <a:srgbClr val="15323F"/>
                          </a:solidFill>
                          <a:latin typeface="Calibri"/>
                        </a:rPr>
                        <a:t>fingerprints, DegronID; SVM for PSI</a:t>
                      </a:r>
                    </a:p>
                  </a:txBody>
                  <a:tcPr marL="54864" marR="54864" marT="27432" marB="27432" anchor="ctr">
                    <a:lnL w="0">
                      <a:noFill/>
                    </a:lnL>
                    <a:lnR w="0">
                      <a:noFill/>
                    </a:lnR>
                    <a:lnT w="0">
                      <a:noFill/>
                    </a:lnT>
                    <a:lnB w="6350">
                      <a:solidFill>
                        <a:srgbClr val="DDE4E8"/>
                      </a:solidFill>
                    </a:lnB>
                    <a:solidFill>
                      <a:srgbClr val="EEF2F4"/>
                    </a:solidFill>
                  </a:tcPr>
                </a:tc>
              </a:tr>
              <a:tr h="441959">
                <a:tc>
                  <a:txBody>
                    <a:bodyPr wrap="square"/>
                    <a:lstStyle/>
                    <a:p>
                      <a:pPr algn="l"/>
                      <a:r>
                        <a:rPr sz="1150" b="1" i="0">
                          <a:solidFill>
                            <a:srgbClr val="15323F"/>
                          </a:solidFill>
                          <a:latin typeface="Calibri"/>
                        </a:rPr>
                        <a:t>DegronMD (Xu et al.)</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2023 · Mol Biol Evol</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pattern + ML knowledgebase</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degron location; mutation impact</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curated + evolutionary / structural features</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degrome map, 89,318 mutations</a:t>
                      </a:r>
                    </a:p>
                  </a:txBody>
                  <a:tcPr marL="54864" marR="54864" marT="27432" marB="27432" anchor="ctr">
                    <a:lnL w="0">
                      <a:noFill/>
                    </a:lnL>
                    <a:lnR w="0">
                      <a:noFill/>
                    </a:lnR>
                    <a:lnT w="0">
                      <a:noFill/>
                    </a:lnT>
                    <a:lnB w="6350">
                      <a:solidFill>
                        <a:srgbClr val="DDE4E8"/>
                      </a:solidFill>
                    </a:lnB>
                    <a:solidFill>
                      <a:srgbClr val="D9EFEC"/>
                    </a:solidFill>
                  </a:tcPr>
                </a:tc>
              </a:tr>
              <a:tr h="441959">
                <a:tc>
                  <a:txBody>
                    <a:bodyPr wrap="square"/>
                    <a:lstStyle/>
                    <a:p>
                      <a:pPr algn="l"/>
                      <a:r>
                        <a:rPr sz="1150" b="1" i="0">
                          <a:solidFill>
                            <a:srgbClr val="15323F"/>
                          </a:solidFill>
                          <a:latin typeface="Calibri"/>
                        </a:rPr>
                        <a:t>DEGRONOPEDIA (Szulc et al.)</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2024 · NAR</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database + ML web server</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degron motif; terminus stability</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curated motifs, structure</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annotation, proteolysis simulation</a:t>
                      </a:r>
                    </a:p>
                  </a:txBody>
                  <a:tcPr marL="54864" marR="54864" marT="27432" marB="27432" anchor="ctr">
                    <a:lnL w="0">
                      <a:noFill/>
                    </a:lnL>
                    <a:lnR w="0">
                      <a:noFill/>
                    </a:lnR>
                    <a:lnT w="0">
                      <a:noFill/>
                    </a:lnT>
                    <a:lnB w="6350">
                      <a:solidFill>
                        <a:srgbClr val="DDE4E8"/>
                      </a:solidFill>
                    </a:lnB>
                    <a:solidFill>
                      <a:srgbClr val="D9EFEC"/>
                    </a:solidFill>
                  </a:tcPr>
                </a:tc>
              </a:tr>
              <a:tr h="441959">
                <a:tc>
                  <a:txBody>
                    <a:bodyPr wrap="square"/>
                    <a:lstStyle/>
                    <a:p>
                      <a:pPr algn="l"/>
                      <a:r>
                        <a:rPr sz="1150" b="1" i="0">
                          <a:solidFill>
                            <a:srgbClr val="15323F"/>
                          </a:solidFill>
                          <a:latin typeface="Calibri"/>
                        </a:rPr>
                        <a:t>MetaDegron (Zheng et al.)</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2024 · Brief Bioinform</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PLM + multimodal features</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is this peptide an E3 degron</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~300 curated degrons, 21 E3s</a:t>
                      </a:r>
                    </a:p>
                  </a:txBody>
                  <a:tcPr marL="54864" marR="54864" marT="27432" marB="27432" anchor="ctr">
                    <a:lnL w="0">
                      <a:noFill/>
                    </a:lnL>
                    <a:lnR w="0">
                      <a:noFill/>
                    </a:lnR>
                    <a:lnT w="0">
                      <a:noFill/>
                    </a:lnT>
                    <a:lnB w="6350">
                      <a:solidFill>
                        <a:srgbClr val="DDE4E8"/>
                      </a:solidFill>
                    </a:lnB>
                    <a:solidFill>
                      <a:srgbClr val="D9EFEC"/>
                    </a:solidFill>
                  </a:tcPr>
                </a:tc>
                <a:tc>
                  <a:txBody>
                    <a:bodyPr wrap="square"/>
                    <a:lstStyle/>
                    <a:p>
                      <a:pPr algn="l"/>
                      <a:r>
                        <a:rPr sz="1150" b="0" i="0">
                          <a:solidFill>
                            <a:srgbClr val="15323F"/>
                          </a:solidFill>
                          <a:latin typeface="Calibri"/>
                        </a:rPr>
                        <a:t>per-E3 degron classification</a:t>
                      </a:r>
                    </a:p>
                  </a:txBody>
                  <a:tcPr marL="54864" marR="54864" marT="27432" marB="27432" anchor="ctr">
                    <a:lnL w="0">
                      <a:noFill/>
                    </a:lnL>
                    <a:lnR w="0">
                      <a:noFill/>
                    </a:lnR>
                    <a:lnT w="0">
                      <a:noFill/>
                    </a:lnT>
                    <a:lnB w="6350">
                      <a:solidFill>
                        <a:srgbClr val="DDE4E8"/>
                      </a:solidFill>
                    </a:lnB>
                    <a:solidFill>
                      <a:srgbClr val="D9EFEC"/>
                    </a:solidFill>
                  </a:tcPr>
                </a:tc>
              </a:tr>
              <a:tr h="310896">
                <a:tc>
                  <a:txBody>
                    <a:bodyPr wrap="square"/>
                    <a:lstStyle/>
                    <a:p>
                      <a:pPr algn="l"/>
                      <a:r>
                        <a:rPr sz="1150" b="1" i="0">
                          <a:solidFill>
                            <a:srgbClr val="15323F"/>
                          </a:solidFill>
                          <a:latin typeface="Calibri"/>
                        </a:rPr>
                        <a:t>Voutsinos et al. (PAP)</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2026 · Sci Adv</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experimental map + CNN</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30-aa tile</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GPS, measured, &gt;200k tiles</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tile degron score</a:t>
                      </a:r>
                    </a:p>
                  </a:txBody>
                  <a:tcPr marL="54864" marR="54864" marT="27432" marB="27432" anchor="ctr">
                    <a:lnL w="0">
                      <a:noFill/>
                    </a:lnL>
                    <a:lnR w="0">
                      <a:noFill/>
                    </a:lnR>
                    <a:lnT w="0">
                      <a:noFill/>
                    </a:lnT>
                    <a:lnB w="6350">
                      <a:solidFill>
                        <a:srgbClr val="DDE4E8"/>
                      </a:solidFill>
                    </a:lnB>
                    <a:solidFill>
                      <a:srgbClr val="DCE7F2"/>
                    </a:solidFill>
                  </a:tcPr>
                </a:tc>
              </a:tr>
              <a:tr h="310896">
                <a:tc>
                  <a:txBody>
                    <a:bodyPr wrap="square"/>
                    <a:lstStyle/>
                    <a:p>
                      <a:pPr algn="l"/>
                      <a:r>
                        <a:rPr sz="1150" b="1" i="0">
                          <a:solidFill>
                            <a:srgbClr val="15323F"/>
                          </a:solidFill>
                          <a:latin typeface="Calibri"/>
                        </a:rPr>
                        <a:t>Larsen et al.</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2025 · bioRxiv (preprint)</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experimental map</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30-aa tile (TFs)</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sort-seq abundance, measured</a:t>
                      </a:r>
                    </a:p>
                  </a:txBody>
                  <a:tcPr marL="54864" marR="54864" marT="27432" marB="27432" anchor="ctr">
                    <a:lnL w="0">
                      <a:noFill/>
                    </a:lnL>
                    <a:lnR w="0">
                      <a:noFill/>
                    </a:lnR>
                    <a:lnT w="0">
                      <a:noFill/>
                    </a:lnT>
                    <a:lnB w="6350">
                      <a:solidFill>
                        <a:srgbClr val="DDE4E8"/>
                      </a:solidFill>
                    </a:lnB>
                    <a:solidFill>
                      <a:srgbClr val="DCE7F2"/>
                    </a:solidFill>
                  </a:tcPr>
                </a:tc>
                <a:tc>
                  <a:txBody>
                    <a:bodyPr wrap="square"/>
                    <a:lstStyle/>
                    <a:p>
                      <a:pPr algn="l"/>
                      <a:r>
                        <a:rPr sz="1150" b="0" i="0">
                          <a:solidFill>
                            <a:srgbClr val="15323F"/>
                          </a:solidFill>
                          <a:latin typeface="Calibri"/>
                        </a:rPr>
                        <a:t>TF degron map</a:t>
                      </a:r>
                    </a:p>
                  </a:txBody>
                  <a:tcPr marL="54864" marR="54864" marT="27432" marB="27432" anchor="ctr">
                    <a:lnL w="0">
                      <a:noFill/>
                    </a:lnL>
                    <a:lnR w="0">
                      <a:noFill/>
                    </a:lnR>
                    <a:lnT w="0">
                      <a:noFill/>
                    </a:lnT>
                    <a:lnB w="6350">
                      <a:solidFill>
                        <a:srgbClr val="DDE4E8"/>
                      </a:solidFill>
                    </a:lnB>
                    <a:solidFill>
                      <a:srgbClr val="DCE7F2"/>
                    </a:solidFill>
                  </a:tcPr>
                </a:tc>
              </a:tr>
              <a:tr h="441959">
                <a:tc>
                  <a:txBody>
                    <a:bodyPr wrap="square"/>
                    <a:lstStyle/>
                    <a:p>
                      <a:pPr algn="l"/>
                      <a:r>
                        <a:rPr sz="1150" b="1" i="0">
                          <a:solidFill>
                            <a:srgbClr val="15323F"/>
                          </a:solidFill>
                          <a:latin typeface="Calibri"/>
                        </a:rPr>
                        <a:t>Degformer</a:t>
                      </a:r>
                    </a:p>
                  </a:txBody>
                  <a:tcPr marL="54864" marR="54864" marT="27432" marB="27432" anchor="ctr">
                    <a:lnL w="0">
                      <a:noFill/>
                    </a:lnL>
                    <a:lnR w="0">
                      <a:noFill/>
                    </a:lnR>
                    <a:lnT w="0">
                      <a:noFill/>
                    </a:lnT>
                    <a:lnB w="6350">
                      <a:solidFill>
                        <a:srgbClr val="DDE4E8"/>
                      </a:solidFill>
                    </a:lnB>
                    <a:solidFill>
                      <a:srgbClr val="EEF2F4"/>
                    </a:solidFill>
                  </a:tcPr>
                </a:tc>
                <a:tc>
                  <a:txBody>
                    <a:bodyPr wrap="square"/>
                    <a:lstStyle/>
                    <a:p>
                      <a:pPr algn="l"/>
                      <a:r>
                        <a:rPr sz="1150" b="0" i="0">
                          <a:solidFill>
                            <a:srgbClr val="15323F"/>
                          </a:solidFill>
                          <a:latin typeface="Calibri"/>
                        </a:rPr>
                        <a:t>2026 · GitHub, no publication</a:t>
                      </a:r>
                    </a:p>
                  </a:txBody>
                  <a:tcPr marL="54864" marR="54864" marT="27432" marB="27432" anchor="ctr">
                    <a:lnL w="0">
                      <a:noFill/>
                    </a:lnL>
                    <a:lnR w="0">
                      <a:noFill/>
                    </a:lnR>
                    <a:lnT w="0">
                      <a:noFill/>
                    </a:lnT>
                    <a:lnB w="6350">
                      <a:solidFill>
                        <a:srgbClr val="DDE4E8"/>
                      </a:solidFill>
                    </a:lnB>
                    <a:solidFill>
                      <a:srgbClr val="EEF2F4"/>
                    </a:solidFill>
                  </a:tcPr>
                </a:tc>
                <a:tc>
                  <a:txBody>
                    <a:bodyPr wrap="square"/>
                    <a:lstStyle/>
                    <a:p>
                      <a:pPr algn="l"/>
                      <a:r>
                        <a:rPr sz="1150" b="0" i="0">
                          <a:solidFill>
                            <a:srgbClr val="15323F"/>
                          </a:solidFill>
                          <a:latin typeface="Calibri"/>
                        </a:rPr>
                        <a:t>transformer</a:t>
                      </a:r>
                    </a:p>
                  </a:txBody>
                  <a:tcPr marL="54864" marR="54864" marT="27432" marB="27432" anchor="ctr">
                    <a:lnL w="0">
                      <a:noFill/>
                    </a:lnL>
                    <a:lnR w="0">
                      <a:noFill/>
                    </a:lnR>
                    <a:lnT w="0">
                      <a:noFill/>
                    </a:lnT>
                    <a:lnB w="6350">
                      <a:solidFill>
                        <a:srgbClr val="DDE4E8"/>
                      </a:solidFill>
                    </a:lnB>
                    <a:solidFill>
                      <a:srgbClr val="EEF2F4"/>
                    </a:solidFill>
                  </a:tcPr>
                </a:tc>
                <a:tc>
                  <a:txBody>
                    <a:bodyPr wrap="square"/>
                    <a:lstStyle/>
                    <a:p>
                      <a:pPr algn="l"/>
                      <a:r>
                        <a:rPr sz="1150" b="0" i="0">
                          <a:solidFill>
                            <a:srgbClr val="15323F"/>
                          </a:solidFill>
                          <a:latin typeface="Calibri"/>
                        </a:rPr>
                        <a:t>peptide (28-mer)</a:t>
                      </a:r>
                    </a:p>
                  </a:txBody>
                  <a:tcPr marL="54864" marR="54864" marT="27432" marB="27432" anchor="ctr">
                    <a:lnL w="0">
                      <a:noFill/>
                    </a:lnL>
                    <a:lnR w="0">
                      <a:noFill/>
                    </a:lnR>
                    <a:lnT w="0">
                      <a:noFill/>
                    </a:lnT>
                    <a:lnB w="6350">
                      <a:solidFill>
                        <a:srgbClr val="DDE4E8"/>
                      </a:solidFill>
                    </a:lnB>
                    <a:solidFill>
                      <a:srgbClr val="EEF2F4"/>
                    </a:solidFill>
                  </a:tcPr>
                </a:tc>
                <a:tc>
                  <a:txBody>
                    <a:bodyPr wrap="square"/>
                    <a:lstStyle/>
                    <a:p>
                      <a:pPr algn="l"/>
                      <a:r>
                        <a:rPr sz="1150" b="0" i="0">
                          <a:solidFill>
                            <a:srgbClr val="15323F"/>
                          </a:solidFill>
                          <a:latin typeface="Calibri"/>
                        </a:rPr>
                        <a:t>Zhang 2023 tables</a:t>
                      </a:r>
                    </a:p>
                  </a:txBody>
                  <a:tcPr marL="54864" marR="54864" marT="27432" marB="27432" anchor="ctr">
                    <a:lnL w="0">
                      <a:noFill/>
                    </a:lnL>
                    <a:lnR w="0">
                      <a:noFill/>
                    </a:lnR>
                    <a:lnT w="0">
                      <a:noFill/>
                    </a:lnT>
                    <a:lnB w="6350">
                      <a:solidFill>
                        <a:srgbClr val="DDE4E8"/>
                      </a:solidFill>
                    </a:lnB>
                    <a:solidFill>
                      <a:srgbClr val="EEF2F4"/>
                    </a:solidFill>
                  </a:tcPr>
                </a:tc>
                <a:tc>
                  <a:txBody>
                    <a:bodyPr wrap="square"/>
                    <a:lstStyle/>
                    <a:p>
                      <a:pPr algn="l"/>
                      <a:r>
                        <a:rPr sz="1150" b="0" i="0">
                          <a:solidFill>
                            <a:srgbClr val="15323F"/>
                          </a:solidFill>
                          <a:latin typeface="Calibri"/>
                        </a:rPr>
                        <a:t>PSI; 28×20 ΔPSI matrix</a:t>
                      </a:r>
                    </a:p>
                  </a:txBody>
                  <a:tcPr marL="54864" marR="54864" marT="27432" marB="27432" anchor="ctr">
                    <a:lnL w="0">
                      <a:noFill/>
                    </a:lnL>
                    <a:lnR w="0">
                      <a:noFill/>
                    </a:lnR>
                    <a:lnT w="0">
                      <a:noFill/>
                    </a:lnT>
                    <a:lnB w="6350">
                      <a:solidFill>
                        <a:srgbClr val="DDE4E8"/>
                      </a:solidFill>
                    </a:lnB>
                    <a:solidFill>
                      <a:srgbClr val="EEF2F4"/>
                    </a:solidFill>
                  </a:tcPr>
                </a:tc>
              </a:tr>
            </a:tbl>
          </a:graphicData>
        </a:graphic>
      </p:graphicFrame>
      <p:graphicFrame>
        <p:nvGraphicFramePr>
          <p:cNvPr id="16" name="this thesis row"/>
          <p:cNvGraphicFramePr>
            <a:graphicFrameLocks noGrp="1"/>
          </p:cNvGraphicFramePr>
          <p:nvPr/>
        </p:nvGraphicFramePr>
        <p:xfrm>
          <a:off x="548640" y="5065776"/>
          <a:ext cx="11091672" cy="441959"/>
        </p:xfrm>
        <a:graphic>
          <a:graphicData uri="http://schemas.openxmlformats.org/drawingml/2006/table">
            <a:tbl>
              <a:tblPr firstRow="0" bandRow="0">
                <a:tableStyleId>{2D5ABB26-0587-4C30-8999-92F81FD0307C}</a:tableStyleId>
              </a:tblPr>
              <a:tblGrid>
                <a:gridCol w="1965960"/>
                <a:gridCol w="1691640"/>
                <a:gridCol w="1783080"/>
                <a:gridCol w="1920240"/>
                <a:gridCol w="2011680"/>
                <a:gridCol w="1719072"/>
              </a:tblGrid>
              <a:tr h="441959">
                <a:tc>
                  <a:txBody>
                    <a:bodyPr wrap="square"/>
                    <a:lstStyle/>
                    <a:p>
                      <a:pPr algn="l"/>
                      <a:r>
                        <a:rPr sz="1150" b="1" i="0">
                          <a:solidFill>
                            <a:srgbClr val="15323F"/>
                          </a:solidFill>
                          <a:latin typeface="Calibri"/>
                        </a:rPr>
                        <a:t>This thesis</a:t>
                      </a:r>
                    </a:p>
                  </a:txBody>
                  <a:tcPr marL="54864" marR="54864" marT="27432" marB="27432" anchor="ctr">
                    <a:lnL w="0">
                      <a:noFill/>
                    </a:lnL>
                    <a:lnR w="0">
                      <a:noFill/>
                    </a:lnR>
                    <a:lnT w="0">
                      <a:noFill/>
                    </a:lnT>
                    <a:lnB w="6350">
                      <a:solidFill>
                        <a:srgbClr val="DDE4E8"/>
                      </a:solidFill>
                    </a:lnB>
                    <a:solidFill>
                      <a:srgbClr val="F6DDE1"/>
                    </a:solidFill>
                  </a:tcPr>
                </a:tc>
                <a:tc>
                  <a:txBody>
                    <a:bodyPr wrap="square"/>
                    <a:lstStyle/>
                    <a:p>
                      <a:pPr algn="l"/>
                      <a:r>
                        <a:rPr sz="115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6DDE1"/>
                    </a:solidFill>
                  </a:tcPr>
                </a:tc>
                <a:tc>
                  <a:txBody>
                    <a:bodyPr wrap="square"/>
                    <a:lstStyle/>
                    <a:p>
                      <a:pPr algn="l"/>
                      <a:r>
                        <a:rPr sz="115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6DDE1"/>
                    </a:solidFill>
                  </a:tcPr>
                </a:tc>
                <a:tc>
                  <a:txBody>
                    <a:bodyPr wrap="square"/>
                    <a:lstStyle/>
                    <a:p>
                      <a:pPr algn="l"/>
                      <a:r>
                        <a:rPr sz="1150" b="1" i="0">
                          <a:solidFill>
                            <a:srgbClr val="D1495B"/>
                          </a:solidFill>
                          <a:latin typeface="Calibri"/>
                        </a:rPr>
                        <a:t>individual residue</a:t>
                      </a:r>
                    </a:p>
                  </a:txBody>
                  <a:tcPr marL="54864" marR="54864" marT="27432" marB="27432" anchor="ctr">
                    <a:lnL w="0">
                      <a:noFill/>
                    </a:lnL>
                    <a:lnR w="0">
                      <a:noFill/>
                    </a:lnR>
                    <a:lnT w="0">
                      <a:noFill/>
                    </a:lnT>
                    <a:lnB w="6350">
                      <a:solidFill>
                        <a:srgbClr val="DDE4E8"/>
                      </a:solidFill>
                    </a:lnB>
                    <a:solidFill>
                      <a:srgbClr val="F6DDE1"/>
                    </a:solidFill>
                  </a:tcPr>
                </a:tc>
                <a:tc>
                  <a:txBody>
                    <a:bodyPr wrap="square"/>
                    <a:lstStyle/>
                    <a:p>
                      <a:pPr algn="l"/>
                      <a:r>
                        <a:rPr sz="1150" b="1" i="0">
                          <a:solidFill>
                            <a:srgbClr val="15323F"/>
                          </a:solidFill>
                          <a:latin typeface="Calibri"/>
                        </a:rPr>
                        <a:t>GPS mutagenesis, measured</a:t>
                      </a:r>
                    </a:p>
                  </a:txBody>
                  <a:tcPr marL="54864" marR="54864" marT="27432" marB="27432" anchor="ctr">
                    <a:lnL w="0">
                      <a:noFill/>
                    </a:lnL>
                    <a:lnR w="0">
                      <a:noFill/>
                    </a:lnR>
                    <a:lnT w="0">
                      <a:noFill/>
                    </a:lnT>
                    <a:lnB w="6350">
                      <a:solidFill>
                        <a:srgbClr val="DDE4E8"/>
                      </a:solidFill>
                    </a:lnB>
                    <a:solidFill>
                      <a:srgbClr val="F6DDE1"/>
                    </a:solidFill>
                  </a:tcPr>
                </a:tc>
                <a:tc>
                  <a:txBody>
                    <a:bodyPr wrap="square"/>
                    <a:lstStyle/>
                    <a:p>
                      <a:pPr algn="l"/>
                      <a:r>
                        <a:rPr sz="1150" b="1" i="0">
                          <a:solidFill>
                            <a:srgbClr val="15323F"/>
                          </a:solidFill>
                          <a:latin typeface="Calibri"/>
                        </a:rPr>
                        <a:t>28×20 ΔPSI matrix + per-position map</a:t>
                      </a:r>
                    </a:p>
                  </a:txBody>
                  <a:tcPr marL="54864" marR="54864" marT="27432" marB="27432" anchor="ctr">
                    <a:lnL w="0">
                      <a:noFill/>
                    </a:lnL>
                    <a:lnR w="0">
                      <a:noFill/>
                    </a:lnR>
                    <a:lnT w="0">
                      <a:noFill/>
                    </a:lnT>
                    <a:lnB w="6350">
                      <a:solidFill>
                        <a:srgbClr val="DDE4E8"/>
                      </a:solidFill>
                    </a:lnB>
                    <a:solidFill>
                      <a:srgbClr val="F6DDE1"/>
                    </a:solidFill>
                  </a:tcPr>
                </a:tc>
              </a:tr>
            </a:tbl>
          </a:graphicData>
        </a:graphic>
      </p:graphicFrame>
      <p:sp>
        <p:nvSpPr>
          <p:cNvPr id="17" name="legend 1"/>
          <p:cNvSpPr/>
          <p:nvPr/>
        </p:nvSpPr>
        <p:spPr>
          <a:xfrm>
            <a:off x="548640" y="5617463"/>
            <a:ext cx="201168" cy="146304"/>
          </a:xfrm>
          <a:prstGeom prst="rect">
            <a:avLst/>
          </a:prstGeom>
          <a:solidFill>
            <a:srgbClr val="DCE7F2"/>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legend text 1"/>
          <p:cNvSpPr txBox="1"/>
          <p:nvPr/>
        </p:nvSpPr>
        <p:spPr>
          <a:xfrm>
            <a:off x="822959" y="5580888"/>
            <a:ext cx="3291840" cy="228600"/>
          </a:xfrm>
          <a:prstGeom prst="rect">
            <a:avLst/>
          </a:prstGeom>
          <a:noFill/>
        </p:spPr>
        <p:txBody>
          <a:bodyPr wrap="square" lIns="0" rIns="0" tIns="0" bIns="0" anchor="t">
            <a:spAutoFit/>
          </a:bodyPr>
          <a:lstStyle/>
          <a:p>
            <a:pPr algn="l"/>
            <a:r>
              <a:rPr sz="1000" b="0" i="0">
                <a:solidFill>
                  <a:srgbClr val="5B7380"/>
                </a:solidFill>
                <a:latin typeface="Calibri"/>
              </a:rPr>
              <a:t>experimental maps</a:t>
            </a:r>
          </a:p>
        </p:txBody>
      </p:sp>
      <p:sp>
        <p:nvSpPr>
          <p:cNvPr id="19" name="legend 2"/>
          <p:cNvSpPr/>
          <p:nvPr/>
        </p:nvSpPr>
        <p:spPr>
          <a:xfrm>
            <a:off x="2560320" y="5617463"/>
            <a:ext cx="201168" cy="146304"/>
          </a:xfrm>
          <a:prstGeom prst="rect">
            <a:avLst/>
          </a:prstGeom>
          <a:solidFill>
            <a:srgbClr val="D9EFEC"/>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legend text 2"/>
          <p:cNvSpPr txBox="1"/>
          <p:nvPr/>
        </p:nvSpPr>
        <p:spPr>
          <a:xfrm>
            <a:off x="2834640" y="5580888"/>
            <a:ext cx="3291840" cy="228600"/>
          </a:xfrm>
          <a:prstGeom prst="rect">
            <a:avLst/>
          </a:prstGeom>
          <a:noFill/>
        </p:spPr>
        <p:txBody>
          <a:bodyPr wrap="square" lIns="0" rIns="0" tIns="0" bIns="0" anchor="t">
            <a:spAutoFit/>
          </a:bodyPr>
          <a:lstStyle/>
          <a:p>
            <a:pPr algn="l"/>
            <a:r>
              <a:rPr sz="1000" b="0" i="0">
                <a:solidFill>
                  <a:srgbClr val="5B7380"/>
                </a:solidFill>
                <a:latin typeface="Calibri"/>
              </a:rPr>
              <a:t>databases, motif and language-model tools</a:t>
            </a:r>
          </a:p>
        </p:txBody>
      </p:sp>
      <p:sp>
        <p:nvSpPr>
          <p:cNvPr id="21" name="legend 3"/>
          <p:cNvSpPr/>
          <p:nvPr/>
        </p:nvSpPr>
        <p:spPr>
          <a:xfrm>
            <a:off x="6217920" y="5617463"/>
            <a:ext cx="201168" cy="146304"/>
          </a:xfrm>
          <a:prstGeom prst="rect">
            <a:avLst/>
          </a:prstGeom>
          <a:solidFill>
            <a:srgbClr val="EEF2F4"/>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2" name="legend text 3"/>
          <p:cNvSpPr txBox="1"/>
          <p:nvPr/>
        </p:nvSpPr>
        <p:spPr>
          <a:xfrm>
            <a:off x="6492240" y="5580888"/>
            <a:ext cx="3291840" cy="228600"/>
          </a:xfrm>
          <a:prstGeom prst="rect">
            <a:avLst/>
          </a:prstGeom>
          <a:noFill/>
        </p:spPr>
        <p:txBody>
          <a:bodyPr wrap="square" lIns="0" rIns="0" tIns="0" bIns="0" anchor="t">
            <a:spAutoFit/>
          </a:bodyPr>
          <a:lstStyle/>
          <a:p>
            <a:pPr algn="l"/>
            <a:r>
              <a:rPr sz="1000" b="0" i="0">
                <a:solidFill>
                  <a:srgbClr val="5B7380"/>
                </a:solidFill>
                <a:latin typeface="Calibri"/>
              </a:rPr>
              <a:t>screen + ML on mutagenesis</a:t>
            </a:r>
          </a:p>
        </p:txBody>
      </p:sp>
      <p:sp>
        <p:nvSpPr>
          <p:cNvPr id="23" name="evidence note"/>
          <p:cNvSpPr txBox="1"/>
          <p:nvPr/>
        </p:nvSpPr>
        <p:spPr>
          <a:xfrm>
            <a:off x="8503919" y="5580888"/>
            <a:ext cx="3108960" cy="228600"/>
          </a:xfrm>
          <a:prstGeom prst="rect">
            <a:avLst/>
          </a:prstGeom>
          <a:noFill/>
        </p:spPr>
        <p:txBody>
          <a:bodyPr wrap="square" lIns="0" rIns="0" tIns="0" bIns="0" anchor="t">
            <a:spAutoFit/>
          </a:bodyPr>
          <a:lstStyle/>
          <a:p>
            <a:pPr algn="r"/>
            <a:r>
              <a:rPr sz="1000" b="0" i="0">
                <a:solidFill>
                  <a:srgbClr val="5B7380"/>
                </a:solidFill>
                <a:latin typeface="Calibri"/>
              </a:rPr>
              <a:t>Degformer read from source code, not a paper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500" b="1">
                <a:solidFill>
                  <a:srgbClr val="15323F"/>
                </a:solidFill>
                <a:latin typeface="Calibri"/>
              </a:rPr>
              <a:t>Group 1: motif and database tools give broad coverage, but their labels are curated</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9</a:t>
            </a:r>
          </a:p>
        </p:txBody>
      </p:sp>
      <p:sp>
        <p:nvSpPr>
          <p:cNvPr id="15" name="tools"/>
          <p:cNvSpPr txBox="1"/>
          <p:nvPr/>
        </p:nvSpPr>
        <p:spPr>
          <a:xfrm>
            <a:off x="548640" y="1051560"/>
            <a:ext cx="6858000" cy="274320"/>
          </a:xfrm>
          <a:prstGeom prst="rect">
            <a:avLst/>
          </a:prstGeom>
          <a:noFill/>
        </p:spPr>
        <p:txBody>
          <a:bodyPr wrap="square" lIns="0" rIns="0" tIns="0" bIns="0" anchor="t">
            <a:spAutoFit/>
          </a:bodyPr>
          <a:lstStyle/>
          <a:p>
            <a:pPr algn="l"/>
            <a:r>
              <a:rPr sz="1300" b="1" i="0">
                <a:solidFill>
                  <a:srgbClr val="386FA4"/>
                </a:solidFill>
                <a:latin typeface="Calibri"/>
              </a:rPr>
              <a:t>Degpred (2022) · DegronMD (2023) · DEGRONOPEDIA (2024) · MetaDegron (2024)</a:t>
            </a:r>
          </a:p>
        </p:txBody>
      </p:sp>
      <p:sp>
        <p:nvSpPr>
          <p:cNvPr id="16" name="achieved"/>
          <p:cNvSpPr txBox="1"/>
          <p:nvPr/>
        </p:nvSpPr>
        <p:spPr>
          <a:xfrm>
            <a:off x="548640" y="1371600"/>
            <a:ext cx="6858000" cy="1783080"/>
          </a:xfrm>
          <a:prstGeom prst="rect">
            <a:avLst/>
          </a:prstGeom>
          <a:noFill/>
        </p:spPr>
        <p:txBody>
          <a:bodyPr wrap="square" lIns="0" rIns="0" tIns="0" bIns="0" anchor="t">
            <a:spAutoFit/>
          </a:bodyPr>
          <a:lstStyle/>
          <a:p>
            <a:pPr algn="l"/>
            <a:r>
              <a:rPr sz="1400" b="1" i="0">
                <a:solidFill>
                  <a:srgbClr val="15323F"/>
                </a:solidFill>
                <a:latin typeface="Calibri"/>
              </a:rPr>
              <a:t>What they achieved</a:t>
            </a:r>
          </a:p>
          <a:p>
            <a:pPr algn="l" marL="182880" indent="-182880">
              <a:spcBef>
                <a:spcPts val="400"/>
              </a:spcBef>
              <a:buClr>
                <a:srgbClr val="D1495B"/>
              </a:buClr>
              <a:buFont typeface="Arial"/>
              <a:buChar char="•"/>
            </a:pPr>
            <a:r>
              <a:rPr sz="1250" b="0" i="0">
                <a:solidFill>
                  <a:srgbClr val="15323F"/>
                </a:solidFill>
                <a:latin typeface="Calibri"/>
              </a:rPr>
              <a:t>Moved degron identification from a handful of known motifs to proteome scale (DegronMD reports 18,000+ new degron instances)</a:t>
            </a:r>
          </a:p>
          <a:p>
            <a:pPr algn="l" marL="182880" indent="-182880">
              <a:spcBef>
                <a:spcPts val="400"/>
              </a:spcBef>
              <a:buClr>
                <a:srgbClr val="D1495B"/>
              </a:buClr>
              <a:buFont typeface="Arial"/>
              <a:buChar char="•"/>
            </a:pPr>
            <a:r>
              <a:rPr sz="1250" b="0" i="0">
                <a:solidFill>
                  <a:srgbClr val="15323F"/>
                </a:solidFill>
                <a:latin typeface="Calibri"/>
              </a:rPr>
              <a:t>Added surrounding biology: ubiquitination sites, disorder, structure, E3 assignment; DEGRONOPEDIA simulates proteolysis</a:t>
            </a:r>
          </a:p>
          <a:p>
            <a:pPr algn="l" marL="182880" indent="-182880">
              <a:spcBef>
                <a:spcPts val="400"/>
              </a:spcBef>
              <a:buClr>
                <a:srgbClr val="D1495B"/>
              </a:buClr>
              <a:buFont typeface="Arial"/>
              <a:buChar char="•"/>
            </a:pPr>
            <a:r>
              <a:rPr sz="1250" b="0" i="0">
                <a:solidFill>
                  <a:srgbClr val="15323F"/>
                </a:solidFill>
                <a:latin typeface="Calibri"/>
              </a:rPr>
              <a:t>Delivered usable web tools with batch submission: the state of the art for “where are the degrons in my protein?”</a:t>
            </a:r>
          </a:p>
          <a:p>
            <a:pPr algn="l" marL="182880" indent="-182880">
              <a:spcBef>
                <a:spcPts val="400"/>
              </a:spcBef>
              <a:buClr>
                <a:srgbClr val="D1495B"/>
              </a:buClr>
              <a:buFont typeface="Arial"/>
              <a:buChar char="•"/>
            </a:pPr>
            <a:r>
              <a:rPr sz="1250" b="0" i="0">
                <a:solidFill>
                  <a:srgbClr val="15323F"/>
                </a:solidFill>
                <a:latin typeface="Calibri"/>
              </a:rPr>
              <a:t>MetaDegron shows a protein language model beats feature-based prediction, across 21 E3s</a:t>
            </a:r>
          </a:p>
        </p:txBody>
      </p:sp>
      <p:sp>
        <p:nvSpPr>
          <p:cNvPr id="17" name="short head"/>
          <p:cNvSpPr txBox="1"/>
          <p:nvPr/>
        </p:nvSpPr>
        <p:spPr>
          <a:xfrm>
            <a:off x="548640" y="3200400"/>
            <a:ext cx="6858000" cy="274320"/>
          </a:xfrm>
          <a:prstGeom prst="rect">
            <a:avLst/>
          </a:prstGeom>
          <a:noFill/>
        </p:spPr>
        <p:txBody>
          <a:bodyPr wrap="square" lIns="0" rIns="0" tIns="0" bIns="0" anchor="t">
            <a:spAutoFit/>
          </a:bodyPr>
          <a:lstStyle/>
          <a:p>
            <a:pPr algn="l"/>
            <a:r>
              <a:rPr sz="1400" b="1" i="0">
                <a:solidFill>
                  <a:srgbClr val="15323F"/>
                </a:solidFill>
                <a:latin typeface="Calibri"/>
              </a:rPr>
              <a:t>Where they fall short for this thesis's question</a:t>
            </a:r>
          </a:p>
        </p:txBody>
      </p:sp>
      <p:graphicFrame>
        <p:nvGraphicFramePr>
          <p:cNvPr id="18" name="limitations"/>
          <p:cNvGraphicFramePr>
            <a:graphicFrameLocks noGrp="1"/>
          </p:cNvGraphicFramePr>
          <p:nvPr/>
        </p:nvGraphicFramePr>
        <p:xfrm>
          <a:off x="548640" y="3520440"/>
          <a:ext cx="6858000" cy="1600197"/>
        </p:xfrm>
        <a:graphic>
          <a:graphicData uri="http://schemas.openxmlformats.org/drawingml/2006/table">
            <a:tbl>
              <a:tblPr firstRow="0" bandRow="0">
                <a:tableStyleId>{2D5ABB26-0587-4C30-8999-92F81FD0307C}</a:tableStyleId>
              </a:tblPr>
              <a:tblGrid>
                <a:gridCol w="3017520"/>
                <a:gridCol w="3840480"/>
              </a:tblGrid>
              <a:tr h="274320">
                <a:tc>
                  <a:txBody>
                    <a:bodyPr wrap="square"/>
                    <a:lstStyle/>
                    <a:p>
                      <a:pPr algn="l"/>
                      <a:r>
                        <a:rPr sz="1150" b="1" i="0">
                          <a:solidFill>
                            <a:srgbClr val="FAFBFC"/>
                          </a:solidFill>
                          <a:latin typeface="Calibri"/>
                        </a:rPr>
                        <a:t>Limitation</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Why it matters here</a:t>
                      </a:r>
                    </a:p>
                  </a:txBody>
                  <a:tcPr marL="54864" marR="54864" marT="27432" marB="27432" anchor="ctr">
                    <a:lnL w="0">
                      <a:noFill/>
                    </a:lnL>
                    <a:lnR w="0">
                      <a:noFill/>
                    </a:lnR>
                    <a:lnT w="0">
                      <a:noFill/>
                    </a:lnT>
                    <a:lnB w="6350">
                      <a:solidFill>
                        <a:srgbClr val="DDE4E8"/>
                      </a:solidFill>
                    </a:lnB>
                    <a:solidFill>
                      <a:srgbClr val="15323F"/>
                    </a:solidFill>
                  </a:tcPr>
                </a:tc>
              </a:tr>
              <a:tr h="441959">
                <a:tc>
                  <a:txBody>
                    <a:bodyPr wrap="square"/>
                    <a:lstStyle/>
                    <a:p>
                      <a:pPr algn="l"/>
                      <a:r>
                        <a:rPr sz="1150" b="0" i="0">
                          <a:solidFill>
                            <a:srgbClr val="15323F"/>
                          </a:solidFill>
                          <a:latin typeface="Calibri"/>
                        </a:rPr>
                        <a:t>Labels are curated motifs (a few hundred); negatives are often random peptides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Measured negatives are much harder, so reported AUCs are not comparable to a measured-label benchmark</a:t>
                      </a:r>
                    </a:p>
                  </a:txBody>
                  <a:tcPr marL="54864" marR="54864" marT="27432" marB="27432" anchor="ctr">
                    <a:lnL w="0">
                      <a:noFill/>
                    </a:lnL>
                    <a:lnR w="0">
                      <a:noFill/>
                    </a:lnR>
                    <a:lnT w="0">
                      <a:noFill/>
                    </a:lnT>
                    <a:lnB w="6350">
                      <a:solidFill>
                        <a:srgbClr val="DDE4E8"/>
                      </a:solidFill>
                    </a:lnB>
                    <a:solidFill>
                      <a:srgbClr val="FFFFFF"/>
                    </a:solidFill>
                  </a:tcPr>
                </a:tc>
              </a:tr>
              <a:tr h="441959">
                <a:tc>
                  <a:txBody>
                    <a:bodyPr wrap="square"/>
                    <a:lstStyle/>
                    <a:p>
                      <a:pPr algn="l"/>
                      <a:r>
                        <a:rPr sz="1150" b="0" i="0">
                          <a:solidFill>
                            <a:srgbClr val="15323F"/>
                          </a:solidFill>
                          <a:latin typeface="Calibri"/>
                        </a:rPr>
                        <a:t>Prediction unit is a motif or protein region</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They answer where is a degron, not which residue inside it matters</a:t>
                      </a:r>
                    </a:p>
                  </a:txBody>
                  <a:tcPr marL="54864" marR="54864" marT="27432" marB="27432" anchor="ctr">
                    <a:lnL w="0">
                      <a:noFill/>
                    </a:lnL>
                    <a:lnR w="0">
                      <a:noFill/>
                    </a:lnR>
                    <a:lnT w="0">
                      <a:noFill/>
                    </a:lnT>
                    <a:lnB w="6350">
                      <a:solidFill>
                        <a:srgbClr val="DDE4E8"/>
                      </a:solidFill>
                    </a:lnB>
                    <a:solidFill>
                      <a:srgbClr val="F4F7F8"/>
                    </a:solidFill>
                  </a:tcPr>
                </a:tc>
              </a:tr>
              <a:tr h="441959">
                <a:tc>
                  <a:txBody>
                    <a:bodyPr wrap="square"/>
                    <a:lstStyle/>
                    <a:p>
                      <a:pPr algn="l"/>
                      <a:r>
                        <a:rPr sz="1150" b="0" i="0">
                          <a:solidFill>
                            <a:srgbClr val="15323F"/>
                          </a:solidFill>
                          <a:latin typeface="Calibri"/>
                        </a:rPr>
                        <a:t>Train/test similarity control not reported for small curated sets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Homologous leakage cannot be excluded</a:t>
                      </a:r>
                    </a:p>
                  </a:txBody>
                  <a:tcPr marL="54864" marR="54864" marT="27432" marB="27432" anchor="ctr">
                    <a:lnL w="0">
                      <a:noFill/>
                    </a:lnL>
                    <a:lnR w="0">
                      <a:noFill/>
                    </a:lnR>
                    <a:lnT w="0">
                      <a:noFill/>
                    </a:lnT>
                    <a:lnB w="6350">
                      <a:solidFill>
                        <a:srgbClr val="DDE4E8"/>
                      </a:solidFill>
                    </a:lnB>
                    <a:solidFill>
                      <a:srgbClr val="FFFFFF"/>
                    </a:solidFill>
                  </a:tcPr>
                </a:tc>
              </a:tr>
            </a:tbl>
          </a:graphicData>
        </a:graphic>
      </p:graphicFrame>
      <p:sp>
        <p:nvSpPr>
          <p:cNvPr id="19" name="axis panel"/>
          <p:cNvSpPr/>
          <p:nvPr/>
        </p:nvSpPr>
        <p:spPr>
          <a:xfrm>
            <a:off x="7772400" y="1051560"/>
            <a:ext cx="3867912" cy="4434840"/>
          </a:xfrm>
          <a:prstGeom prst="roundRect">
            <a:avLst>
              <a:gd name="adj" fmla="val 2364"/>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axis title"/>
          <p:cNvSpPr txBox="1"/>
          <p:nvPr/>
        </p:nvSpPr>
        <p:spPr>
          <a:xfrm>
            <a:off x="7909560" y="1097280"/>
            <a:ext cx="3566160" cy="274320"/>
          </a:xfrm>
          <a:prstGeom prst="rect">
            <a:avLst/>
          </a:prstGeom>
          <a:noFill/>
        </p:spPr>
        <p:txBody>
          <a:bodyPr wrap="square" lIns="0" rIns="0" tIns="0" bIns="0" anchor="t">
            <a:spAutoFit/>
          </a:bodyPr>
          <a:lstStyle/>
          <a:p>
            <a:pPr algn="l"/>
            <a:r>
              <a:rPr sz="1300" b="1" i="0">
                <a:solidFill>
                  <a:srgbClr val="15323F"/>
                </a:solidFill>
                <a:latin typeface="Calibri"/>
              </a:rPr>
              <a:t>Resolution of the answer</a:t>
            </a:r>
          </a:p>
        </p:txBody>
      </p:sp>
      <p:cxnSp>
        <p:nvCxnSpPr>
          <p:cNvPr id="21" name="resolution axis"/>
          <p:cNvCxnSpPr/>
          <p:nvPr/>
        </p:nvCxnSpPr>
        <p:spPr>
          <a:xfrm>
            <a:off x="8092440" y="1508760"/>
            <a:ext cx="0" cy="3749040"/>
          </a:xfrm>
          <a:prstGeom prst="line">
            <a:avLst/>
          </a:prstGeom>
          <a:ln w="19050">
            <a:solidFill>
              <a:srgbClr val="8FA3AD"/>
            </a:solidFill>
            <a:tailEnd type="triangle"/>
          </a:ln>
        </p:spPr>
        <p:style>
          <a:lnRef idx="2">
            <a:schemeClr val="accent1"/>
          </a:lnRef>
          <a:fillRef idx="0">
            <a:schemeClr val="accent1"/>
          </a:fillRef>
          <a:effectRef idx="1">
            <a:schemeClr val="accent1"/>
          </a:effectRef>
          <a:fontRef idx="minor">
            <a:schemeClr val="tx1"/>
          </a:fontRef>
        </p:style>
      </p:cxnSp>
      <p:sp>
        <p:nvSpPr>
          <p:cNvPr id="22" name="level protein"/>
          <p:cNvSpPr/>
          <p:nvPr/>
        </p:nvSpPr>
        <p:spPr>
          <a:xfrm>
            <a:off x="8275320" y="1508760"/>
            <a:ext cx="3200400" cy="749808"/>
          </a:xfrm>
          <a:prstGeom prst="roundRect">
            <a:avLst>
              <a:gd name="adj" fmla="val 12195"/>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1" i="0">
                <a:solidFill>
                  <a:srgbClr val="386FA4"/>
                </a:solidFill>
                <a:latin typeface="Calibri"/>
              </a:rPr>
              <a:t>protein</a:t>
            </a:r>
          </a:p>
          <a:p>
            <a:pPr algn="l"/>
            <a:r>
              <a:rPr sz="1100" b="0" i="0">
                <a:solidFill>
                  <a:srgbClr val="15323F"/>
                </a:solidFill>
                <a:latin typeface="Calibri"/>
              </a:rPr>
              <a:t>DegronMD (proteome-wide degrome map)</a:t>
            </a:r>
          </a:p>
        </p:txBody>
      </p:sp>
      <p:sp>
        <p:nvSpPr>
          <p:cNvPr id="23" name="level region"/>
          <p:cNvSpPr/>
          <p:nvPr/>
        </p:nvSpPr>
        <p:spPr>
          <a:xfrm>
            <a:off x="8275320" y="2423160"/>
            <a:ext cx="3200400" cy="749808"/>
          </a:xfrm>
          <a:prstGeom prst="roundRect">
            <a:avLst>
              <a:gd name="adj" fmla="val 12195"/>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1" i="0">
                <a:solidFill>
                  <a:srgbClr val="386FA4"/>
                </a:solidFill>
                <a:latin typeface="Calibri"/>
              </a:rPr>
              <a:t>region</a:t>
            </a:r>
          </a:p>
          <a:p>
            <a:pPr algn="l"/>
            <a:r>
              <a:rPr sz="1100" b="0" i="0">
                <a:solidFill>
                  <a:srgbClr val="15323F"/>
                </a:solidFill>
                <a:latin typeface="Calibri"/>
              </a:rPr>
              <a:t>Degpred (degron location in protein)</a:t>
            </a:r>
          </a:p>
        </p:txBody>
      </p:sp>
      <p:sp>
        <p:nvSpPr>
          <p:cNvPr id="24" name="level motif"/>
          <p:cNvSpPr/>
          <p:nvPr/>
        </p:nvSpPr>
        <p:spPr>
          <a:xfrm>
            <a:off x="8275320" y="3337560"/>
            <a:ext cx="3200400" cy="749808"/>
          </a:xfrm>
          <a:prstGeom prst="roundRect">
            <a:avLst>
              <a:gd name="adj" fmla="val 12195"/>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1" i="0">
                <a:solidFill>
                  <a:srgbClr val="386FA4"/>
                </a:solidFill>
                <a:latin typeface="Calibri"/>
              </a:rPr>
              <a:t>motif</a:t>
            </a:r>
          </a:p>
          <a:p>
            <a:pPr algn="l"/>
            <a:r>
              <a:rPr sz="1100" b="0" i="0">
                <a:solidFill>
                  <a:srgbClr val="15323F"/>
                </a:solidFill>
                <a:latin typeface="Calibri"/>
              </a:rPr>
              <a:t>DEGRONOPEDIA · MetaDegron</a:t>
            </a:r>
          </a:p>
        </p:txBody>
      </p:sp>
      <p:sp>
        <p:nvSpPr>
          <p:cNvPr id="25" name="level residue (empty)"/>
          <p:cNvSpPr/>
          <p:nvPr/>
        </p:nvSpPr>
        <p:spPr>
          <a:xfrm>
            <a:off x="8275320" y="4251960"/>
            <a:ext cx="3200400" cy="868680"/>
          </a:xfrm>
          <a:prstGeom prst="roundRect">
            <a:avLst>
              <a:gd name="adj" fmla="val 10526"/>
            </a:avLst>
          </a:prstGeom>
          <a:solidFill>
            <a:srgbClr val="FBF1D3"/>
          </a:solidFill>
          <a:ln w="12700">
            <a:solidFill>
              <a:srgbClr val="B08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D1495B"/>
                </a:solidFill>
                <a:latin typeface="Calibri"/>
              </a:rPr>
              <a:t>residue</a:t>
            </a:r>
          </a:p>
          <a:p>
            <a:pPr algn="l"/>
            <a:r>
              <a:rPr sz="1100" b="0" i="0">
                <a:solidFill>
                  <a:srgbClr val="15323F"/>
                </a:solidFill>
                <a:latin typeface="Calibri"/>
              </a:rPr>
              <a:t>no tool in this group answers here</a:t>
            </a:r>
          </a:p>
        </p:txBody>
      </p:sp>
      <p:sp>
        <p:nvSpPr>
          <p:cNvPr id="26" name="gap banner"/>
          <p:cNvSpPr/>
          <p:nvPr/>
        </p:nvSpPr>
        <p:spPr>
          <a:xfrm>
            <a:off x="548640" y="5212080"/>
            <a:ext cx="6858000" cy="594360"/>
          </a:xfrm>
          <a:prstGeom prst="roundRect">
            <a:avLst>
              <a:gd name="adj" fmla="val 15384"/>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200" b="1" i="0">
                <a:solidFill>
                  <a:srgbClr val="D1495B"/>
                </a:solidFill>
                <a:latin typeface="Calibri"/>
              </a:rPr>
              <a:t>The gap this group leaves: </a:t>
            </a:r>
            <a:r>
              <a:rPr sz="1200" b="0" i="0">
                <a:solidFill>
                  <a:srgbClr val="15323F"/>
                </a:solidFill>
                <a:latin typeface="Calibri"/>
              </a:rPr>
              <a:t>these tools locate degrons; none is trained on measured mutation effects, so none ranks residues inside a degron.</a:t>
            </a:r>
          </a:p>
        </p:txBody>
      </p:sp>
      <p:sp>
        <p:nvSpPr>
          <p:cNvPr id="27" name="evidence label"/>
          <p:cNvSpPr txBox="1"/>
          <p:nvPr/>
        </p:nvSpPr>
        <p:spPr>
          <a:xfrm>
            <a:off x="548640" y="5897880"/>
            <a:ext cx="11094415" cy="310896"/>
          </a:xfrm>
          <a:prstGeom prst="rect">
            <a:avLst/>
          </a:prstGeom>
          <a:noFill/>
        </p:spPr>
        <p:txBody>
          <a:bodyPr wrap="square" lIns="0" rIns="0" tIns="0" bIns="0" anchor="t">
            <a:spAutoFit/>
          </a:bodyPr>
          <a:lstStyle/>
          <a:p>
            <a:pPr algn="l"/>
            <a:r>
              <a:rPr sz="1000" b="0" i="0">
                <a:solidFill>
                  <a:srgbClr val="5B7380"/>
                </a:solidFill>
                <a:latin typeface="Calibri"/>
              </a:rPr>
              <a:t>Evidence level differs per work: Degpred seen through its abstract only; the other three read from their paper or tool page. Not comparable with a measured-label benchmark.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500"/>
                                        <p:tgtEl>
                                          <p:spTgt spid="22"/>
                                        </p:tgtEl>
                                      </p:cBhvr>
                                    </p:animEffect>
                                  </p:childTnLst>
                                </p:cTn>
                              </p:par>
                              <p:par>
                                <p:cTn id="6" presetID="10" presetClass="entr" presetSubtype="0" fill="hold"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500"/>
                                        <p:tgtEl>
                                          <p:spTgt spid="23"/>
                                        </p:tgtEl>
                                      </p:cBhvr>
                                    </p:animEffect>
                                  </p:childTnLst>
                                </p:cTn>
                              </p:par>
                              <p:par>
                                <p:cTn id="9" presetID="10"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Group 2: measured maps and sequence models are the closest prior work</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10</a:t>
            </a:r>
          </a:p>
        </p:txBody>
      </p:sp>
      <p:sp>
        <p:nvSpPr>
          <p:cNvPr id="15" name="achieved"/>
          <p:cNvSpPr txBox="1"/>
          <p:nvPr/>
        </p:nvSpPr>
        <p:spPr>
          <a:xfrm>
            <a:off x="548640" y="1051560"/>
            <a:ext cx="4206240" cy="3108960"/>
          </a:xfrm>
          <a:prstGeom prst="rect">
            <a:avLst/>
          </a:prstGeom>
          <a:noFill/>
        </p:spPr>
        <p:txBody>
          <a:bodyPr wrap="square" lIns="0" rIns="0" tIns="0" bIns="0" anchor="t">
            <a:spAutoFit/>
          </a:bodyPr>
          <a:lstStyle/>
          <a:p>
            <a:pPr algn="l"/>
            <a:r>
              <a:rPr sz="1250" b="1" i="0">
                <a:solidFill>
                  <a:srgbClr val="386FA4"/>
                </a:solidFill>
                <a:latin typeface="Calibri"/>
              </a:rPr>
              <a:t>What they achieved: this is where the field's labels come from</a:t>
            </a:r>
          </a:p>
          <a:p>
            <a:pPr algn="l" marL="182880" indent="-182880">
              <a:spcBef>
                <a:spcPts val="400"/>
              </a:spcBef>
              <a:buClr>
                <a:srgbClr val="D1495B"/>
              </a:buClr>
              <a:buFont typeface="Arial"/>
              <a:buChar char="•"/>
            </a:pPr>
            <a:r>
              <a:rPr sz="1150" b="0" i="0">
                <a:solidFill>
                  <a:srgbClr val="15323F"/>
                </a:solidFill>
                <a:latin typeface="Calibri"/>
              </a:rPr>
              <a:t>Koren 2018: GPS peptidome screening; the “C-end rule” E3 adaptors</a:t>
            </a:r>
          </a:p>
          <a:p>
            <a:pPr algn="l" marL="182880" indent="-182880">
              <a:spcBef>
                <a:spcPts val="400"/>
              </a:spcBef>
              <a:buClr>
                <a:srgbClr val="D1495B"/>
              </a:buClr>
              <a:buFont typeface="Arial"/>
              <a:buChar char="•"/>
            </a:pPr>
            <a:r>
              <a:rPr sz="1150" b="0" i="0">
                <a:solidFill>
                  <a:srgbClr val="15323F"/>
                </a:solidFill>
                <a:latin typeface="Calibri"/>
              </a:rPr>
              <a:t>Zhang 2023: added scanning and saturation mutagenesis; fingerprints for 219 degrons; own SVM predicts peptidome PSI at Pearson 0.8955 (260,989 peptides)</a:t>
            </a:r>
          </a:p>
          <a:p>
            <a:pPr algn="l" marL="182880" indent="-182880">
              <a:spcBef>
                <a:spcPts val="400"/>
              </a:spcBef>
              <a:buClr>
                <a:srgbClr val="D1495B"/>
              </a:buClr>
              <a:buFont typeface="Arial"/>
              <a:buChar char="•"/>
            </a:pPr>
            <a:r>
              <a:rPr sz="1150" b="0" i="0">
                <a:solidFill>
                  <a:srgbClr val="15323F"/>
                </a:solidFill>
                <a:latin typeface="Calibri"/>
              </a:rPr>
              <a:t>Voutsinos 2026: &gt;200,000 30-residue tiles from &gt;5,000 proteins; 19% strong, 30% intermediate, 51% non-degrons; PAP CNN reaches Pearson 0.82 / 0.87 held-out</a:t>
            </a:r>
          </a:p>
          <a:p>
            <a:pPr algn="l" marL="182880" indent="-182880">
              <a:spcBef>
                <a:spcPts val="400"/>
              </a:spcBef>
              <a:buClr>
                <a:srgbClr val="D1495B"/>
              </a:buClr>
              <a:buFont typeface="Arial"/>
              <a:buChar char="•"/>
            </a:pPr>
            <a:r>
              <a:rPr sz="1150" b="0" i="0">
                <a:solidFill>
                  <a:srgbClr val="15323F"/>
                </a:solidFill>
                <a:latin typeface="Calibri"/>
              </a:rPr>
              <a:t>Larsen 2025 (preprint): all 1,626 human transcription factors, with PAP / rASA / pLDDT annotation</a:t>
            </a:r>
          </a:p>
          <a:p>
            <a:pPr algn="l" marL="182880" indent="-182880">
              <a:spcBef>
                <a:spcPts val="400"/>
              </a:spcBef>
              <a:buClr>
                <a:srgbClr val="D1495B"/>
              </a:buClr>
              <a:buFont typeface="Arial"/>
              <a:buChar char="•"/>
            </a:pPr>
            <a:r>
              <a:rPr sz="1150" b="0" i="0">
                <a:solidFill>
                  <a:srgbClr val="15323F"/>
                </a:solidFill>
                <a:latin typeface="Calibri"/>
              </a:rPr>
              <a:t>Degformer 2026: the most direct precedent, a transformer on Zhang's tables that does output a 28×20 ΔPSI matrix; self-reported correlations 0.9162–0.9463</a:t>
            </a:r>
          </a:p>
        </p:txBody>
      </p:sp>
      <p:pic>
        <p:nvPicPr>
          <p:cNvPr id="16" name="Picture 15" descr="Voutsinos et al. 2026 Fig. 4: PAP two-channel architecture and held-out scatter plots"/>
          <p:cNvPicPr>
            <a:picLocks noChangeAspect="1"/>
          </p:cNvPicPr>
          <p:nvPr/>
        </p:nvPicPr>
        <p:blipFill>
          <a:blip r:embed="rId3"/>
          <a:stretch>
            <a:fillRect/>
          </a:stretch>
        </p:blipFill>
        <p:spPr>
          <a:xfrm>
            <a:off x="4937760" y="1097280"/>
            <a:ext cx="3429000" cy="1448752"/>
          </a:xfrm>
          <a:prstGeom prst="rect">
            <a:avLst/>
          </a:prstGeom>
        </p:spPr>
      </p:pic>
      <p:sp>
        <p:nvSpPr>
          <p:cNvPr id="17" name="figure caption"/>
          <p:cNvSpPr txBox="1"/>
          <p:nvPr/>
        </p:nvSpPr>
        <p:spPr>
          <a:xfrm>
            <a:off x="4937760" y="2651760"/>
            <a:ext cx="3429000" cy="1097280"/>
          </a:xfrm>
          <a:prstGeom prst="rect">
            <a:avLst/>
          </a:prstGeom>
          <a:noFill/>
        </p:spPr>
        <p:txBody>
          <a:bodyPr wrap="square" lIns="0" rIns="0" tIns="0" bIns="0" anchor="t">
            <a:spAutoFit/>
          </a:bodyPr>
          <a:lstStyle/>
          <a:p>
            <a:pPr algn="l"/>
            <a:r>
              <a:rPr sz="1000" b="0" i="0">
                <a:solidFill>
                  <a:srgbClr val="5B7380"/>
                </a:solidFill>
                <a:latin typeface="Calibri"/>
              </a:rPr>
              <a:t>Voutsinos et al., Sci Adv 2026, Fig. 4: PAP architecture and held-out scatter plots. DOI 10.1126/sciadv.adz3483. CC BY-NC 4.0.</a:t>
            </a:r>
          </a:p>
        </p:txBody>
      </p:sp>
      <p:sp>
        <p:nvSpPr>
          <p:cNvPr id="18" name="permutation panel"/>
          <p:cNvSpPr/>
          <p:nvPr/>
        </p:nvSpPr>
        <p:spPr>
          <a:xfrm>
            <a:off x="8549640" y="1051560"/>
            <a:ext cx="3090672" cy="3108960"/>
          </a:xfrm>
          <a:prstGeom prst="roundRect">
            <a:avLst>
              <a:gd name="adj" fmla="val 2958"/>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permutation title"/>
          <p:cNvSpPr txBox="1"/>
          <p:nvPr/>
        </p:nvSpPr>
        <p:spPr>
          <a:xfrm>
            <a:off x="8686800" y="1097280"/>
            <a:ext cx="2834640" cy="274320"/>
          </a:xfrm>
          <a:prstGeom prst="rect">
            <a:avLst/>
          </a:prstGeom>
          <a:noFill/>
        </p:spPr>
        <p:txBody>
          <a:bodyPr wrap="square" lIns="0" rIns="0" tIns="0" bIns="0" anchor="t">
            <a:spAutoFit/>
          </a:bodyPr>
          <a:lstStyle/>
          <a:p>
            <a:pPr algn="l"/>
            <a:r>
              <a:rPr sz="1250" b="1" i="0">
                <a:solidFill>
                  <a:srgbClr val="15323F"/>
                </a:solidFill>
                <a:latin typeface="Calibri"/>
              </a:rPr>
              <a:t>The permutation test on PAP</a:t>
            </a:r>
          </a:p>
        </p:txBody>
      </p:sp>
      <p:sp>
        <p:nvSpPr>
          <p:cNvPr id="20" name="original residue 1"/>
          <p:cNvSpPr/>
          <p:nvPr/>
        </p:nvSpPr>
        <p:spPr>
          <a:xfrm>
            <a:off x="8686800" y="1508760"/>
            <a:ext cx="201168" cy="201168"/>
          </a:xfrm>
          <a:prstGeom prst="rect">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original residue 2"/>
          <p:cNvSpPr/>
          <p:nvPr/>
        </p:nvSpPr>
        <p:spPr>
          <a:xfrm>
            <a:off x="8915400" y="1508760"/>
            <a:ext cx="201168" cy="20116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original residue 3"/>
          <p:cNvSpPr/>
          <p:nvPr/>
        </p:nvSpPr>
        <p:spPr>
          <a:xfrm>
            <a:off x="9144000" y="1508760"/>
            <a:ext cx="201168" cy="20116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original residue 4"/>
          <p:cNvSpPr/>
          <p:nvPr/>
        </p:nvSpPr>
        <p:spPr>
          <a:xfrm>
            <a:off x="9372600" y="1508760"/>
            <a:ext cx="201168" cy="201168"/>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original residue 5"/>
          <p:cNvSpPr/>
          <p:nvPr/>
        </p:nvSpPr>
        <p:spPr>
          <a:xfrm>
            <a:off x="9601200" y="1508760"/>
            <a:ext cx="201168" cy="201168"/>
          </a:xfrm>
          <a:prstGeom prst="rect">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original residue 6"/>
          <p:cNvSpPr/>
          <p:nvPr/>
        </p:nvSpPr>
        <p:spPr>
          <a:xfrm>
            <a:off x="9829800" y="1508760"/>
            <a:ext cx="201168" cy="201168"/>
          </a:xfrm>
          <a:prstGeom prst="rect">
            <a:avLst/>
          </a:prstGeom>
          <a:solidFill>
            <a:srgbClr val="7A5B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original residue 7"/>
          <p:cNvSpPr/>
          <p:nvPr/>
        </p:nvSpPr>
        <p:spPr>
          <a:xfrm>
            <a:off x="10058400" y="1508760"/>
            <a:ext cx="201168" cy="201168"/>
          </a:xfrm>
          <a:prstGeom prst="rect">
            <a:avLst/>
          </a:prstGeom>
          <a:solidFill>
            <a:srgbClr val="5B7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original residue 8"/>
          <p:cNvSpPr/>
          <p:nvPr/>
        </p:nvSpPr>
        <p:spPr>
          <a:xfrm>
            <a:off x="10287000" y="1508760"/>
            <a:ext cx="201168" cy="20116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original residue 9"/>
          <p:cNvSpPr/>
          <p:nvPr/>
        </p:nvSpPr>
        <p:spPr>
          <a:xfrm>
            <a:off x="10515600" y="1508760"/>
            <a:ext cx="201168" cy="201168"/>
          </a:xfrm>
          <a:prstGeom prst="rect">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original residue 10"/>
          <p:cNvSpPr/>
          <p:nvPr/>
        </p:nvSpPr>
        <p:spPr>
          <a:xfrm>
            <a:off x="10744200" y="1508760"/>
            <a:ext cx="201168" cy="201168"/>
          </a:xfrm>
          <a:prstGeom prst="rect">
            <a:avLst/>
          </a:prstGeom>
          <a:solidFill>
            <a:srgbClr val="7A5B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original residue 11"/>
          <p:cNvSpPr/>
          <p:nvPr/>
        </p:nvSpPr>
        <p:spPr>
          <a:xfrm>
            <a:off x="10972800" y="1508760"/>
            <a:ext cx="201168" cy="201168"/>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original residue 12"/>
          <p:cNvSpPr/>
          <p:nvPr/>
        </p:nvSpPr>
        <p:spPr>
          <a:xfrm>
            <a:off x="11201400" y="1508760"/>
            <a:ext cx="201168" cy="20116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orig label"/>
          <p:cNvSpPr txBox="1"/>
          <p:nvPr/>
        </p:nvSpPr>
        <p:spPr>
          <a:xfrm>
            <a:off x="8686800" y="1755648"/>
            <a:ext cx="2834640" cy="228600"/>
          </a:xfrm>
          <a:prstGeom prst="rect">
            <a:avLst/>
          </a:prstGeom>
          <a:noFill/>
        </p:spPr>
        <p:txBody>
          <a:bodyPr wrap="square" lIns="0" rIns="0" tIns="0" bIns="0" anchor="t">
            <a:spAutoFit/>
          </a:bodyPr>
          <a:lstStyle/>
          <a:p>
            <a:pPr algn="l"/>
            <a:r>
              <a:rPr sz="1000" b="0" i="0">
                <a:solidFill>
                  <a:srgbClr val="5B7380"/>
                </a:solidFill>
                <a:latin typeface="Calibri"/>
              </a:rPr>
              <a:t>original peptide</a:t>
            </a:r>
          </a:p>
        </p:txBody>
      </p:sp>
      <p:sp>
        <p:nvSpPr>
          <p:cNvPr id="33" name="shuffle arrow"/>
          <p:cNvSpPr/>
          <p:nvPr/>
        </p:nvSpPr>
        <p:spPr>
          <a:xfrm>
            <a:off x="9921240" y="2011680"/>
            <a:ext cx="274320" cy="274320"/>
          </a:xfrm>
          <a:prstGeom prst="downArrow">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4" name="shuffle label"/>
          <p:cNvSpPr txBox="1"/>
          <p:nvPr/>
        </p:nvSpPr>
        <p:spPr>
          <a:xfrm>
            <a:off x="10241280" y="2011680"/>
            <a:ext cx="1280160" cy="274320"/>
          </a:xfrm>
          <a:prstGeom prst="rect">
            <a:avLst/>
          </a:prstGeom>
          <a:noFill/>
        </p:spPr>
        <p:txBody>
          <a:bodyPr wrap="square" lIns="0" rIns="0" tIns="0" bIns="0" anchor="t">
            <a:spAutoFit/>
          </a:bodyPr>
          <a:lstStyle/>
          <a:p>
            <a:pPr algn="l"/>
            <a:r>
              <a:rPr sz="1100" b="1" i="0">
                <a:solidFill>
                  <a:srgbClr val="D1495B"/>
                </a:solidFill>
                <a:latin typeface="Calibri"/>
              </a:rPr>
              <a:t>shuffle order</a:t>
            </a:r>
          </a:p>
        </p:txBody>
      </p:sp>
      <p:sp>
        <p:nvSpPr>
          <p:cNvPr id="35" name="shuffled residue 1"/>
          <p:cNvSpPr/>
          <p:nvPr/>
        </p:nvSpPr>
        <p:spPr>
          <a:xfrm>
            <a:off x="8686800" y="2377440"/>
            <a:ext cx="201168" cy="20116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shuffled residue 2"/>
          <p:cNvSpPr/>
          <p:nvPr/>
        </p:nvSpPr>
        <p:spPr>
          <a:xfrm>
            <a:off x="8915400" y="2377440"/>
            <a:ext cx="201168" cy="201168"/>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shuffled residue 3"/>
          <p:cNvSpPr/>
          <p:nvPr/>
        </p:nvSpPr>
        <p:spPr>
          <a:xfrm>
            <a:off x="9144000" y="2377440"/>
            <a:ext cx="201168" cy="201168"/>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shuffled residue 4"/>
          <p:cNvSpPr/>
          <p:nvPr/>
        </p:nvSpPr>
        <p:spPr>
          <a:xfrm>
            <a:off x="9372600" y="2377440"/>
            <a:ext cx="201168" cy="201168"/>
          </a:xfrm>
          <a:prstGeom prst="rect">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shuffled residue 5"/>
          <p:cNvSpPr/>
          <p:nvPr/>
        </p:nvSpPr>
        <p:spPr>
          <a:xfrm>
            <a:off x="9601200" y="2377440"/>
            <a:ext cx="201168" cy="201168"/>
          </a:xfrm>
          <a:prstGeom prst="rect">
            <a:avLst/>
          </a:prstGeom>
          <a:solidFill>
            <a:srgbClr val="7A5B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shuffled residue 6"/>
          <p:cNvSpPr/>
          <p:nvPr/>
        </p:nvSpPr>
        <p:spPr>
          <a:xfrm>
            <a:off x="9829800" y="2377440"/>
            <a:ext cx="201168" cy="20116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shuffled residue 7"/>
          <p:cNvSpPr/>
          <p:nvPr/>
        </p:nvSpPr>
        <p:spPr>
          <a:xfrm>
            <a:off x="10058400" y="2377440"/>
            <a:ext cx="201168" cy="20116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shuffled residue 8"/>
          <p:cNvSpPr/>
          <p:nvPr/>
        </p:nvSpPr>
        <p:spPr>
          <a:xfrm>
            <a:off x="10287000" y="2377440"/>
            <a:ext cx="201168" cy="201168"/>
          </a:xfrm>
          <a:prstGeom prst="rect">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shuffled residue 9"/>
          <p:cNvSpPr/>
          <p:nvPr/>
        </p:nvSpPr>
        <p:spPr>
          <a:xfrm>
            <a:off x="10515600" y="2377440"/>
            <a:ext cx="201168" cy="201168"/>
          </a:xfrm>
          <a:prstGeom prst="rect">
            <a:avLst/>
          </a:prstGeom>
          <a:solidFill>
            <a:srgbClr val="5B7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shuffled residue 10"/>
          <p:cNvSpPr/>
          <p:nvPr/>
        </p:nvSpPr>
        <p:spPr>
          <a:xfrm>
            <a:off x="10744200" y="2377440"/>
            <a:ext cx="201168" cy="20116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shuffled residue 11"/>
          <p:cNvSpPr/>
          <p:nvPr/>
        </p:nvSpPr>
        <p:spPr>
          <a:xfrm>
            <a:off x="10972800" y="2377440"/>
            <a:ext cx="201168" cy="201168"/>
          </a:xfrm>
          <a:prstGeom prst="rect">
            <a:avLst/>
          </a:prstGeom>
          <a:solidFill>
            <a:srgbClr val="7A5B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shuffled residue 12"/>
          <p:cNvSpPr/>
          <p:nvPr/>
        </p:nvSpPr>
        <p:spPr>
          <a:xfrm>
            <a:off x="11201400" y="2377440"/>
            <a:ext cx="201168" cy="201168"/>
          </a:xfrm>
          <a:prstGeom prst="rect">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shuf label"/>
          <p:cNvSpPr txBox="1"/>
          <p:nvPr/>
        </p:nvSpPr>
        <p:spPr>
          <a:xfrm>
            <a:off x="8686800" y="2624328"/>
            <a:ext cx="2834640" cy="228600"/>
          </a:xfrm>
          <a:prstGeom prst="rect">
            <a:avLst/>
          </a:prstGeom>
          <a:noFill/>
        </p:spPr>
        <p:txBody>
          <a:bodyPr wrap="square" lIns="0" rIns="0" tIns="0" bIns="0" anchor="t">
            <a:spAutoFit/>
          </a:bodyPr>
          <a:lstStyle/>
          <a:p>
            <a:pPr algn="l"/>
            <a:r>
              <a:rPr sz="1000" b="0" i="0">
                <a:solidFill>
                  <a:srgbClr val="5B7380"/>
                </a:solidFill>
                <a:latin typeface="Calibri"/>
              </a:rPr>
              <a:t>shuffled peptide</a:t>
            </a:r>
          </a:p>
        </p:txBody>
      </p:sp>
      <p:sp>
        <p:nvSpPr>
          <p:cNvPr id="48" name="score original"/>
          <p:cNvSpPr/>
          <p:nvPr/>
        </p:nvSpPr>
        <p:spPr>
          <a:xfrm>
            <a:off x="8686800" y="3017520"/>
            <a:ext cx="1051560" cy="411480"/>
          </a:xfrm>
          <a:prstGeom prst="roundRect">
            <a:avLst>
              <a:gd name="adj" fmla="val 22222"/>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r>
              <a:rPr sz="1200" b="1" i="0">
                <a:solidFill>
                  <a:srgbClr val="386FA4"/>
                </a:solidFill>
                <a:latin typeface="Calibri"/>
              </a:rPr>
              <a:t>score</a:t>
            </a:r>
          </a:p>
        </p:txBody>
      </p:sp>
      <p:sp>
        <p:nvSpPr>
          <p:cNvPr id="49" name="equals"/>
          <p:cNvSpPr txBox="1"/>
          <p:nvPr/>
        </p:nvSpPr>
        <p:spPr>
          <a:xfrm>
            <a:off x="9738360" y="2999232"/>
            <a:ext cx="502920" cy="457200"/>
          </a:xfrm>
          <a:prstGeom prst="rect">
            <a:avLst/>
          </a:prstGeom>
          <a:noFill/>
        </p:spPr>
        <p:txBody>
          <a:bodyPr wrap="square" lIns="0" rIns="0" tIns="0" bIns="0" anchor="t">
            <a:spAutoFit/>
          </a:bodyPr>
          <a:lstStyle/>
          <a:p>
            <a:pPr algn="ctr"/>
            <a:r>
              <a:rPr sz="2800" b="1" i="0">
                <a:solidFill>
                  <a:srgbClr val="D1495B"/>
                </a:solidFill>
                <a:latin typeface="Calibri"/>
              </a:rPr>
              <a:t>=</a:t>
            </a:r>
          </a:p>
        </p:txBody>
      </p:sp>
      <p:sp>
        <p:nvSpPr>
          <p:cNvPr id="50" name="score shuffled"/>
          <p:cNvSpPr/>
          <p:nvPr/>
        </p:nvSpPr>
        <p:spPr>
          <a:xfrm>
            <a:off x="10241280" y="3017520"/>
            <a:ext cx="1051560" cy="411480"/>
          </a:xfrm>
          <a:prstGeom prst="roundRect">
            <a:avLst>
              <a:gd name="adj" fmla="val 22222"/>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r>
              <a:rPr sz="1200" b="1" i="0">
                <a:solidFill>
                  <a:srgbClr val="386FA4"/>
                </a:solidFill>
                <a:latin typeface="Calibri"/>
              </a:rPr>
              <a:t>score</a:t>
            </a:r>
          </a:p>
        </p:txBody>
      </p:sp>
      <p:sp>
        <p:nvSpPr>
          <p:cNvPr id="51" name="pearson"/>
          <p:cNvSpPr txBox="1"/>
          <p:nvPr/>
        </p:nvSpPr>
        <p:spPr>
          <a:xfrm>
            <a:off x="8686800" y="3520440"/>
            <a:ext cx="2834640" cy="548640"/>
          </a:xfrm>
          <a:prstGeom prst="rect">
            <a:avLst/>
          </a:prstGeom>
          <a:noFill/>
        </p:spPr>
        <p:txBody>
          <a:bodyPr wrap="square" lIns="0" rIns="0" tIns="0" bIns="0" anchor="t">
            <a:spAutoFit/>
          </a:bodyPr>
          <a:lstStyle/>
          <a:p>
            <a:pPr algn="l"/>
            <a:r>
              <a:rPr sz="1150" b="1" i="0">
                <a:solidFill>
                  <a:srgbClr val="D1495B"/>
                </a:solidFill>
                <a:latin typeface="Calibri"/>
              </a:rPr>
              <a:t>Pearson(original, shuffled) = 1.000000</a:t>
            </a:r>
          </a:p>
          <a:p>
            <a:pPr algn="l"/>
            <a:r>
              <a:rPr sz="1000" b="0" i="0">
                <a:solidFill>
                  <a:srgbClr val="5B7380"/>
                </a:solidFill>
                <a:latin typeface="Calibri"/>
              </a:rPr>
              <a:t>own measurement</a:t>
            </a:r>
          </a:p>
        </p:txBody>
      </p:sp>
      <p:graphicFrame>
        <p:nvGraphicFramePr>
          <p:cNvPr id="52" name="limitations"/>
          <p:cNvGraphicFramePr>
            <a:graphicFrameLocks noGrp="1"/>
          </p:cNvGraphicFramePr>
          <p:nvPr/>
        </p:nvGraphicFramePr>
        <p:xfrm>
          <a:off x="548640" y="4343400"/>
          <a:ext cx="11091672" cy="1402080"/>
        </p:xfrm>
        <a:graphic>
          <a:graphicData uri="http://schemas.openxmlformats.org/drawingml/2006/table">
            <a:tbl>
              <a:tblPr firstRow="0" bandRow="0">
                <a:tableStyleId>{2D5ABB26-0587-4C30-8999-92F81FD0307C}</a:tableStyleId>
              </a:tblPr>
              <a:tblGrid>
                <a:gridCol w="2011680"/>
                <a:gridCol w="9079992"/>
              </a:tblGrid>
              <a:tr h="274320">
                <a:tc>
                  <a:txBody>
                    <a:bodyPr wrap="square"/>
                    <a:lstStyle/>
                    <a:p>
                      <a:pPr algn="l"/>
                      <a:r>
                        <a:rPr sz="1100" b="1" i="0">
                          <a:solidFill>
                            <a:srgbClr val="FAFBFC"/>
                          </a:solidFill>
                          <a:latin typeface="Calibri"/>
                        </a:rPr>
                        <a:t>Work</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00" b="1" i="0">
                          <a:solidFill>
                            <a:srgbClr val="FAFBFC"/>
                          </a:solidFill>
                          <a:latin typeface="Calibri"/>
                        </a:rPr>
                        <a:t>Limitation relevant to the residue-level question</a:t>
                      </a:r>
                    </a:p>
                  </a:txBody>
                  <a:tcPr marL="54864" marR="54864" marT="27432" marB="27432" anchor="ctr">
                    <a:lnL w="0">
                      <a:noFill/>
                    </a:lnL>
                    <a:lnR w="0">
                      <a:noFill/>
                    </a:lnR>
                    <a:lnT w="0">
                      <a:noFill/>
                    </a:lnT>
                    <a:lnB w="6350">
                      <a:solidFill>
                        <a:srgbClr val="DDE4E8"/>
                      </a:solidFill>
                    </a:lnB>
                    <a:solidFill>
                      <a:srgbClr val="15323F"/>
                    </a:solidFill>
                  </a:tcPr>
                </a:tc>
              </a:tr>
              <a:tr h="274320">
                <a:tc>
                  <a:txBody>
                    <a:bodyPr wrap="square"/>
                    <a:lstStyle/>
                    <a:p>
                      <a:pPr algn="l"/>
                      <a:r>
                        <a:rPr sz="1100" b="1" i="0">
                          <a:solidFill>
                            <a:srgbClr val="15323F"/>
                          </a:solidFill>
                          <a:latin typeface="Calibri"/>
                        </a:rPr>
                        <a:t>Zhang SVM, PAP, Larsen</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Prediction unit is the whole peptide or tile: one score per segment, so no ranking of residues within it</a:t>
                      </a:r>
                    </a:p>
                  </a:txBody>
                  <a:tcPr marL="54864" marR="54864" marT="27432" marB="27432" anchor="ctr">
                    <a:lnL w="0">
                      <a:noFill/>
                    </a:lnL>
                    <a:lnR w="0">
                      <a:noFill/>
                    </a:lnR>
                    <a:lnT w="0">
                      <a:noFill/>
                    </a:lnT>
                    <a:lnB w="6350">
                      <a:solidFill>
                        <a:srgbClr val="DDE4E8"/>
                      </a:solidFill>
                    </a:lnB>
                    <a:solidFill>
                      <a:srgbClr val="FFFFFF"/>
                    </a:solidFill>
                  </a:tcPr>
                </a:tc>
              </a:tr>
              <a:tr h="426720">
                <a:tc>
                  <a:txBody>
                    <a:bodyPr wrap="square"/>
                    <a:lstStyle/>
                    <a:p>
                      <a:pPr algn="l"/>
                      <a:r>
                        <a:rPr sz="1100" b="1" i="0">
                          <a:solidFill>
                            <a:srgbClr val="15323F"/>
                          </a:solidFill>
                          <a:latin typeface="Calibri"/>
                        </a:rPr>
                        <a:t>PAP specifically</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Internal channel is Conv1D(kernel=1) + global average pooling → permutation-invariant: shuffling residue order leaves its score unchanged (own measurement)</a:t>
                      </a:r>
                    </a:p>
                  </a:txBody>
                  <a:tcPr marL="54864" marR="54864" marT="27432" marB="27432" anchor="ctr">
                    <a:lnL w="0">
                      <a:noFill/>
                    </a:lnL>
                    <a:lnR w="0">
                      <a:noFill/>
                    </a:lnR>
                    <a:lnT w="0">
                      <a:noFill/>
                    </a:lnT>
                    <a:lnB w="6350">
                      <a:solidFill>
                        <a:srgbClr val="DDE4E8"/>
                      </a:solidFill>
                    </a:lnB>
                    <a:solidFill>
                      <a:srgbClr val="F4F7F8"/>
                    </a:solidFill>
                  </a:tcPr>
                </a:tc>
              </a:tr>
              <a:tr h="426720">
                <a:tc>
                  <a:txBody>
                    <a:bodyPr wrap="square"/>
                    <a:lstStyle/>
                    <a:p>
                      <a:pPr algn="l"/>
                      <a:r>
                        <a:rPr sz="1100" b="1" i="0">
                          <a:solidFill>
                            <a:srgbClr val="15323F"/>
                          </a:solidFill>
                          <a:latin typeface="Calibri"/>
                        </a:rPr>
                        <a:t>Degformer</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Random train/test split with 4.09% identical-sequence leakage; duplicate sequences with conflicting labels; the head reads the CLS token only, so the matrix is assembled from 532 forward passes; blind test set absent from the repo, so headline numbers are not reproducible</a:t>
                      </a:r>
                    </a:p>
                  </a:txBody>
                  <a:tcPr marL="54864" marR="54864" marT="27432" marB="27432" anchor="ctr">
                    <a:lnL w="0">
                      <a:noFill/>
                    </a:lnL>
                    <a:lnR w="0">
                      <a:noFill/>
                    </a:lnR>
                    <a:lnT w="0">
                      <a:noFill/>
                    </a:lnT>
                    <a:lnB w="6350">
                      <a:solidFill>
                        <a:srgbClr val="DDE4E8"/>
                      </a:solidFill>
                    </a:lnB>
                    <a:solidFill>
                      <a:srgbClr val="FFFFFF"/>
                    </a:solidFill>
                  </a:tcPr>
                </a:tc>
              </a:tr>
            </a:tbl>
          </a:graphicData>
        </a:graphic>
      </p:graphicFrame>
      <p:sp>
        <p:nvSpPr>
          <p:cNvPr id="53" name="evidence label"/>
          <p:cNvSpPr txBox="1"/>
          <p:nvPr/>
        </p:nvSpPr>
        <p:spPr>
          <a:xfrm>
            <a:off x="548640" y="6016752"/>
            <a:ext cx="11094415" cy="310896"/>
          </a:xfrm>
          <a:prstGeom prst="rect">
            <a:avLst/>
          </a:prstGeom>
          <a:noFill/>
        </p:spPr>
        <p:txBody>
          <a:bodyPr wrap="square" lIns="0" rIns="0" tIns="0" bIns="0" anchor="t">
            <a:spAutoFit/>
          </a:bodyPr>
          <a:lstStyle/>
          <a:p>
            <a:pPr algn="l"/>
            <a:r>
              <a:rPr sz="1000" b="0" i="0">
                <a:solidFill>
                  <a:srgbClr val="5B7380"/>
                </a:solidFill>
                <a:latin typeface="Calibri"/>
              </a:rPr>
              <a:t>PAP architecture and permutation test: own re-implementation of the authors' MIT-licensed code. Degformer: own reading of its full source and own leakage measurement on its shipped CSV.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stCondLst>
                      <p:childTnLst>
                        <p:par>
                          <p:cTn id="4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3"/>
                                        </p:tgtEl>
                                        <p:attrNameLst>
                                          <p:attrName>style.visibility</p:attrName>
                                        </p:attrNameLst>
                                      </p:cBhvr>
                                      <p:to>
                                        <p:strVal val="visible"/>
                                      </p:to>
                                    </p:set>
                                    <p:animEffect transition="in" filter="fade">
                                      <p:cBhvr>
                                        <p:cTn id="5" dur="500"/>
                                        <p:tgtEl>
                                          <p:spTgt spid="33"/>
                                        </p:tgtEl>
                                      </p:cBhvr>
                                    </p:animEffect>
                                  </p:childTnLst>
                                </p:cTn>
                              </p:par>
                              <p:par>
                                <p:cTn id="6" presetID="10" presetClass="entr" presetSubtype="0" fill="hold" nodeType="withEffect">
                                  <p:stCondLst>
                                    <p:cond delay="0"/>
                                  </p:stCondLst>
                                  <p:childTnLst>
                                    <p:set>
                                      <p:cBhvr>
                                        <p:cTn id="7" dur="1" fill="hold">
                                          <p:stCondLst>
                                            <p:cond delay="0"/>
                                          </p:stCondLst>
                                        </p:cTn>
                                        <p:tgtEl>
                                          <p:spTgt spid="34"/>
                                        </p:tgtEl>
                                        <p:attrNameLst>
                                          <p:attrName>style.visibility</p:attrName>
                                        </p:attrNameLst>
                                      </p:cBhvr>
                                      <p:to>
                                        <p:strVal val="visible"/>
                                      </p:to>
                                    </p:set>
                                    <p:animEffect transition="in" filter="fade">
                                      <p:cBhvr>
                                        <p:cTn id="8" dur="500"/>
                                        <p:tgtEl>
                                          <p:spTgt spid="34"/>
                                        </p:tgtEl>
                                      </p:cBhvr>
                                    </p:animEffect>
                                  </p:childTnLst>
                                </p:cTn>
                              </p:par>
                              <p:par>
                                <p:cTn id="9" presetID="10"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10" presetClass="entr" presetSubtype="0" fill="hold" nodeType="with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fade">
                                      <p:cBhvr>
                                        <p:cTn id="14" dur="500"/>
                                        <p:tgtEl>
                                          <p:spTgt spid="36"/>
                                        </p:tgtEl>
                                      </p:cBhvr>
                                    </p:animEffect>
                                  </p:childTnLst>
                                </p:cTn>
                              </p:par>
                              <p:par>
                                <p:cTn id="15" presetID="10"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par>
                                <p:cTn id="18" presetID="10" presetClass="entr" presetSubtype="0" fill="hold" nodeType="with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par>
                                <p:cTn id="21" presetID="10"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500"/>
                                        <p:tgtEl>
                                          <p:spTgt spid="39"/>
                                        </p:tgtEl>
                                      </p:cBhvr>
                                    </p:animEffect>
                                  </p:childTnLst>
                                </p:cTn>
                              </p:par>
                              <p:par>
                                <p:cTn id="24" presetID="10" presetClass="entr" presetSubtype="0" fill="hold"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500"/>
                                        <p:tgtEl>
                                          <p:spTgt spid="40"/>
                                        </p:tgtEl>
                                      </p:cBhvr>
                                    </p:animEffect>
                                  </p:childTnLst>
                                </p:cTn>
                              </p:par>
                              <p:par>
                                <p:cTn id="27" presetID="10" presetClass="entr" presetSubtype="0"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500"/>
                                        <p:tgtEl>
                                          <p:spTgt spid="41"/>
                                        </p:tgtEl>
                                      </p:cBhvr>
                                    </p:animEffect>
                                  </p:childTnLst>
                                </p:cTn>
                              </p:par>
                              <p:par>
                                <p:cTn id="30" presetID="10" presetClass="entr" presetSubtype="0" fill="hold"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par>
                                <p:cTn id="33" presetID="10"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500"/>
                                        <p:tgtEl>
                                          <p:spTgt spid="43"/>
                                        </p:tgtEl>
                                      </p:cBhvr>
                                    </p:animEffect>
                                  </p:childTnLst>
                                </p:cTn>
                              </p:par>
                              <p:par>
                                <p:cTn id="36" presetID="10" presetClass="entr" presetSubtype="0" fill="hold" nodeType="with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500"/>
                                        <p:tgtEl>
                                          <p:spTgt spid="44"/>
                                        </p:tgtEl>
                                      </p:cBhvr>
                                    </p:animEffect>
                                  </p:childTnLst>
                                </p:cTn>
                              </p:par>
                              <p:par>
                                <p:cTn id="39" presetID="10" presetClass="entr" presetSubtype="0" fill="hold" nodeType="with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500"/>
                                        <p:tgtEl>
                                          <p:spTgt spid="45"/>
                                        </p:tgtEl>
                                      </p:cBhvr>
                                    </p:animEffect>
                                  </p:childTnLst>
                                </p:cTn>
                              </p:par>
                              <p:par>
                                <p:cTn id="42" presetID="10" presetClass="entr" presetSubtype="0" fill="hold" nodeType="with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fade">
                                      <p:cBhvr>
                                        <p:cTn id="44" dur="500"/>
                                        <p:tgtEl>
                                          <p:spTgt spid="46"/>
                                        </p:tgtEl>
                                      </p:cBhvr>
                                    </p:animEffect>
                                  </p:childTnLst>
                                </p:cTn>
                              </p:par>
                            </p:childTnLst>
                          </p:cTn>
                        </p:par>
                      </p:childTnLst>
                    </p:cTn>
                  </p:par>
                  <p:par>
                    <p:cTn id="59" fill="hold">
                      <p:stCondLst>
                        <p:cond delay="indefinite"/>
                      </p:stCondLst>
                      <p:childTnLst>
                        <p:par>
                          <p:cTn id="60"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fade">
                                      <p:cBhvr>
                                        <p:cTn id="49" dur="500"/>
                                        <p:tgtEl>
                                          <p:spTgt spid="48"/>
                                        </p:tgtEl>
                                      </p:cBhvr>
                                    </p:animEffect>
                                  </p:childTnLst>
                                </p:cTn>
                              </p:par>
                              <p:par>
                                <p:cTn id="50" presetID="10" presetClass="entr" presetSubtype="0" fill="hold" nodeType="with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fade">
                                      <p:cBhvr>
                                        <p:cTn id="52" dur="500"/>
                                        <p:tgtEl>
                                          <p:spTgt spid="49"/>
                                        </p:tgtEl>
                                      </p:cBhvr>
                                    </p:animEffect>
                                  </p:childTnLst>
                                </p:cTn>
                              </p:par>
                              <p:par>
                                <p:cTn id="53" presetID="10" presetClass="entr" presetSubtype="0" fill="hold" nodeType="with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fade">
                                      <p:cBhvr>
                                        <p:cTn id="55" dur="500"/>
                                        <p:tgtEl>
                                          <p:spTgt spid="50"/>
                                        </p:tgtEl>
                                      </p:cBhvr>
                                    </p:animEffect>
                                  </p:childTnLst>
                                </p:cTn>
                              </p:par>
                              <p:par>
                                <p:cTn id="56" presetID="10" presetClass="entr" presetSubtype="0" fill="hold" nodeType="with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fade">
                                      <p:cBhvr>
                                        <p:cTn id="5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500" b="1">
                <a:solidFill>
                  <a:srgbClr val="15323F"/>
                </a:solidFill>
                <a:latin typeface="Calibri"/>
              </a:rPr>
              <a:t>Group 3: adjacent models ask other questions but set the bar for evidence</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11</a:t>
            </a:r>
          </a:p>
        </p:txBody>
      </p:sp>
      <p:graphicFrame>
        <p:nvGraphicFramePr>
          <p:cNvPr id="15" name="adjacent models"/>
          <p:cNvGraphicFramePr>
            <a:graphicFrameLocks noGrp="1"/>
          </p:cNvGraphicFramePr>
          <p:nvPr/>
        </p:nvGraphicFramePr>
        <p:xfrm>
          <a:off x="548640" y="1097280"/>
          <a:ext cx="11091672" cy="1950717"/>
        </p:xfrm>
        <a:graphic>
          <a:graphicData uri="http://schemas.openxmlformats.org/drawingml/2006/table">
            <a:tbl>
              <a:tblPr firstRow="0" bandRow="0">
                <a:tableStyleId>{2D5ABB26-0587-4C30-8999-92F81FD0307C}</a:tableStyleId>
              </a:tblPr>
              <a:tblGrid>
                <a:gridCol w="2743200"/>
                <a:gridCol w="3291840"/>
                <a:gridCol w="5056632"/>
              </a:tblGrid>
              <a:tr h="274320">
                <a:tc>
                  <a:txBody>
                    <a:bodyPr wrap="square"/>
                    <a:lstStyle/>
                    <a:p>
                      <a:pPr algn="l"/>
                      <a:r>
                        <a:rPr sz="1150" b="1" i="0">
                          <a:solidFill>
                            <a:srgbClr val="FAFBFC"/>
                          </a:solidFill>
                          <a:latin typeface="Calibri"/>
                        </a:rPr>
                        <a:t>Work</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What it predicts</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Relation to this thesis</a:t>
                      </a:r>
                    </a:p>
                  </a:txBody>
                  <a:tcPr marL="54864" marR="54864" marT="27432" marB="27432" anchor="ctr">
                    <a:lnL w="0">
                      <a:noFill/>
                    </a:lnL>
                    <a:lnR w="0">
                      <a:noFill/>
                    </a:lnR>
                    <a:lnT w="0">
                      <a:noFill/>
                    </a:lnT>
                    <a:lnB w="6350">
                      <a:solidFill>
                        <a:srgbClr val="DDE4E8"/>
                      </a:solidFill>
                    </a:lnB>
                    <a:solidFill>
                      <a:srgbClr val="15323F"/>
                    </a:solidFill>
                  </a:tcPr>
                </a:tc>
              </a:tr>
              <a:tr h="441959">
                <a:tc>
                  <a:txBody>
                    <a:bodyPr wrap="square"/>
                    <a:lstStyle/>
                    <a:p>
                      <a:pPr algn="l"/>
                      <a:r>
                        <a:rPr sz="1150" b="1" i="0">
                          <a:solidFill>
                            <a:srgbClr val="15323F"/>
                          </a:solidFill>
                          <a:latin typeface="Calibri"/>
                        </a:rPr>
                        <a:t>AlphaMissense (2023, Science)</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whether a missense variant is pathogenic</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Different question: pathogenicity, no mechanism. This thesis adds a mechanism; it does not replace it</a:t>
                      </a:r>
                    </a:p>
                  </a:txBody>
                  <a:tcPr marL="54864" marR="54864" marT="27432" marB="27432" anchor="ctr">
                    <a:lnL w="0">
                      <a:noFill/>
                    </a:lnL>
                    <a:lnR w="0">
                      <a:noFill/>
                    </a:lnR>
                    <a:lnT w="0">
                      <a:noFill/>
                    </a:lnT>
                    <a:lnB w="6350">
                      <a:solidFill>
                        <a:srgbClr val="DDE4E8"/>
                      </a:solidFill>
                    </a:lnB>
                    <a:solidFill>
                      <a:srgbClr val="FFFFFF"/>
                    </a:solidFill>
                  </a:tcPr>
                </a:tc>
              </a:tr>
              <a:tr h="617219">
                <a:tc>
                  <a:txBody>
                    <a:bodyPr wrap="square"/>
                    <a:lstStyle/>
                    <a:p>
                      <a:pPr algn="l"/>
                      <a:r>
                        <a:rPr sz="1150" b="1" i="0">
                          <a:solidFill>
                            <a:srgbClr val="15323F"/>
                          </a:solidFill>
                          <a:latin typeface="Calibri"/>
                        </a:rPr>
                        <a:t>Schulze &amp; Lindorff-Larsen (2026, eLife)</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effect of substitutions on cellular abundance (6 VAMP-seq experiments, 31,614 variants)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Substitution matrices conditioned only on buried vs exposed already predict abundance well and are proposed as a strong baseline; rASA alone gives Spearman 0.45</a:t>
                      </a:r>
                    </a:p>
                  </a:txBody>
                  <a:tcPr marL="54864" marR="54864" marT="27432" marB="27432" anchor="ctr">
                    <a:lnL w="0">
                      <a:noFill/>
                    </a:lnL>
                    <a:lnR w="0">
                      <a:noFill/>
                    </a:lnR>
                    <a:lnT w="0">
                      <a:noFill/>
                    </a:lnT>
                    <a:lnB w="6350">
                      <a:solidFill>
                        <a:srgbClr val="DDE4E8"/>
                      </a:solidFill>
                    </a:lnB>
                    <a:solidFill>
                      <a:srgbClr val="F4F7F8"/>
                    </a:solidFill>
                  </a:tcPr>
                </a:tc>
              </a:tr>
              <a:tr h="617219">
                <a:tc>
                  <a:txBody>
                    <a:bodyPr wrap="square"/>
                    <a:lstStyle/>
                    <a:p>
                      <a:pPr algn="l"/>
                      <a:r>
                        <a:rPr sz="1150" b="1" i="0">
                          <a:solidFill>
                            <a:srgbClr val="15323F"/>
                          </a:solidFill>
                          <a:latin typeface="Calibri"/>
                        </a:rPr>
                        <a:t>LeBlanc et al. (2026, Cell Systems)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activation-domain strength on a tile library; separates abundance from coactivator binding</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Not a degron paper, but sets the methodological bar: weight stability across seeds and bootstraps, comparison with the replicate ceiling (best model 0.555 vs ceiling 0.568), split by protein cluster</a:t>
                      </a:r>
                    </a:p>
                  </a:txBody>
                  <a:tcPr marL="54864" marR="54864" marT="27432" marB="27432" anchor="ctr">
                    <a:lnL w="0">
                      <a:noFill/>
                    </a:lnL>
                    <a:lnR w="0">
                      <a:noFill/>
                    </a:lnR>
                    <a:lnT w="0">
                      <a:noFill/>
                    </a:lnT>
                    <a:lnB w="6350">
                      <a:solidFill>
                        <a:srgbClr val="DDE4E8"/>
                      </a:solidFill>
                    </a:lnB>
                    <a:solidFill>
                      <a:srgbClr val="FFFFFF"/>
                    </a:solidFill>
                  </a:tcPr>
                </a:tc>
              </a:tr>
            </a:tbl>
          </a:graphicData>
        </a:graphic>
      </p:graphicFrame>
      <p:sp>
        <p:nvSpPr>
          <p:cNvPr id="16" name="question 1"/>
          <p:cNvSpPr/>
          <p:nvPr/>
        </p:nvSpPr>
        <p:spPr>
          <a:xfrm>
            <a:off x="548640" y="3322319"/>
            <a:ext cx="2670048" cy="914400"/>
          </a:xfrm>
          <a:prstGeom prst="roundRect">
            <a:avLst>
              <a:gd name="adj" fmla="val 10000"/>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1" i="0">
                <a:solidFill>
                  <a:srgbClr val="386FA4"/>
                </a:solidFill>
                <a:latin typeface="Calibri"/>
              </a:rPr>
              <a:t>AlphaMissense</a:t>
            </a:r>
          </a:p>
          <a:p>
            <a:pPr algn="l"/>
            <a:r>
              <a:rPr sz="1400" b="1" i="0">
                <a:solidFill>
                  <a:srgbClr val="15323F"/>
                </a:solidFill>
                <a:latin typeface="Calibri"/>
              </a:rPr>
              <a:t>Is it pathogenic?</a:t>
            </a:r>
          </a:p>
        </p:txBody>
      </p:sp>
      <p:sp>
        <p:nvSpPr>
          <p:cNvPr id="17" name="question 2"/>
          <p:cNvSpPr/>
          <p:nvPr/>
        </p:nvSpPr>
        <p:spPr>
          <a:xfrm>
            <a:off x="3346704" y="3322319"/>
            <a:ext cx="2670048" cy="914400"/>
          </a:xfrm>
          <a:prstGeom prst="roundRect">
            <a:avLst>
              <a:gd name="adj" fmla="val 10000"/>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1" i="0">
                <a:solidFill>
                  <a:srgbClr val="386FA4"/>
                </a:solidFill>
                <a:latin typeface="Calibri"/>
              </a:rPr>
              <a:t>Schulze &amp; Lindorff-Larsen</a:t>
            </a:r>
          </a:p>
          <a:p>
            <a:pPr algn="l"/>
            <a:r>
              <a:rPr sz="1400" b="1" i="0">
                <a:solidFill>
                  <a:srgbClr val="15323F"/>
                </a:solidFill>
                <a:latin typeface="Calibri"/>
              </a:rPr>
              <a:t>How abundant is it?</a:t>
            </a:r>
          </a:p>
        </p:txBody>
      </p:sp>
      <p:sp>
        <p:nvSpPr>
          <p:cNvPr id="18" name="question 3"/>
          <p:cNvSpPr/>
          <p:nvPr/>
        </p:nvSpPr>
        <p:spPr>
          <a:xfrm>
            <a:off x="6144768" y="3322319"/>
            <a:ext cx="2670048" cy="914400"/>
          </a:xfrm>
          <a:prstGeom prst="roundRect">
            <a:avLst>
              <a:gd name="adj" fmla="val 10000"/>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1" i="0">
                <a:solidFill>
                  <a:srgbClr val="386FA4"/>
                </a:solidFill>
                <a:latin typeface="Calibri"/>
              </a:rPr>
              <a:t>LeBlanc et al.</a:t>
            </a:r>
          </a:p>
          <a:p>
            <a:pPr algn="l"/>
            <a:r>
              <a:rPr sz="1400" b="1" i="0">
                <a:solidFill>
                  <a:srgbClr val="15323F"/>
                </a:solidFill>
                <a:latin typeface="Calibri"/>
              </a:rPr>
              <a:t>How strong an activation domain?</a:t>
            </a:r>
          </a:p>
        </p:txBody>
      </p:sp>
      <p:sp>
        <p:nvSpPr>
          <p:cNvPr id="19" name="question 4"/>
          <p:cNvSpPr/>
          <p:nvPr/>
        </p:nvSpPr>
        <p:spPr>
          <a:xfrm>
            <a:off x="8942832" y="3322319"/>
            <a:ext cx="2670048" cy="914400"/>
          </a:xfrm>
          <a:prstGeom prst="roundRect">
            <a:avLst>
              <a:gd name="adj" fmla="val 10000"/>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1" i="0">
                <a:solidFill>
                  <a:srgbClr val="D1495B"/>
                </a:solidFill>
                <a:latin typeface="Calibri"/>
              </a:rPr>
              <a:t>This thesis</a:t>
            </a:r>
          </a:p>
          <a:p>
            <a:pPr algn="l"/>
            <a:r>
              <a:rPr sz="1400" b="1" i="0">
                <a:solidFill>
                  <a:srgbClr val="15323F"/>
                </a:solidFill>
                <a:latin typeface="Calibri"/>
              </a:rPr>
              <a:t>Which residue controls degradation?</a:t>
            </a:r>
          </a:p>
        </p:txBody>
      </p:sp>
      <p:sp>
        <p:nvSpPr>
          <p:cNvPr id="20" name="axis label"/>
          <p:cNvSpPr txBox="1"/>
          <p:nvPr/>
        </p:nvSpPr>
        <p:spPr>
          <a:xfrm>
            <a:off x="548640" y="4282439"/>
            <a:ext cx="11064240" cy="274320"/>
          </a:xfrm>
          <a:prstGeom prst="rect">
            <a:avLst/>
          </a:prstGeom>
          <a:noFill/>
        </p:spPr>
        <p:txBody>
          <a:bodyPr wrap="square" lIns="0" rIns="0" tIns="0" bIns="0" anchor="t">
            <a:spAutoFit/>
          </a:bodyPr>
          <a:lstStyle/>
          <a:p>
            <a:pPr algn="l"/>
            <a:r>
              <a:rPr sz="1000" b="0" i="0">
                <a:solidFill>
                  <a:srgbClr val="5B7380"/>
                </a:solidFill>
                <a:latin typeface="Calibri"/>
              </a:rPr>
              <a:t>what is predicted</a:t>
            </a:r>
          </a:p>
        </p:txBody>
      </p:sp>
      <p:sp>
        <p:nvSpPr>
          <p:cNvPr id="21" name="conventions"/>
          <p:cNvSpPr/>
          <p:nvPr/>
        </p:nvSpPr>
        <p:spPr>
          <a:xfrm>
            <a:off x="548640" y="4693920"/>
            <a:ext cx="11091672" cy="640080"/>
          </a:xfrm>
          <a:prstGeom prst="roundRect">
            <a:avLst>
              <a:gd name="adj" fmla="val 14285"/>
            </a:avLst>
          </a:prstGeom>
          <a:solidFill>
            <a:srgbClr val="EEF2F4"/>
          </a:solidFill>
          <a:ln w="12700">
            <a:solidFill>
              <a:srgbClr val="8FA3A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68580" bIns="68580"/>
          <a:lstStyle/>
          <a:p>
            <a:pPr algn="l"/>
            <a:r>
              <a:rPr sz="1300" b="1" i="0">
                <a:solidFill>
                  <a:srgbClr val="15323F"/>
                </a:solidFill>
                <a:latin typeface="Calibri"/>
              </a:rPr>
              <a:t>Evaluation conventions we adopt (following LeBlanc et al. 2026): </a:t>
            </a:r>
            <a:r>
              <a:rPr sz="1300" b="0" i="0">
                <a:solidFill>
                  <a:srgbClr val="15323F"/>
                </a:solidFill>
                <a:latin typeface="Calibri"/>
              </a:rPr>
              <a:t>simple structural baseline · replicate ceiling next to every number · protein-cluster split · seed stability</a:t>
            </a:r>
          </a:p>
        </p:txBody>
      </p:sp>
      <p:sp>
        <p:nvSpPr>
          <p:cNvPr id="22" name="evidence label"/>
          <p:cNvSpPr txBox="1"/>
          <p:nvPr/>
        </p:nvSpPr>
        <p:spPr>
          <a:xfrm>
            <a:off x="548640" y="6035040"/>
            <a:ext cx="11094415" cy="310896"/>
          </a:xfrm>
          <a:prstGeom prst="rect">
            <a:avLst/>
          </a:prstGeom>
          <a:noFill/>
        </p:spPr>
        <p:txBody>
          <a:bodyPr wrap="square" lIns="0" rIns="0" tIns="0" bIns="0" anchor="t">
            <a:spAutoFit/>
          </a:bodyPr>
          <a:lstStyle/>
          <a:p>
            <a:pPr algn="l"/>
            <a:r>
              <a:rPr sz="1000" b="0" i="0">
                <a:solidFill>
                  <a:srgbClr val="5B7380"/>
                </a:solidFill>
                <a:latin typeface="Calibri"/>
              </a:rPr>
              <a:t>Schulze &amp; Lindorff-Larsen, eLife 13, DOI 10.7554/eLife.103721 · LeBlanc et al., Cell Systems 17(9):101701, DOI 10.1016/j.cels.2026.101701 (both read in full).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par>
                                <p:cTn id="6" presetID="10" presetClass="entr" presetSubtype="0" fill="hold"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5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500" b="1">
                <a:solidFill>
                  <a:srgbClr val="15323F"/>
                </a:solidFill>
                <a:latin typeface="Calibri"/>
              </a:rPr>
              <a:t>The gap is provable: a composition-only model cannot rank residues inside a degron</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12</a:t>
            </a:r>
          </a:p>
        </p:txBody>
      </p:sp>
      <p:sp>
        <p:nvSpPr>
          <p:cNvPr id="15" name="lead"/>
          <p:cNvSpPr txBox="1"/>
          <p:nvPr/>
        </p:nvSpPr>
        <p:spPr>
          <a:xfrm>
            <a:off x="548640" y="1024128"/>
            <a:ext cx="6035040" cy="685800"/>
          </a:xfrm>
          <a:prstGeom prst="rect">
            <a:avLst/>
          </a:prstGeom>
          <a:noFill/>
        </p:spPr>
        <p:txBody>
          <a:bodyPr wrap="square" lIns="0" rIns="0" tIns="0" bIns="0" anchor="t">
            <a:spAutoFit/>
          </a:bodyPr>
          <a:lstStyle/>
          <a:p>
            <a:pPr algn="l"/>
            <a:r>
              <a:rPr sz="1300" b="0" i="1">
                <a:solidFill>
                  <a:srgbClr val="386FA4"/>
                </a:solidFill>
                <a:latin typeface="Calibri"/>
              </a:rPr>
              <a:t>PAP is not a bad model: it was trained for a segment-level score. Using it for residue-level effects is using it outside its design.</a:t>
            </a:r>
          </a:p>
        </p:txBody>
      </p:sp>
      <p:sp>
        <p:nvSpPr>
          <p:cNvPr id="16" name="argument"/>
          <p:cNvSpPr txBox="1"/>
          <p:nvPr/>
        </p:nvSpPr>
        <p:spPr>
          <a:xfrm>
            <a:off x="548640" y="1755648"/>
            <a:ext cx="6035040" cy="1737360"/>
          </a:xfrm>
          <a:prstGeom prst="rect">
            <a:avLst/>
          </a:prstGeom>
          <a:noFill/>
        </p:spPr>
        <p:txBody>
          <a:bodyPr wrap="square" lIns="0" rIns="0" tIns="0" bIns="0" anchor="t">
            <a:spAutoFit/>
          </a:bodyPr>
          <a:lstStyle/>
          <a:p>
            <a:pPr algn="l"/>
            <a:r>
              <a:rPr sz="1300" b="1" i="0">
                <a:solidFill>
                  <a:srgbClr val="15323F"/>
                </a:solidFill>
                <a:latin typeface="Calibri"/>
              </a:rPr>
              <a:t>The argument</a:t>
            </a:r>
          </a:p>
          <a:p>
            <a:pPr algn="l" marL="182880" indent="-182880">
              <a:spcBef>
                <a:spcPts val="400"/>
              </a:spcBef>
              <a:buClr>
                <a:srgbClr val="D1495B"/>
              </a:buClr>
              <a:buFont typeface="Arial"/>
              <a:buChar char="•"/>
            </a:pPr>
            <a:r>
              <a:rPr sz="1200" b="0" i="0">
                <a:solidFill>
                  <a:srgbClr val="15323F"/>
                </a:solidFill>
                <a:latin typeface="Calibri"/>
              </a:rPr>
              <a:t>PAP's internal channel is Conv1D(kernel=1) → GlobalAveragePooling, so its score is a function of amino acid composition only</a:t>
            </a:r>
          </a:p>
          <a:p>
            <a:pPr algn="l" marL="182880" indent="-182880">
              <a:spcBef>
                <a:spcPts val="400"/>
              </a:spcBef>
              <a:buClr>
                <a:srgbClr val="D1495B"/>
              </a:buClr>
              <a:buFont typeface="Arial"/>
              <a:buChar char="•"/>
            </a:pPr>
            <a:r>
              <a:rPr sz="1200" b="0" i="0">
                <a:solidFill>
                  <a:srgbClr val="15323F"/>
                </a:solidFill>
                <a:latin typeface="Calibri"/>
              </a:rPr>
              <a:t>The effect of substituting a→b is Δf = f(c − e_a + e_b) − f(c): no position index appears</a:t>
            </a:r>
          </a:p>
          <a:p>
            <a:pPr algn="l" marL="182880" indent="-182880">
              <a:spcBef>
                <a:spcPts val="400"/>
              </a:spcBef>
              <a:buClr>
                <a:srgbClr val="D1495B"/>
              </a:buClr>
              <a:buFont typeface="Arial"/>
              <a:buChar char="•"/>
            </a:pPr>
            <a:r>
              <a:rPr sz="1200" b="0" i="0">
                <a:solidFill>
                  <a:srgbClr val="15323F"/>
                </a:solidFill>
                <a:latin typeface="Calibri"/>
              </a:rPr>
              <a:t>So every substitution with the same amino acid pair gets an identical effect, wherever it sits</a:t>
            </a:r>
          </a:p>
        </p:txBody>
      </p:sp>
      <p:graphicFrame>
        <p:nvGraphicFramePr>
          <p:cNvPr id="17" name="measurement table"/>
          <p:cNvGraphicFramePr>
            <a:graphicFrameLocks noGrp="1"/>
          </p:cNvGraphicFramePr>
          <p:nvPr/>
        </p:nvGraphicFramePr>
        <p:xfrm>
          <a:off x="548640" y="3520440"/>
          <a:ext cx="6035039" cy="990599"/>
        </p:xfrm>
        <a:graphic>
          <a:graphicData uri="http://schemas.openxmlformats.org/drawingml/2006/table">
            <a:tbl>
              <a:tblPr firstRow="0" bandRow="0">
                <a:tableStyleId>{2D5ABB26-0587-4C30-8999-92F81FD0307C}</a:tableStyleId>
              </a:tblPr>
              <a:tblGrid>
                <a:gridCol w="3749039"/>
                <a:gridCol w="2286000"/>
              </a:tblGrid>
              <a:tr h="274320">
                <a:tc>
                  <a:txBody>
                    <a:bodyPr wrap="square"/>
                    <a:lstStyle/>
                    <a:p>
                      <a:pPr algn="l"/>
                      <a:r>
                        <a:rPr sz="1150" b="1" i="0">
                          <a:solidFill>
                            <a:srgbClr val="FAFBFC"/>
                          </a:solidFill>
                          <a:latin typeface="Calibri"/>
                        </a:rPr>
                        <a:t>Own measurement, scanning set</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r"/>
                      <a:r>
                        <a:rPr sz="1150" b="1" i="0">
                          <a:solidFill>
                            <a:srgbClr val="FAFBFC"/>
                          </a:solidFill>
                          <a:latin typeface="Calibri"/>
                        </a:rPr>
                        <a:t>Peptides</a:t>
                      </a:r>
                    </a:p>
                  </a:txBody>
                  <a:tcPr marL="54864" marR="54864" marT="27432" marB="27432" anchor="ctr">
                    <a:lnL w="0">
                      <a:noFill/>
                    </a:lnL>
                    <a:lnR w="0">
                      <a:noFill/>
                    </a:lnR>
                    <a:lnT w="0">
                      <a:noFill/>
                    </a:lnT>
                    <a:lnB w="6350">
                      <a:solidFill>
                        <a:srgbClr val="DDE4E8"/>
                      </a:solidFill>
                    </a:lnB>
                    <a:solidFill>
                      <a:srgbClr val="15323F"/>
                    </a:solidFill>
                  </a:tcPr>
                </a:tc>
              </a:tr>
              <a:tr h="274320">
                <a:tc>
                  <a:txBody>
                    <a:bodyPr wrap="square"/>
                    <a:lstStyle/>
                    <a:p>
                      <a:pPr algn="l"/>
                      <a:r>
                        <a:rPr sz="1150" b="0" i="0">
                          <a:solidFill>
                            <a:srgbClr val="15323F"/>
                          </a:solidFill>
                          <a:latin typeface="Calibri"/>
                        </a:rPr>
                        <a:t>with a measured footprint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r"/>
                      <a:r>
                        <a:rPr sz="1150" b="0" i="0">
                          <a:solidFill>
                            <a:srgbClr val="15323F"/>
                          </a:solidFill>
                          <a:latin typeface="Calibri"/>
                        </a:rPr>
                        <a:t>2,624</a:t>
                      </a:r>
                    </a:p>
                  </a:txBody>
                  <a:tcPr marL="54864" marR="54864" marT="27432" marB="27432" anchor="ctr">
                    <a:lnL w="0">
                      <a:noFill/>
                    </a:lnL>
                    <a:lnR w="0">
                      <a:noFill/>
                    </a:lnR>
                    <a:lnT w="0">
                      <a:noFill/>
                    </a:lnT>
                    <a:lnB w="6350">
                      <a:solidFill>
                        <a:srgbClr val="DDE4E8"/>
                      </a:solidFill>
                    </a:lnB>
                    <a:solidFill>
                      <a:srgbClr val="FFFFFF"/>
                    </a:solidFill>
                  </a:tcPr>
                </a:tc>
              </a:tr>
              <a:tr h="441959">
                <a:tc>
                  <a:txBody>
                    <a:bodyPr wrap="square"/>
                    <a:lstStyle/>
                    <a:p>
                      <a:pPr algn="l"/>
                      <a:r>
                        <a:rPr sz="1150" b="0" i="0">
                          <a:solidFill>
                            <a:srgbClr val="15323F"/>
                          </a:solidFill>
                          <a:latin typeface="Calibri"/>
                        </a:rPr>
                        <a:t>…and a same-pair group holding both a positive and a non-positive position</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r"/>
                      <a:r>
                        <a:rPr sz="1150" b="1" i="0">
                          <a:solidFill>
                            <a:srgbClr val="D1495B"/>
                          </a:solidFill>
                          <a:latin typeface="Calibri"/>
                        </a:rPr>
                        <a:t>2,353 (89.7%)</a:t>
                      </a:r>
                    </a:p>
                  </a:txBody>
                  <a:tcPr marL="54864" marR="54864" marT="27432" marB="27432" anchor="ctr">
                    <a:lnL w="0">
                      <a:noFill/>
                    </a:lnL>
                    <a:lnR w="0">
                      <a:noFill/>
                    </a:lnR>
                    <a:lnT w="0">
                      <a:noFill/>
                    </a:lnT>
                    <a:lnB w="6350">
                      <a:solidFill>
                        <a:srgbClr val="DDE4E8"/>
                      </a:solidFill>
                    </a:lnB>
                    <a:solidFill>
                      <a:srgbClr val="F4F7F8"/>
                    </a:solidFill>
                  </a:tcPr>
                </a:tc>
              </a:tr>
            </a:tbl>
          </a:graphicData>
        </a:graphic>
      </p:graphicFrame>
      <p:sp>
        <p:nvSpPr>
          <p:cNvPr id="18" name="verification"/>
          <p:cNvSpPr txBox="1"/>
          <p:nvPr/>
        </p:nvSpPr>
        <p:spPr>
          <a:xfrm>
            <a:off x="548640" y="4754880"/>
            <a:ext cx="6035040" cy="502920"/>
          </a:xfrm>
          <a:prstGeom prst="rect">
            <a:avLst/>
          </a:prstGeom>
          <a:noFill/>
        </p:spPr>
        <p:txBody>
          <a:bodyPr wrap="square" lIns="0" rIns="0" tIns="0" bIns="0" anchor="t">
            <a:spAutoFit/>
          </a:bodyPr>
          <a:lstStyle/>
          <a:p>
            <a:pPr algn="l"/>
            <a:r>
              <a:rPr sz="1100" b="0" i="0">
                <a:solidFill>
                  <a:srgbClr val="15323F"/>
                </a:solidFill>
                <a:latin typeface="Calibri"/>
              </a:rPr>
              <a:t>Verified by 200 exhaustive comparisons, 4,000 rank-bound checks, an explicit rank-2 counterexample, and the permutation test on PAP (Pearson 1.000000).</a:t>
            </a:r>
          </a:p>
        </p:txBody>
      </p:sp>
      <p:sp>
        <p:nvSpPr>
          <p:cNvPr id="19" name="card: The gap now has a pr"/>
          <p:cNvSpPr/>
          <p:nvPr/>
        </p:nvSpPr>
        <p:spPr>
          <a:xfrm>
            <a:off x="548640" y="5303520"/>
            <a:ext cx="6035040" cy="804672"/>
          </a:xfrm>
          <a:prstGeom prst="roundRect">
            <a:avLst>
              <a:gd name="adj" fmla="val 11363"/>
            </a:avLst>
          </a:prstGeom>
          <a:solidFill>
            <a:srgbClr val="D9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card text: The gap now has a pr"/>
          <p:cNvSpPr txBox="1"/>
          <p:nvPr/>
        </p:nvSpPr>
        <p:spPr>
          <a:xfrm>
            <a:off x="685800" y="5394959"/>
            <a:ext cx="5760720" cy="667512"/>
          </a:xfrm>
          <a:prstGeom prst="rect">
            <a:avLst/>
          </a:prstGeom>
          <a:noFill/>
        </p:spPr>
        <p:txBody>
          <a:bodyPr wrap="square" lIns="0" rIns="0" tIns="0" bIns="0" anchor="t">
            <a:spAutoFit/>
          </a:bodyPr>
          <a:lstStyle/>
          <a:p>
            <a:pPr algn="l"/>
            <a:r>
              <a:rPr sz="1200" b="1" i="0">
                <a:solidFill>
                  <a:srgbClr val="2A9D8F"/>
                </a:solidFill>
                <a:latin typeface="Calibri"/>
              </a:rPr>
              <a:t>The gap now has a price</a:t>
            </a:r>
          </a:p>
          <a:p>
            <a:pPr algn="l">
              <a:spcBef>
                <a:spcPts val="300"/>
              </a:spcBef>
            </a:pPr>
            <a:r>
              <a:rPr sz="1100" b="0" i="0">
                <a:solidFill>
                  <a:srgbClr val="15323F"/>
                </a:solidFill>
                <a:latin typeface="Calibri"/>
              </a:rPr>
              <a:t>Local-neighbourhood features on top of a composition-only model are worth +0.0289 cell-level AUROC (CI [0.0264, 0.0313]; 1,599 clusters); 80% of it is composition in a ±3 neighbourhood.</a:t>
            </a:r>
          </a:p>
        </p:txBody>
      </p:sp>
      <p:sp>
        <p:nvSpPr>
          <p:cNvPr id="21" name="diagram panel"/>
          <p:cNvSpPr/>
          <p:nvPr/>
        </p:nvSpPr>
        <p:spPr>
          <a:xfrm>
            <a:off x="6903720" y="1024128"/>
            <a:ext cx="4736592" cy="5084064"/>
          </a:xfrm>
          <a:prstGeom prst="roundRect">
            <a:avLst>
              <a:gd name="adj" fmla="val 1930"/>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2" name="diagram title"/>
          <p:cNvSpPr txBox="1"/>
          <p:nvPr/>
        </p:nvSpPr>
        <p:spPr>
          <a:xfrm>
            <a:off x="7040880" y="1097280"/>
            <a:ext cx="4480560" cy="274320"/>
          </a:xfrm>
          <a:prstGeom prst="rect">
            <a:avLst/>
          </a:prstGeom>
          <a:noFill/>
        </p:spPr>
        <p:txBody>
          <a:bodyPr wrap="square" lIns="0" rIns="0" tIns="0" bIns="0" anchor="t">
            <a:spAutoFit/>
          </a:bodyPr>
          <a:lstStyle/>
          <a:p>
            <a:pPr algn="l"/>
            <a:r>
              <a:rPr sz="1300" b="1" i="0">
                <a:solidFill>
                  <a:srgbClr val="15323F"/>
                </a:solidFill>
                <a:latin typeface="Calibri"/>
              </a:rPr>
              <a:t>Same residues, different order</a:t>
            </a:r>
          </a:p>
        </p:txBody>
      </p:sp>
      <p:sp>
        <p:nvSpPr>
          <p:cNvPr id="23" name="peptide A 1"/>
          <p:cNvSpPr/>
          <p:nvPr/>
        </p:nvSpPr>
        <p:spPr>
          <a:xfrm>
            <a:off x="7086600"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S</a:t>
            </a:r>
          </a:p>
        </p:txBody>
      </p:sp>
      <p:sp>
        <p:nvSpPr>
          <p:cNvPr id="24" name="peptide A 2"/>
          <p:cNvSpPr/>
          <p:nvPr/>
        </p:nvSpPr>
        <p:spPr>
          <a:xfrm>
            <a:off x="7452360"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A</a:t>
            </a:r>
          </a:p>
        </p:txBody>
      </p:sp>
      <p:sp>
        <p:nvSpPr>
          <p:cNvPr id="25" name="peptide A 3"/>
          <p:cNvSpPr/>
          <p:nvPr/>
        </p:nvSpPr>
        <p:spPr>
          <a:xfrm>
            <a:off x="7818120"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G</a:t>
            </a:r>
          </a:p>
        </p:txBody>
      </p:sp>
      <p:sp>
        <p:nvSpPr>
          <p:cNvPr id="26" name="peptide A 4"/>
          <p:cNvSpPr/>
          <p:nvPr/>
        </p:nvSpPr>
        <p:spPr>
          <a:xfrm>
            <a:off x="8183879"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D</a:t>
            </a:r>
          </a:p>
        </p:txBody>
      </p:sp>
      <p:sp>
        <p:nvSpPr>
          <p:cNvPr id="27" name="peptide A 5"/>
          <p:cNvSpPr/>
          <p:nvPr/>
        </p:nvSpPr>
        <p:spPr>
          <a:xfrm>
            <a:off x="8549640"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V</a:t>
            </a:r>
          </a:p>
        </p:txBody>
      </p:sp>
      <p:sp>
        <p:nvSpPr>
          <p:cNvPr id="28" name="peptide A 6"/>
          <p:cNvSpPr/>
          <p:nvPr/>
        </p:nvSpPr>
        <p:spPr>
          <a:xfrm>
            <a:off x="8915400"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D</a:t>
            </a:r>
          </a:p>
        </p:txBody>
      </p:sp>
      <p:sp>
        <p:nvSpPr>
          <p:cNvPr id="29" name="peptide A 7"/>
          <p:cNvSpPr/>
          <p:nvPr/>
        </p:nvSpPr>
        <p:spPr>
          <a:xfrm>
            <a:off x="9281160"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T</a:t>
            </a:r>
          </a:p>
        </p:txBody>
      </p:sp>
      <p:sp>
        <p:nvSpPr>
          <p:cNvPr id="30" name="peptide A 8"/>
          <p:cNvSpPr/>
          <p:nvPr/>
        </p:nvSpPr>
        <p:spPr>
          <a:xfrm>
            <a:off x="9646920"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L</a:t>
            </a:r>
          </a:p>
        </p:txBody>
      </p:sp>
      <p:sp>
        <p:nvSpPr>
          <p:cNvPr id="31" name="peptide A 9"/>
          <p:cNvSpPr/>
          <p:nvPr/>
        </p:nvSpPr>
        <p:spPr>
          <a:xfrm>
            <a:off x="10012680"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A</a:t>
            </a:r>
          </a:p>
        </p:txBody>
      </p:sp>
      <p:sp>
        <p:nvSpPr>
          <p:cNvPr id="32" name="peptide A 10"/>
          <p:cNvSpPr/>
          <p:nvPr/>
        </p:nvSpPr>
        <p:spPr>
          <a:xfrm>
            <a:off x="10378440"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F</a:t>
            </a:r>
          </a:p>
        </p:txBody>
      </p:sp>
      <p:sp>
        <p:nvSpPr>
          <p:cNvPr id="33" name="peptide A 11"/>
          <p:cNvSpPr/>
          <p:nvPr/>
        </p:nvSpPr>
        <p:spPr>
          <a:xfrm>
            <a:off x="10744200"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D</a:t>
            </a:r>
          </a:p>
        </p:txBody>
      </p:sp>
      <p:sp>
        <p:nvSpPr>
          <p:cNvPr id="34" name="peptide A 12"/>
          <p:cNvSpPr/>
          <p:nvPr/>
        </p:nvSpPr>
        <p:spPr>
          <a:xfrm>
            <a:off x="11109959" y="178308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G</a:t>
            </a:r>
          </a:p>
        </p:txBody>
      </p:sp>
      <p:sp>
        <p:nvSpPr>
          <p:cNvPr id="35" name="A footprint residue"/>
          <p:cNvSpPr/>
          <p:nvPr/>
        </p:nvSpPr>
        <p:spPr>
          <a:xfrm>
            <a:off x="7818120" y="1783080"/>
            <a:ext cx="329184" cy="32918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AFBFC"/>
                </a:solidFill>
                <a:latin typeface="Courier New"/>
              </a:rPr>
              <a:t>G</a:t>
            </a:r>
          </a:p>
        </p:txBody>
      </p:sp>
      <p:sp>
        <p:nvSpPr>
          <p:cNvPr id="36" name="A label"/>
          <p:cNvSpPr txBox="1"/>
          <p:nvPr/>
        </p:nvSpPr>
        <p:spPr>
          <a:xfrm>
            <a:off x="7086600" y="1417320"/>
            <a:ext cx="4389120" cy="274320"/>
          </a:xfrm>
          <a:prstGeom prst="rect">
            <a:avLst/>
          </a:prstGeom>
          <a:noFill/>
        </p:spPr>
        <p:txBody>
          <a:bodyPr wrap="square" lIns="0" rIns="0" tIns="0" bIns="0" anchor="t">
            <a:spAutoFit/>
          </a:bodyPr>
          <a:lstStyle/>
          <a:p>
            <a:pPr algn="l"/>
            <a:r>
              <a:rPr sz="1100" b="1" i="0">
                <a:solidFill>
                  <a:srgbClr val="D1495B"/>
                </a:solidFill>
                <a:latin typeface="Calibri"/>
              </a:rPr>
              <a:t>peptide A: measured footprint at position 3</a:t>
            </a:r>
          </a:p>
        </p:txBody>
      </p:sp>
      <p:sp>
        <p:nvSpPr>
          <p:cNvPr id="37" name="peptide B 1"/>
          <p:cNvSpPr/>
          <p:nvPr/>
        </p:nvSpPr>
        <p:spPr>
          <a:xfrm>
            <a:off x="7086600"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S</a:t>
            </a:r>
          </a:p>
        </p:txBody>
      </p:sp>
      <p:sp>
        <p:nvSpPr>
          <p:cNvPr id="38" name="peptide B 2"/>
          <p:cNvSpPr/>
          <p:nvPr/>
        </p:nvSpPr>
        <p:spPr>
          <a:xfrm>
            <a:off x="7452360"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A</a:t>
            </a:r>
          </a:p>
        </p:txBody>
      </p:sp>
      <p:sp>
        <p:nvSpPr>
          <p:cNvPr id="39" name="peptide B 3"/>
          <p:cNvSpPr/>
          <p:nvPr/>
        </p:nvSpPr>
        <p:spPr>
          <a:xfrm>
            <a:off x="7818120"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A</a:t>
            </a:r>
          </a:p>
        </p:txBody>
      </p:sp>
      <p:sp>
        <p:nvSpPr>
          <p:cNvPr id="40" name="peptide B 4"/>
          <p:cNvSpPr/>
          <p:nvPr/>
        </p:nvSpPr>
        <p:spPr>
          <a:xfrm>
            <a:off x="8183879"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D</a:t>
            </a:r>
          </a:p>
        </p:txBody>
      </p:sp>
      <p:sp>
        <p:nvSpPr>
          <p:cNvPr id="41" name="peptide B 5"/>
          <p:cNvSpPr/>
          <p:nvPr/>
        </p:nvSpPr>
        <p:spPr>
          <a:xfrm>
            <a:off x="8549640"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V</a:t>
            </a:r>
          </a:p>
        </p:txBody>
      </p:sp>
      <p:sp>
        <p:nvSpPr>
          <p:cNvPr id="42" name="peptide B 6"/>
          <p:cNvSpPr/>
          <p:nvPr/>
        </p:nvSpPr>
        <p:spPr>
          <a:xfrm>
            <a:off x="8915400"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D</a:t>
            </a:r>
          </a:p>
        </p:txBody>
      </p:sp>
      <p:sp>
        <p:nvSpPr>
          <p:cNvPr id="43" name="peptide B 7"/>
          <p:cNvSpPr/>
          <p:nvPr/>
        </p:nvSpPr>
        <p:spPr>
          <a:xfrm>
            <a:off x="9281160"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T</a:t>
            </a:r>
          </a:p>
        </p:txBody>
      </p:sp>
      <p:sp>
        <p:nvSpPr>
          <p:cNvPr id="44" name="peptide B 8"/>
          <p:cNvSpPr/>
          <p:nvPr/>
        </p:nvSpPr>
        <p:spPr>
          <a:xfrm>
            <a:off x="9646920"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L</a:t>
            </a:r>
          </a:p>
        </p:txBody>
      </p:sp>
      <p:sp>
        <p:nvSpPr>
          <p:cNvPr id="45" name="peptide B 9"/>
          <p:cNvSpPr/>
          <p:nvPr/>
        </p:nvSpPr>
        <p:spPr>
          <a:xfrm>
            <a:off x="10012680"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G</a:t>
            </a:r>
          </a:p>
        </p:txBody>
      </p:sp>
      <p:sp>
        <p:nvSpPr>
          <p:cNvPr id="46" name="peptide B 10"/>
          <p:cNvSpPr/>
          <p:nvPr/>
        </p:nvSpPr>
        <p:spPr>
          <a:xfrm>
            <a:off x="10378440"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F</a:t>
            </a:r>
          </a:p>
        </p:txBody>
      </p:sp>
      <p:sp>
        <p:nvSpPr>
          <p:cNvPr id="47" name="peptide B 11"/>
          <p:cNvSpPr/>
          <p:nvPr/>
        </p:nvSpPr>
        <p:spPr>
          <a:xfrm>
            <a:off x="10744200"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D</a:t>
            </a:r>
          </a:p>
        </p:txBody>
      </p:sp>
      <p:sp>
        <p:nvSpPr>
          <p:cNvPr id="48" name="peptide B 12"/>
          <p:cNvSpPr/>
          <p:nvPr/>
        </p:nvSpPr>
        <p:spPr>
          <a:xfrm>
            <a:off x="11109959" y="2743200"/>
            <a:ext cx="329184" cy="329184"/>
          </a:xfrm>
          <a:prstGeom prst="rect">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15323F"/>
                </a:solidFill>
                <a:latin typeface="Courier New"/>
              </a:rPr>
              <a:t>G</a:t>
            </a:r>
          </a:p>
        </p:txBody>
      </p:sp>
      <p:sp>
        <p:nvSpPr>
          <p:cNvPr id="49" name="B footprint residue"/>
          <p:cNvSpPr/>
          <p:nvPr/>
        </p:nvSpPr>
        <p:spPr>
          <a:xfrm>
            <a:off x="10012680" y="2743200"/>
            <a:ext cx="329184" cy="32918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AFBFC"/>
                </a:solidFill>
                <a:latin typeface="Courier New"/>
              </a:rPr>
              <a:t>G</a:t>
            </a:r>
          </a:p>
        </p:txBody>
      </p:sp>
      <p:sp>
        <p:nvSpPr>
          <p:cNvPr id="50" name="B label"/>
          <p:cNvSpPr txBox="1"/>
          <p:nvPr/>
        </p:nvSpPr>
        <p:spPr>
          <a:xfrm>
            <a:off x="7086600" y="2377440"/>
            <a:ext cx="4389120" cy="274320"/>
          </a:xfrm>
          <a:prstGeom prst="rect">
            <a:avLst/>
          </a:prstGeom>
          <a:noFill/>
        </p:spPr>
        <p:txBody>
          <a:bodyPr wrap="square" lIns="0" rIns="0" tIns="0" bIns="0" anchor="t">
            <a:spAutoFit/>
          </a:bodyPr>
          <a:lstStyle/>
          <a:p>
            <a:pPr algn="l"/>
            <a:r>
              <a:rPr sz="1100" b="1" i="0">
                <a:solidFill>
                  <a:srgbClr val="D1495B"/>
                </a:solidFill>
                <a:latin typeface="Calibri"/>
              </a:rPr>
              <a:t>peptide B: same residues, footprint at position 9</a:t>
            </a:r>
          </a:p>
        </p:txBody>
      </p:sp>
      <p:sp>
        <p:nvSpPr>
          <p:cNvPr id="51" name="meter label 0"/>
          <p:cNvSpPr txBox="1"/>
          <p:nvPr/>
        </p:nvSpPr>
        <p:spPr>
          <a:xfrm>
            <a:off x="7086600" y="3401568"/>
            <a:ext cx="4389120" cy="237744"/>
          </a:xfrm>
          <a:prstGeom prst="rect">
            <a:avLst/>
          </a:prstGeom>
          <a:noFill/>
        </p:spPr>
        <p:txBody>
          <a:bodyPr wrap="square" lIns="0" rIns="0" tIns="0" bIns="0" anchor="t">
            <a:spAutoFit/>
          </a:bodyPr>
          <a:lstStyle/>
          <a:p>
            <a:pPr algn="l"/>
            <a:r>
              <a:rPr sz="1050" b="0" i="0">
                <a:solidFill>
                  <a:srgbClr val="5B7380"/>
                </a:solidFill>
                <a:latin typeface="Calibri"/>
              </a:rPr>
              <a:t>composition-only model, peptide A</a:t>
            </a:r>
          </a:p>
        </p:txBody>
      </p:sp>
      <p:sp>
        <p:nvSpPr>
          <p:cNvPr id="52" name="meter track 0"/>
          <p:cNvSpPr/>
          <p:nvPr/>
        </p:nvSpPr>
        <p:spPr>
          <a:xfrm>
            <a:off x="7086600" y="3657600"/>
            <a:ext cx="4389120" cy="182880"/>
          </a:xfrm>
          <a:prstGeom prst="roundRect">
            <a:avLst>
              <a:gd name="adj" fmla="val 50000"/>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3" name="meter value 0"/>
          <p:cNvSpPr/>
          <p:nvPr/>
        </p:nvSpPr>
        <p:spPr>
          <a:xfrm>
            <a:off x="7086600" y="3657600"/>
            <a:ext cx="2743200" cy="182880"/>
          </a:xfrm>
          <a:prstGeom prst="roundRect">
            <a:avLst>
              <a:gd name="adj" fmla="val 50000"/>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4" name="meter label 1"/>
          <p:cNvSpPr txBox="1"/>
          <p:nvPr/>
        </p:nvSpPr>
        <p:spPr>
          <a:xfrm>
            <a:off x="7086600" y="3950207"/>
            <a:ext cx="4389120" cy="237744"/>
          </a:xfrm>
          <a:prstGeom prst="rect">
            <a:avLst/>
          </a:prstGeom>
          <a:noFill/>
        </p:spPr>
        <p:txBody>
          <a:bodyPr wrap="square" lIns="0" rIns="0" tIns="0" bIns="0" anchor="t">
            <a:spAutoFit/>
          </a:bodyPr>
          <a:lstStyle/>
          <a:p>
            <a:pPr algn="l"/>
            <a:r>
              <a:rPr sz="1050" b="0" i="0">
                <a:solidFill>
                  <a:srgbClr val="5B7380"/>
                </a:solidFill>
                <a:latin typeface="Calibri"/>
              </a:rPr>
              <a:t>composition-only model, peptide B</a:t>
            </a:r>
          </a:p>
        </p:txBody>
      </p:sp>
      <p:sp>
        <p:nvSpPr>
          <p:cNvPr id="55" name="meter track 1"/>
          <p:cNvSpPr/>
          <p:nvPr/>
        </p:nvSpPr>
        <p:spPr>
          <a:xfrm>
            <a:off x="7086600" y="4206240"/>
            <a:ext cx="4389120" cy="182880"/>
          </a:xfrm>
          <a:prstGeom prst="roundRect">
            <a:avLst>
              <a:gd name="adj" fmla="val 50000"/>
            </a:avLst>
          </a:prstGeom>
          <a:solidFill>
            <a:srgbClr val="E3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6" name="meter value 1"/>
          <p:cNvSpPr/>
          <p:nvPr/>
        </p:nvSpPr>
        <p:spPr>
          <a:xfrm>
            <a:off x="7086600" y="4206240"/>
            <a:ext cx="2743200" cy="182880"/>
          </a:xfrm>
          <a:prstGeom prst="roundRect">
            <a:avLst>
              <a:gd name="adj" fmla="val 50000"/>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7" name="identical score"/>
          <p:cNvSpPr/>
          <p:nvPr/>
        </p:nvSpPr>
        <p:spPr>
          <a:xfrm>
            <a:off x="7315200" y="4663440"/>
            <a:ext cx="3931920" cy="384048"/>
          </a:xfrm>
          <a:prstGeom prst="roundRect">
            <a:avLst>
              <a:gd name="adj" fmla="val 23809"/>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50" b="1" i="0">
                <a:solidFill>
                  <a:srgbClr val="D1495B"/>
                </a:solidFill>
                <a:latin typeface="Calibri"/>
              </a:rPr>
              <a:t>identical score: the dial does not move</a:t>
            </a:r>
          </a:p>
        </p:txBody>
      </p:sp>
      <p:sp>
        <p:nvSpPr>
          <p:cNvPr id="58" name="89.7 statistic"/>
          <p:cNvSpPr/>
          <p:nvPr/>
        </p:nvSpPr>
        <p:spPr>
          <a:xfrm>
            <a:off x="7086600" y="5166360"/>
            <a:ext cx="4389120" cy="777240"/>
          </a:xfrm>
          <a:prstGeom prst="roundRect">
            <a:avLst>
              <a:gd name="adj" fmla="val 11764"/>
            </a:avLst>
          </a:prstGeom>
          <a:solidFill>
            <a:srgbClr val="15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E9C46A"/>
                </a:solidFill>
                <a:latin typeface="Calibri"/>
              </a:rPr>
              <a:t>89.7%</a:t>
            </a:r>
            <a:r>
              <a:rPr sz="1200" b="0" i="0">
                <a:solidFill>
                  <a:srgbClr val="FAFBFC"/>
                </a:solidFill>
                <a:latin typeface="Calibri"/>
              </a:rPr>
              <a:t>  of 2,624 peptides are in this situation</a:t>
            </a:r>
          </a:p>
        </p:txBody>
      </p:sp>
      <p:sp>
        <p:nvSpPr>
          <p:cNvPr id="59" name="evidence label"/>
          <p:cNvSpPr txBox="1"/>
          <p:nvPr/>
        </p:nvSpPr>
        <p:spPr>
          <a:xfrm>
            <a:off x="548640" y="6144768"/>
            <a:ext cx="11094415" cy="310896"/>
          </a:xfrm>
          <a:prstGeom prst="rect">
            <a:avLst/>
          </a:prstGeom>
          <a:noFill/>
        </p:spPr>
        <p:txBody>
          <a:bodyPr wrap="square" lIns="0" rIns="0" tIns="0" bIns="0" anchor="t">
            <a:spAutoFit/>
          </a:bodyPr>
          <a:lstStyle/>
          <a:p>
            <a:pPr algn="l"/>
            <a:r>
              <a:rPr sz="1000" b="0" i="0">
                <a:solidFill>
                  <a:srgbClr val="5B7380"/>
                </a:solidFill>
                <a:latin typeface="Calibri"/>
              </a:rPr>
              <a:t>Own measurement; scripts and JSON results in the thesis repository. Illustration (peptides A and B) is schematic.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stCondLst>
                      <p:childTnLst>
                        <p:par>
                          <p:cTn id="4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0"/>
                                        </p:tgtEl>
                                        <p:attrNameLst>
                                          <p:attrName>style.visibility</p:attrName>
                                        </p:attrNameLst>
                                      </p:cBhvr>
                                      <p:to>
                                        <p:strVal val="visible"/>
                                      </p:to>
                                    </p:set>
                                    <p:animEffect transition="in" filter="fade">
                                      <p:cBhvr>
                                        <p:cTn id="5" dur="500"/>
                                        <p:tgtEl>
                                          <p:spTgt spid="50"/>
                                        </p:tgtEl>
                                      </p:cBhvr>
                                    </p:animEffect>
                                  </p:childTnLst>
                                </p:cTn>
                              </p:par>
                              <p:par>
                                <p:cTn id="6" presetID="10" presetClass="entr" presetSubtype="0" fill="hold" nodeType="withEffect">
                                  <p:stCondLst>
                                    <p:cond delay="0"/>
                                  </p:stCondLst>
                                  <p:childTnLst>
                                    <p:set>
                                      <p:cBhvr>
                                        <p:cTn id="7" dur="1" fill="hold">
                                          <p:stCondLst>
                                            <p:cond delay="0"/>
                                          </p:stCondLst>
                                        </p:cTn>
                                        <p:tgtEl>
                                          <p:spTgt spid="49"/>
                                        </p:tgtEl>
                                        <p:attrNameLst>
                                          <p:attrName>style.visibility</p:attrName>
                                        </p:attrNameLst>
                                      </p:cBhvr>
                                      <p:to>
                                        <p:strVal val="visible"/>
                                      </p:to>
                                    </p:set>
                                    <p:animEffect transition="in" filter="fade">
                                      <p:cBhvr>
                                        <p:cTn id="8" dur="500"/>
                                        <p:tgtEl>
                                          <p:spTgt spid="49"/>
                                        </p:tgtEl>
                                      </p:cBhvr>
                                    </p:animEffect>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nodeType="with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500"/>
                                        <p:tgtEl>
                                          <p:spTgt spid="38"/>
                                        </p:tgtEl>
                                      </p:cBhvr>
                                    </p:animEffect>
                                  </p:childTnLst>
                                </p:cTn>
                              </p:par>
                              <p:par>
                                <p:cTn id="15" presetID="10"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par>
                                <p:cTn id="18" presetID="10" presetClass="entr" presetSubtype="0" fill="hold" nodeType="with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500"/>
                                        <p:tgtEl>
                                          <p:spTgt spid="40"/>
                                        </p:tgtEl>
                                      </p:cBhvr>
                                    </p:animEffect>
                                  </p:childTnLst>
                                </p:cTn>
                              </p:par>
                              <p:par>
                                <p:cTn id="21" presetID="10" presetClass="entr" presetSubtype="0"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500"/>
                                        <p:tgtEl>
                                          <p:spTgt spid="41"/>
                                        </p:tgtEl>
                                      </p:cBhvr>
                                    </p:animEffect>
                                  </p:childTnLst>
                                </p:cTn>
                              </p:par>
                              <p:par>
                                <p:cTn id="24" presetID="10" presetClass="entr" presetSubtype="0" fill="hold" nodeType="with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cTn>
                              </p:par>
                              <p:par>
                                <p:cTn id="27" presetID="10"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500"/>
                                        <p:tgtEl>
                                          <p:spTgt spid="43"/>
                                        </p:tgtEl>
                                      </p:cBhvr>
                                    </p:animEffect>
                                  </p:childTnLst>
                                </p:cTn>
                              </p:par>
                              <p:par>
                                <p:cTn id="30" presetID="10" presetClass="entr" presetSubtype="0" fill="hold"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500"/>
                                        <p:tgtEl>
                                          <p:spTgt spid="44"/>
                                        </p:tgtEl>
                                      </p:cBhvr>
                                    </p:animEffect>
                                  </p:childTnLst>
                                </p:cTn>
                              </p:par>
                              <p:par>
                                <p:cTn id="33" presetID="10" presetClass="entr" presetSubtype="0" fill="hold"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500"/>
                                        <p:tgtEl>
                                          <p:spTgt spid="45"/>
                                        </p:tgtEl>
                                      </p:cBhvr>
                                    </p:animEffect>
                                  </p:childTnLst>
                                </p:cTn>
                              </p:par>
                              <p:par>
                                <p:cTn id="36" presetID="10" presetClass="entr" presetSubtype="0" fill="hold" nodeType="with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fade">
                                      <p:cBhvr>
                                        <p:cTn id="38" dur="500"/>
                                        <p:tgtEl>
                                          <p:spTgt spid="46"/>
                                        </p:tgtEl>
                                      </p:cBhvr>
                                    </p:animEffect>
                                  </p:childTnLst>
                                </p:cTn>
                              </p:par>
                              <p:par>
                                <p:cTn id="39" presetID="10" presetClass="entr" presetSubtype="0" fill="hold" nodeType="with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fade">
                                      <p:cBhvr>
                                        <p:cTn id="41" dur="500"/>
                                        <p:tgtEl>
                                          <p:spTgt spid="47"/>
                                        </p:tgtEl>
                                      </p:cBhvr>
                                    </p:animEffect>
                                  </p:childTnLst>
                                </p:cTn>
                              </p:par>
                              <p:par>
                                <p:cTn id="42" presetID="10" presetClass="entr" presetSubtype="0" fill="hold" nodeType="withEffect">
                                  <p:stCondLst>
                                    <p:cond delay="0"/>
                                  </p:stCondLst>
                                  <p:childTnLst>
                                    <p:set>
                                      <p:cBhvr>
                                        <p:cTn id="43" dur="1" fill="hold">
                                          <p:stCondLst>
                                            <p:cond delay="0"/>
                                          </p:stCondLst>
                                        </p:cTn>
                                        <p:tgtEl>
                                          <p:spTgt spid="48"/>
                                        </p:tgtEl>
                                        <p:attrNameLst>
                                          <p:attrName>style.visibility</p:attrName>
                                        </p:attrNameLst>
                                      </p:cBhvr>
                                      <p:to>
                                        <p:strVal val="visible"/>
                                      </p:to>
                                    </p:set>
                                    <p:animEffect transition="in" filter="fade">
                                      <p:cBhvr>
                                        <p:cTn id="44" dur="500"/>
                                        <p:tgtEl>
                                          <p:spTgt spid="48"/>
                                        </p:tgtEl>
                                      </p:cBhvr>
                                    </p:animEffect>
                                  </p:childTnLst>
                                </p:cTn>
                              </p:par>
                            </p:childTnLst>
                          </p:cTn>
                        </p:par>
                      </p:childTnLst>
                    </p:cTn>
                  </p:par>
                  <p:par>
                    <p:cTn id="68" fill="hold">
                      <p:stCondLst>
                        <p:cond delay="indefinite"/>
                      </p:stCondLst>
                      <p:childTnLst>
                        <p:par>
                          <p:cTn id="69"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fade">
                                      <p:cBhvr>
                                        <p:cTn id="49" dur="500"/>
                                        <p:tgtEl>
                                          <p:spTgt spid="51"/>
                                        </p:tgtEl>
                                      </p:cBhvr>
                                    </p:animEffect>
                                  </p:childTnLst>
                                </p:cTn>
                              </p:par>
                              <p:par>
                                <p:cTn id="50" presetID="10" presetClass="entr" presetSubtype="0" fill="hold" nodeType="with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500"/>
                                        <p:tgtEl>
                                          <p:spTgt spid="52"/>
                                        </p:tgtEl>
                                      </p:cBhvr>
                                    </p:animEffect>
                                  </p:childTnLst>
                                </p:cTn>
                              </p:par>
                              <p:par>
                                <p:cTn id="53" presetID="10" presetClass="entr" presetSubtype="0" fill="hold" nodeType="withEffect">
                                  <p:stCondLst>
                                    <p:cond delay="0"/>
                                  </p:stCondLst>
                                  <p:childTnLst>
                                    <p:set>
                                      <p:cBhvr>
                                        <p:cTn id="54" dur="1" fill="hold">
                                          <p:stCondLst>
                                            <p:cond delay="0"/>
                                          </p:stCondLst>
                                        </p:cTn>
                                        <p:tgtEl>
                                          <p:spTgt spid="53"/>
                                        </p:tgtEl>
                                        <p:attrNameLst>
                                          <p:attrName>style.visibility</p:attrName>
                                        </p:attrNameLst>
                                      </p:cBhvr>
                                      <p:to>
                                        <p:strVal val="visible"/>
                                      </p:to>
                                    </p:set>
                                    <p:animEffect transition="in" filter="fade">
                                      <p:cBhvr>
                                        <p:cTn id="55" dur="500"/>
                                        <p:tgtEl>
                                          <p:spTgt spid="53"/>
                                        </p:tgtEl>
                                      </p:cBhvr>
                                    </p:animEffect>
                                  </p:childTnLst>
                                </p:cTn>
                              </p:par>
                              <p:par>
                                <p:cTn id="56" presetID="10" presetClass="entr" presetSubtype="0" fill="hold" nodeType="withEffect">
                                  <p:stCondLst>
                                    <p:cond delay="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500"/>
                                        <p:tgtEl>
                                          <p:spTgt spid="54"/>
                                        </p:tgtEl>
                                      </p:cBhvr>
                                    </p:animEffect>
                                  </p:childTnLst>
                                </p:cTn>
                              </p:par>
                              <p:par>
                                <p:cTn id="59" presetID="10" presetClass="entr" presetSubtype="0" fill="hold" nodeType="withEffect">
                                  <p:stCondLst>
                                    <p:cond delay="0"/>
                                  </p:stCondLst>
                                  <p:childTnLst>
                                    <p:set>
                                      <p:cBhvr>
                                        <p:cTn id="60" dur="1" fill="hold">
                                          <p:stCondLst>
                                            <p:cond delay="0"/>
                                          </p:stCondLst>
                                        </p:cTn>
                                        <p:tgtEl>
                                          <p:spTgt spid="55"/>
                                        </p:tgtEl>
                                        <p:attrNameLst>
                                          <p:attrName>style.visibility</p:attrName>
                                        </p:attrNameLst>
                                      </p:cBhvr>
                                      <p:to>
                                        <p:strVal val="visible"/>
                                      </p:to>
                                    </p:set>
                                    <p:animEffect transition="in" filter="fade">
                                      <p:cBhvr>
                                        <p:cTn id="61" dur="500"/>
                                        <p:tgtEl>
                                          <p:spTgt spid="55"/>
                                        </p:tgtEl>
                                      </p:cBhvr>
                                    </p:animEffect>
                                  </p:childTnLst>
                                </p:cTn>
                              </p:par>
                              <p:par>
                                <p:cTn id="62" presetID="10" presetClass="entr" presetSubtype="0" fill="hold" nodeType="withEffect">
                                  <p:stCondLst>
                                    <p:cond delay="0"/>
                                  </p:stCondLst>
                                  <p:childTnLst>
                                    <p:set>
                                      <p:cBhvr>
                                        <p:cTn id="63" dur="1" fill="hold">
                                          <p:stCondLst>
                                            <p:cond delay="0"/>
                                          </p:stCondLst>
                                        </p:cTn>
                                        <p:tgtEl>
                                          <p:spTgt spid="56"/>
                                        </p:tgtEl>
                                        <p:attrNameLst>
                                          <p:attrName>style.visibility</p:attrName>
                                        </p:attrNameLst>
                                      </p:cBhvr>
                                      <p:to>
                                        <p:strVal val="visible"/>
                                      </p:to>
                                    </p:set>
                                    <p:animEffect transition="in" filter="fade">
                                      <p:cBhvr>
                                        <p:cTn id="64" dur="500"/>
                                        <p:tgtEl>
                                          <p:spTgt spid="56"/>
                                        </p:tgtEl>
                                      </p:cBhvr>
                                    </p:animEffect>
                                  </p:childTnLst>
                                </p:cTn>
                              </p:par>
                              <p:par>
                                <p:cTn id="65" presetID="10" presetClass="entr" presetSubtype="0" fill="hold" nodeType="withEffect">
                                  <p:stCondLst>
                                    <p:cond delay="0"/>
                                  </p:stCondLst>
                                  <p:childTnLst>
                                    <p:set>
                                      <p:cBhvr>
                                        <p:cTn id="66" dur="1" fill="hold">
                                          <p:stCondLst>
                                            <p:cond delay="0"/>
                                          </p:stCondLst>
                                        </p:cTn>
                                        <p:tgtEl>
                                          <p:spTgt spid="57"/>
                                        </p:tgtEl>
                                        <p:attrNameLst>
                                          <p:attrName>style.visibility</p:attrName>
                                        </p:attrNameLst>
                                      </p:cBhvr>
                                      <p:to>
                                        <p:strVal val="visible"/>
                                      </p:to>
                                    </p:set>
                                    <p:animEffect transition="in" filter="fade">
                                      <p:cBhvr>
                                        <p:cTn id="67" dur="500"/>
                                        <p:tgtEl>
                                          <p:spTgt spid="57"/>
                                        </p:tgtEl>
                                      </p:cBhvr>
                                    </p:animEffect>
                                  </p:childTnLst>
                                </p:cTn>
                              </p:par>
                            </p:childTnLst>
                          </p:cTn>
                        </p:par>
                      </p:childTnLst>
                    </p:cTn>
                  </p:par>
                  <p:par>
                    <p:cTn id="73" fill="hold">
                      <p:stCondLst>
                        <p:cond delay="indefinite"/>
                      </p:stCondLst>
                      <p:childTnLst>
                        <p:par>
                          <p:cTn id="74"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8"/>
                                        </p:tgtEl>
                                        <p:attrNameLst>
                                          <p:attrName>style.visibility</p:attrName>
                                        </p:attrNameLst>
                                      </p:cBhvr>
                                      <p:to>
                                        <p:strVal val="visible"/>
                                      </p:to>
                                    </p:set>
                                    <p:animEffect transition="in" filter="fade">
                                      <p:cBhvr>
                                        <p:cTn id="7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Why now: measured residue-level labels exist only since 2023</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13</a:t>
            </a:r>
          </a:p>
        </p:txBody>
      </p:sp>
      <p:cxnSp>
        <p:nvCxnSpPr>
          <p:cNvPr id="15" name="timeline axis"/>
          <p:cNvCxnSpPr/>
          <p:nvPr/>
        </p:nvCxnSpPr>
        <p:spPr>
          <a:xfrm>
            <a:off x="822960" y="1965960"/>
            <a:ext cx="8412480" cy="0"/>
          </a:xfrm>
          <a:prstGeom prst="line">
            <a:avLst/>
          </a:prstGeom>
          <a:ln w="25400">
            <a:solidFill>
              <a:srgbClr val="8FA3AD"/>
            </a:solidFill>
          </a:ln>
        </p:spPr>
        <p:style>
          <a:lnRef idx="2">
            <a:schemeClr val="accent1"/>
          </a:lnRef>
          <a:fillRef idx="0">
            <a:schemeClr val="accent1"/>
          </a:fillRef>
          <a:effectRef idx="1">
            <a:schemeClr val="accent1"/>
          </a:effectRef>
          <a:fontRef idx="minor">
            <a:schemeClr val="tx1"/>
          </a:fontRef>
        </p:style>
      </p:cxnSp>
      <p:cxnSp>
        <p:nvCxnSpPr>
          <p:cNvPr id="16" name="tick 2018"/>
          <p:cNvCxnSpPr/>
          <p:nvPr/>
        </p:nvCxnSpPr>
        <p:spPr>
          <a:xfrm>
            <a:off x="822960" y="1920240"/>
            <a:ext cx="0" cy="91439"/>
          </a:xfrm>
          <a:prstGeom prst="line">
            <a:avLst/>
          </a:prstGeom>
          <a:ln w="19050">
            <a:solidFill>
              <a:srgbClr val="8FA3AD"/>
            </a:solidFill>
          </a:ln>
        </p:spPr>
        <p:style>
          <a:lnRef idx="2">
            <a:schemeClr val="accent1"/>
          </a:lnRef>
          <a:fillRef idx="0">
            <a:schemeClr val="accent1"/>
          </a:fillRef>
          <a:effectRef idx="1">
            <a:schemeClr val="accent1"/>
          </a:effectRef>
          <a:fontRef idx="minor">
            <a:schemeClr val="tx1"/>
          </a:fontRef>
        </p:style>
      </p:cxnSp>
      <p:sp>
        <p:nvSpPr>
          <p:cNvPr id="17" name="year 2018"/>
          <p:cNvSpPr txBox="1"/>
          <p:nvPr/>
        </p:nvSpPr>
        <p:spPr>
          <a:xfrm>
            <a:off x="548640" y="2029967"/>
            <a:ext cx="548640" cy="201168"/>
          </a:xfrm>
          <a:prstGeom prst="rect">
            <a:avLst/>
          </a:prstGeom>
          <a:noFill/>
        </p:spPr>
        <p:txBody>
          <a:bodyPr wrap="square" lIns="0" rIns="0" tIns="0" bIns="0" anchor="t">
            <a:spAutoFit/>
          </a:bodyPr>
          <a:lstStyle/>
          <a:p>
            <a:pPr algn="ctr"/>
            <a:r>
              <a:rPr sz="1000" b="0" i="0">
                <a:solidFill>
                  <a:srgbClr val="5B7380"/>
                </a:solidFill>
                <a:latin typeface="Calibri"/>
              </a:rPr>
              <a:t>2018</a:t>
            </a:r>
          </a:p>
        </p:txBody>
      </p:sp>
      <p:cxnSp>
        <p:nvCxnSpPr>
          <p:cNvPr id="18" name="tick 2019"/>
          <p:cNvCxnSpPr/>
          <p:nvPr/>
        </p:nvCxnSpPr>
        <p:spPr>
          <a:xfrm>
            <a:off x="1874519" y="1920240"/>
            <a:ext cx="0" cy="91439"/>
          </a:xfrm>
          <a:prstGeom prst="line">
            <a:avLst/>
          </a:prstGeom>
          <a:ln w="19050">
            <a:solidFill>
              <a:srgbClr val="8FA3AD"/>
            </a:solidFill>
          </a:ln>
        </p:spPr>
        <p:style>
          <a:lnRef idx="2">
            <a:schemeClr val="accent1"/>
          </a:lnRef>
          <a:fillRef idx="0">
            <a:schemeClr val="accent1"/>
          </a:fillRef>
          <a:effectRef idx="1">
            <a:schemeClr val="accent1"/>
          </a:effectRef>
          <a:fontRef idx="minor">
            <a:schemeClr val="tx1"/>
          </a:fontRef>
        </p:style>
      </p:cxnSp>
      <p:sp>
        <p:nvSpPr>
          <p:cNvPr id="19" name="year 2019"/>
          <p:cNvSpPr txBox="1"/>
          <p:nvPr/>
        </p:nvSpPr>
        <p:spPr>
          <a:xfrm>
            <a:off x="1600199" y="2029967"/>
            <a:ext cx="548640" cy="201168"/>
          </a:xfrm>
          <a:prstGeom prst="rect">
            <a:avLst/>
          </a:prstGeom>
          <a:noFill/>
        </p:spPr>
        <p:txBody>
          <a:bodyPr wrap="square" lIns="0" rIns="0" tIns="0" bIns="0" anchor="t">
            <a:spAutoFit/>
          </a:bodyPr>
          <a:lstStyle/>
          <a:p>
            <a:pPr algn="ctr"/>
            <a:r>
              <a:rPr sz="1000" b="0" i="0">
                <a:solidFill>
                  <a:srgbClr val="5B7380"/>
                </a:solidFill>
                <a:latin typeface="Calibri"/>
              </a:rPr>
              <a:t>2019</a:t>
            </a:r>
          </a:p>
        </p:txBody>
      </p:sp>
      <p:cxnSp>
        <p:nvCxnSpPr>
          <p:cNvPr id="20" name="tick 2020"/>
          <p:cNvCxnSpPr/>
          <p:nvPr/>
        </p:nvCxnSpPr>
        <p:spPr>
          <a:xfrm>
            <a:off x="2926079" y="1920240"/>
            <a:ext cx="0" cy="91439"/>
          </a:xfrm>
          <a:prstGeom prst="line">
            <a:avLst/>
          </a:prstGeom>
          <a:ln w="19050">
            <a:solidFill>
              <a:srgbClr val="8FA3AD"/>
            </a:solidFill>
          </a:ln>
        </p:spPr>
        <p:style>
          <a:lnRef idx="2">
            <a:schemeClr val="accent1"/>
          </a:lnRef>
          <a:fillRef idx="0">
            <a:schemeClr val="accent1"/>
          </a:fillRef>
          <a:effectRef idx="1">
            <a:schemeClr val="accent1"/>
          </a:effectRef>
          <a:fontRef idx="minor">
            <a:schemeClr val="tx1"/>
          </a:fontRef>
        </p:style>
      </p:cxnSp>
      <p:sp>
        <p:nvSpPr>
          <p:cNvPr id="21" name="year 2020"/>
          <p:cNvSpPr txBox="1"/>
          <p:nvPr/>
        </p:nvSpPr>
        <p:spPr>
          <a:xfrm>
            <a:off x="2651760" y="2029967"/>
            <a:ext cx="548640" cy="201168"/>
          </a:xfrm>
          <a:prstGeom prst="rect">
            <a:avLst/>
          </a:prstGeom>
          <a:noFill/>
        </p:spPr>
        <p:txBody>
          <a:bodyPr wrap="square" lIns="0" rIns="0" tIns="0" bIns="0" anchor="t">
            <a:spAutoFit/>
          </a:bodyPr>
          <a:lstStyle/>
          <a:p>
            <a:pPr algn="ctr"/>
            <a:r>
              <a:rPr sz="1000" b="0" i="0">
                <a:solidFill>
                  <a:srgbClr val="5B7380"/>
                </a:solidFill>
                <a:latin typeface="Calibri"/>
              </a:rPr>
              <a:t>2020</a:t>
            </a:r>
          </a:p>
        </p:txBody>
      </p:sp>
      <p:cxnSp>
        <p:nvCxnSpPr>
          <p:cNvPr id="22" name="tick 2021"/>
          <p:cNvCxnSpPr/>
          <p:nvPr/>
        </p:nvCxnSpPr>
        <p:spPr>
          <a:xfrm>
            <a:off x="3977639" y="1920240"/>
            <a:ext cx="0" cy="91439"/>
          </a:xfrm>
          <a:prstGeom prst="line">
            <a:avLst/>
          </a:prstGeom>
          <a:ln w="19050">
            <a:solidFill>
              <a:srgbClr val="8FA3AD"/>
            </a:solidFill>
          </a:ln>
        </p:spPr>
        <p:style>
          <a:lnRef idx="2">
            <a:schemeClr val="accent1"/>
          </a:lnRef>
          <a:fillRef idx="0">
            <a:schemeClr val="accent1"/>
          </a:fillRef>
          <a:effectRef idx="1">
            <a:schemeClr val="accent1"/>
          </a:effectRef>
          <a:fontRef idx="minor">
            <a:schemeClr val="tx1"/>
          </a:fontRef>
        </p:style>
      </p:cxnSp>
      <p:sp>
        <p:nvSpPr>
          <p:cNvPr id="23" name="year 2021"/>
          <p:cNvSpPr txBox="1"/>
          <p:nvPr/>
        </p:nvSpPr>
        <p:spPr>
          <a:xfrm>
            <a:off x="3703320" y="2029967"/>
            <a:ext cx="548640" cy="201168"/>
          </a:xfrm>
          <a:prstGeom prst="rect">
            <a:avLst/>
          </a:prstGeom>
          <a:noFill/>
        </p:spPr>
        <p:txBody>
          <a:bodyPr wrap="square" lIns="0" rIns="0" tIns="0" bIns="0" anchor="t">
            <a:spAutoFit/>
          </a:bodyPr>
          <a:lstStyle/>
          <a:p>
            <a:pPr algn="ctr"/>
            <a:r>
              <a:rPr sz="1000" b="0" i="0">
                <a:solidFill>
                  <a:srgbClr val="5B7380"/>
                </a:solidFill>
                <a:latin typeface="Calibri"/>
              </a:rPr>
              <a:t>2021</a:t>
            </a:r>
          </a:p>
        </p:txBody>
      </p:sp>
      <p:cxnSp>
        <p:nvCxnSpPr>
          <p:cNvPr id="24" name="tick 2022"/>
          <p:cNvCxnSpPr/>
          <p:nvPr/>
        </p:nvCxnSpPr>
        <p:spPr>
          <a:xfrm>
            <a:off x="5029200" y="1920240"/>
            <a:ext cx="0" cy="91439"/>
          </a:xfrm>
          <a:prstGeom prst="line">
            <a:avLst/>
          </a:prstGeom>
          <a:ln w="19050">
            <a:solidFill>
              <a:srgbClr val="8FA3AD"/>
            </a:solidFill>
          </a:ln>
        </p:spPr>
        <p:style>
          <a:lnRef idx="2">
            <a:schemeClr val="accent1"/>
          </a:lnRef>
          <a:fillRef idx="0">
            <a:schemeClr val="accent1"/>
          </a:fillRef>
          <a:effectRef idx="1">
            <a:schemeClr val="accent1"/>
          </a:effectRef>
          <a:fontRef idx="minor">
            <a:schemeClr val="tx1"/>
          </a:fontRef>
        </p:style>
      </p:cxnSp>
      <p:sp>
        <p:nvSpPr>
          <p:cNvPr id="25" name="year 2022"/>
          <p:cNvSpPr txBox="1"/>
          <p:nvPr/>
        </p:nvSpPr>
        <p:spPr>
          <a:xfrm>
            <a:off x="4754880" y="2029967"/>
            <a:ext cx="548640" cy="201168"/>
          </a:xfrm>
          <a:prstGeom prst="rect">
            <a:avLst/>
          </a:prstGeom>
          <a:noFill/>
        </p:spPr>
        <p:txBody>
          <a:bodyPr wrap="square" lIns="0" rIns="0" tIns="0" bIns="0" anchor="t">
            <a:spAutoFit/>
          </a:bodyPr>
          <a:lstStyle/>
          <a:p>
            <a:pPr algn="ctr"/>
            <a:r>
              <a:rPr sz="1000" b="0" i="0">
                <a:solidFill>
                  <a:srgbClr val="5B7380"/>
                </a:solidFill>
                <a:latin typeface="Calibri"/>
              </a:rPr>
              <a:t>2022</a:t>
            </a:r>
          </a:p>
        </p:txBody>
      </p:sp>
      <p:cxnSp>
        <p:nvCxnSpPr>
          <p:cNvPr id="26" name="tick 2023"/>
          <p:cNvCxnSpPr/>
          <p:nvPr/>
        </p:nvCxnSpPr>
        <p:spPr>
          <a:xfrm>
            <a:off x="6080760" y="1920240"/>
            <a:ext cx="0" cy="91439"/>
          </a:xfrm>
          <a:prstGeom prst="line">
            <a:avLst/>
          </a:prstGeom>
          <a:ln w="19050">
            <a:solidFill>
              <a:srgbClr val="8FA3AD"/>
            </a:solidFill>
          </a:ln>
        </p:spPr>
        <p:style>
          <a:lnRef idx="2">
            <a:schemeClr val="accent1"/>
          </a:lnRef>
          <a:fillRef idx="0">
            <a:schemeClr val="accent1"/>
          </a:fillRef>
          <a:effectRef idx="1">
            <a:schemeClr val="accent1"/>
          </a:effectRef>
          <a:fontRef idx="minor">
            <a:schemeClr val="tx1"/>
          </a:fontRef>
        </p:style>
      </p:cxnSp>
      <p:sp>
        <p:nvSpPr>
          <p:cNvPr id="27" name="year 2023"/>
          <p:cNvSpPr txBox="1"/>
          <p:nvPr/>
        </p:nvSpPr>
        <p:spPr>
          <a:xfrm>
            <a:off x="5806440" y="2029967"/>
            <a:ext cx="548640" cy="201168"/>
          </a:xfrm>
          <a:prstGeom prst="rect">
            <a:avLst/>
          </a:prstGeom>
          <a:noFill/>
        </p:spPr>
        <p:txBody>
          <a:bodyPr wrap="square" lIns="0" rIns="0" tIns="0" bIns="0" anchor="t">
            <a:spAutoFit/>
          </a:bodyPr>
          <a:lstStyle/>
          <a:p>
            <a:pPr algn="ctr"/>
            <a:r>
              <a:rPr sz="1000" b="0" i="0">
                <a:solidFill>
                  <a:srgbClr val="5B7380"/>
                </a:solidFill>
                <a:latin typeface="Calibri"/>
              </a:rPr>
              <a:t>2023</a:t>
            </a:r>
          </a:p>
        </p:txBody>
      </p:sp>
      <p:cxnSp>
        <p:nvCxnSpPr>
          <p:cNvPr id="28" name="tick 2024"/>
          <p:cNvCxnSpPr/>
          <p:nvPr/>
        </p:nvCxnSpPr>
        <p:spPr>
          <a:xfrm>
            <a:off x="7132320" y="1920240"/>
            <a:ext cx="0" cy="91439"/>
          </a:xfrm>
          <a:prstGeom prst="line">
            <a:avLst/>
          </a:prstGeom>
          <a:ln w="19050">
            <a:solidFill>
              <a:srgbClr val="8FA3AD"/>
            </a:solidFill>
          </a:ln>
        </p:spPr>
        <p:style>
          <a:lnRef idx="2">
            <a:schemeClr val="accent1"/>
          </a:lnRef>
          <a:fillRef idx="0">
            <a:schemeClr val="accent1"/>
          </a:fillRef>
          <a:effectRef idx="1">
            <a:schemeClr val="accent1"/>
          </a:effectRef>
          <a:fontRef idx="minor">
            <a:schemeClr val="tx1"/>
          </a:fontRef>
        </p:style>
      </p:cxnSp>
      <p:sp>
        <p:nvSpPr>
          <p:cNvPr id="29" name="year 2024"/>
          <p:cNvSpPr txBox="1"/>
          <p:nvPr/>
        </p:nvSpPr>
        <p:spPr>
          <a:xfrm>
            <a:off x="6858000" y="2029967"/>
            <a:ext cx="548640" cy="201168"/>
          </a:xfrm>
          <a:prstGeom prst="rect">
            <a:avLst/>
          </a:prstGeom>
          <a:noFill/>
        </p:spPr>
        <p:txBody>
          <a:bodyPr wrap="square" lIns="0" rIns="0" tIns="0" bIns="0" anchor="t">
            <a:spAutoFit/>
          </a:bodyPr>
          <a:lstStyle/>
          <a:p>
            <a:pPr algn="ctr"/>
            <a:r>
              <a:rPr sz="1000" b="0" i="0">
                <a:solidFill>
                  <a:srgbClr val="5B7380"/>
                </a:solidFill>
                <a:latin typeface="Calibri"/>
              </a:rPr>
              <a:t>2024</a:t>
            </a:r>
          </a:p>
        </p:txBody>
      </p:sp>
      <p:cxnSp>
        <p:nvCxnSpPr>
          <p:cNvPr id="30" name="tick 2025"/>
          <p:cNvCxnSpPr/>
          <p:nvPr/>
        </p:nvCxnSpPr>
        <p:spPr>
          <a:xfrm>
            <a:off x="8183879" y="1920240"/>
            <a:ext cx="0" cy="91439"/>
          </a:xfrm>
          <a:prstGeom prst="line">
            <a:avLst/>
          </a:prstGeom>
          <a:ln w="19050">
            <a:solidFill>
              <a:srgbClr val="8FA3AD"/>
            </a:solidFill>
          </a:ln>
        </p:spPr>
        <p:style>
          <a:lnRef idx="2">
            <a:schemeClr val="accent1"/>
          </a:lnRef>
          <a:fillRef idx="0">
            <a:schemeClr val="accent1"/>
          </a:fillRef>
          <a:effectRef idx="1">
            <a:schemeClr val="accent1"/>
          </a:effectRef>
          <a:fontRef idx="minor">
            <a:schemeClr val="tx1"/>
          </a:fontRef>
        </p:style>
      </p:cxnSp>
      <p:sp>
        <p:nvSpPr>
          <p:cNvPr id="31" name="year 2025"/>
          <p:cNvSpPr txBox="1"/>
          <p:nvPr/>
        </p:nvSpPr>
        <p:spPr>
          <a:xfrm>
            <a:off x="7909559" y="2029967"/>
            <a:ext cx="548640" cy="201168"/>
          </a:xfrm>
          <a:prstGeom prst="rect">
            <a:avLst/>
          </a:prstGeom>
          <a:noFill/>
        </p:spPr>
        <p:txBody>
          <a:bodyPr wrap="square" lIns="0" rIns="0" tIns="0" bIns="0" anchor="t">
            <a:spAutoFit/>
          </a:bodyPr>
          <a:lstStyle/>
          <a:p>
            <a:pPr algn="ctr"/>
            <a:r>
              <a:rPr sz="1000" b="0" i="0">
                <a:solidFill>
                  <a:srgbClr val="5B7380"/>
                </a:solidFill>
                <a:latin typeface="Calibri"/>
              </a:rPr>
              <a:t>2025</a:t>
            </a:r>
          </a:p>
        </p:txBody>
      </p:sp>
      <p:cxnSp>
        <p:nvCxnSpPr>
          <p:cNvPr id="32" name="tick 2026"/>
          <p:cNvCxnSpPr/>
          <p:nvPr/>
        </p:nvCxnSpPr>
        <p:spPr>
          <a:xfrm>
            <a:off x="9235440" y="1920240"/>
            <a:ext cx="0" cy="91439"/>
          </a:xfrm>
          <a:prstGeom prst="line">
            <a:avLst/>
          </a:prstGeom>
          <a:ln w="19050">
            <a:solidFill>
              <a:srgbClr val="8FA3AD"/>
            </a:solidFill>
          </a:ln>
        </p:spPr>
        <p:style>
          <a:lnRef idx="2">
            <a:schemeClr val="accent1"/>
          </a:lnRef>
          <a:fillRef idx="0">
            <a:schemeClr val="accent1"/>
          </a:fillRef>
          <a:effectRef idx="1">
            <a:schemeClr val="accent1"/>
          </a:effectRef>
          <a:fontRef idx="minor">
            <a:schemeClr val="tx1"/>
          </a:fontRef>
        </p:style>
      </p:cxnSp>
      <p:sp>
        <p:nvSpPr>
          <p:cNvPr id="33" name="year 2026"/>
          <p:cNvSpPr txBox="1"/>
          <p:nvPr/>
        </p:nvSpPr>
        <p:spPr>
          <a:xfrm>
            <a:off x="8961119" y="2029967"/>
            <a:ext cx="548640" cy="201168"/>
          </a:xfrm>
          <a:prstGeom prst="rect">
            <a:avLst/>
          </a:prstGeom>
          <a:noFill/>
        </p:spPr>
        <p:txBody>
          <a:bodyPr wrap="square" lIns="0" rIns="0" tIns="0" bIns="0" anchor="t">
            <a:spAutoFit/>
          </a:bodyPr>
          <a:lstStyle/>
          <a:p>
            <a:pPr algn="ctr"/>
            <a:r>
              <a:rPr sz="1000" b="0" i="0">
                <a:solidFill>
                  <a:srgbClr val="5B7380"/>
                </a:solidFill>
                <a:latin typeface="Calibri"/>
              </a:rPr>
              <a:t>2026</a:t>
            </a:r>
          </a:p>
        </p:txBody>
      </p:sp>
      <p:sp>
        <p:nvSpPr>
          <p:cNvPr id="34" name="data milestone 2018"/>
          <p:cNvSpPr/>
          <p:nvPr/>
        </p:nvSpPr>
        <p:spPr>
          <a:xfrm>
            <a:off x="758952" y="1901952"/>
            <a:ext cx="128016" cy="128016"/>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5" name="data label 2018"/>
          <p:cNvSpPr txBox="1"/>
          <p:nvPr/>
        </p:nvSpPr>
        <p:spPr>
          <a:xfrm>
            <a:off x="182880" y="1097280"/>
            <a:ext cx="1280160" cy="731520"/>
          </a:xfrm>
          <a:prstGeom prst="rect">
            <a:avLst/>
          </a:prstGeom>
          <a:noFill/>
        </p:spPr>
        <p:txBody>
          <a:bodyPr wrap="square" lIns="0" rIns="0" tIns="0" bIns="0" anchor="b">
            <a:spAutoFit/>
          </a:bodyPr>
          <a:lstStyle/>
          <a:p>
            <a:pPr algn="ctr"/>
            <a:r>
              <a:rPr sz="1100" b="1" i="0">
                <a:solidFill>
                  <a:srgbClr val="386FA4"/>
                </a:solidFill>
                <a:latin typeface="Calibri"/>
              </a:rPr>
              <a:t>Koren 2018</a:t>
            </a:r>
          </a:p>
          <a:p>
            <a:pPr algn="ctr"/>
            <a:r>
              <a:rPr sz="1000" b="0" i="0">
                <a:solidFill>
                  <a:srgbClr val="15323F"/>
                </a:solidFill>
                <a:latin typeface="Calibri"/>
              </a:rPr>
              <a:t>GPS screening</a:t>
            </a:r>
          </a:p>
        </p:txBody>
      </p:sp>
      <p:sp>
        <p:nvSpPr>
          <p:cNvPr id="36" name="data milestone 2023"/>
          <p:cNvSpPr/>
          <p:nvPr/>
        </p:nvSpPr>
        <p:spPr>
          <a:xfrm>
            <a:off x="6016752" y="1901952"/>
            <a:ext cx="128016" cy="128016"/>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7" name="data label 2023"/>
          <p:cNvSpPr txBox="1"/>
          <p:nvPr/>
        </p:nvSpPr>
        <p:spPr>
          <a:xfrm>
            <a:off x="5212080" y="1097280"/>
            <a:ext cx="1737360" cy="731520"/>
          </a:xfrm>
          <a:prstGeom prst="rect">
            <a:avLst/>
          </a:prstGeom>
          <a:noFill/>
        </p:spPr>
        <p:txBody>
          <a:bodyPr wrap="square" lIns="0" rIns="0" tIns="0" bIns="0" anchor="b">
            <a:spAutoFit/>
          </a:bodyPr>
          <a:lstStyle/>
          <a:p>
            <a:pPr algn="ctr"/>
            <a:r>
              <a:rPr sz="1100" b="1" i="0">
                <a:solidFill>
                  <a:srgbClr val="386FA4"/>
                </a:solidFill>
                <a:latin typeface="Calibri"/>
              </a:rPr>
              <a:t>Zhang 2023</a:t>
            </a:r>
          </a:p>
          <a:p>
            <a:pPr algn="ctr"/>
            <a:r>
              <a:rPr sz="1000" b="0" i="0">
                <a:solidFill>
                  <a:srgbClr val="15323F"/>
                </a:solidFill>
                <a:latin typeface="Calibri"/>
              </a:rPr>
              <a:t>first large set of measured mutation effects</a:t>
            </a:r>
          </a:p>
        </p:txBody>
      </p:sp>
      <p:sp>
        <p:nvSpPr>
          <p:cNvPr id="38" name="data milestone 2025"/>
          <p:cNvSpPr/>
          <p:nvPr/>
        </p:nvSpPr>
        <p:spPr>
          <a:xfrm>
            <a:off x="8119871" y="1901952"/>
            <a:ext cx="128016" cy="128016"/>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9" name="data label 2025"/>
          <p:cNvSpPr txBox="1"/>
          <p:nvPr/>
        </p:nvSpPr>
        <p:spPr>
          <a:xfrm>
            <a:off x="7589519" y="1097280"/>
            <a:ext cx="1005840" cy="731520"/>
          </a:xfrm>
          <a:prstGeom prst="rect">
            <a:avLst/>
          </a:prstGeom>
          <a:noFill/>
        </p:spPr>
        <p:txBody>
          <a:bodyPr wrap="square" lIns="0" rIns="0" tIns="0" bIns="0" anchor="b">
            <a:spAutoFit/>
          </a:bodyPr>
          <a:lstStyle/>
          <a:p>
            <a:pPr algn="ctr"/>
            <a:r>
              <a:rPr sz="1100" b="1" i="0">
                <a:solidFill>
                  <a:srgbClr val="386FA4"/>
                </a:solidFill>
                <a:latin typeface="Calibri"/>
              </a:rPr>
              <a:t>Larsen 2025</a:t>
            </a:r>
          </a:p>
          <a:p>
            <a:pPr algn="ctr"/>
            <a:r>
              <a:rPr sz="1000" b="0" i="0">
                <a:solidFill>
                  <a:srgbClr val="15323F"/>
                </a:solidFill>
                <a:latin typeface="Calibri"/>
              </a:rPr>
              <a:t>TF map (preprint)</a:t>
            </a:r>
          </a:p>
        </p:txBody>
      </p:sp>
      <p:sp>
        <p:nvSpPr>
          <p:cNvPr id="40" name="data milestone 2026"/>
          <p:cNvSpPr/>
          <p:nvPr/>
        </p:nvSpPr>
        <p:spPr>
          <a:xfrm>
            <a:off x="9171432" y="1901952"/>
            <a:ext cx="128016" cy="128016"/>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1" name="data label 2026"/>
          <p:cNvSpPr txBox="1"/>
          <p:nvPr/>
        </p:nvSpPr>
        <p:spPr>
          <a:xfrm>
            <a:off x="8823959" y="1097280"/>
            <a:ext cx="1188720" cy="731520"/>
          </a:xfrm>
          <a:prstGeom prst="rect">
            <a:avLst/>
          </a:prstGeom>
          <a:noFill/>
        </p:spPr>
        <p:txBody>
          <a:bodyPr wrap="square" lIns="0" rIns="0" tIns="0" bIns="0" anchor="b">
            <a:spAutoFit/>
          </a:bodyPr>
          <a:lstStyle/>
          <a:p>
            <a:pPr algn="ctr"/>
            <a:r>
              <a:rPr sz="1100" b="1" i="0">
                <a:solidFill>
                  <a:srgbClr val="386FA4"/>
                </a:solidFill>
                <a:latin typeface="Calibri"/>
              </a:rPr>
              <a:t>Voutsinos 2026</a:t>
            </a:r>
          </a:p>
          <a:p>
            <a:pPr algn="ctr"/>
            <a:r>
              <a:rPr sz="1000" b="0" i="0">
                <a:solidFill>
                  <a:srgbClr val="15323F"/>
                </a:solidFill>
                <a:latin typeface="Calibri"/>
              </a:rPr>
              <a:t>reference map + baseline model</a:t>
            </a:r>
          </a:p>
        </p:txBody>
      </p:sp>
      <p:sp>
        <p:nvSpPr>
          <p:cNvPr id="42" name="tool milestone 2024"/>
          <p:cNvSpPr/>
          <p:nvPr/>
        </p:nvSpPr>
        <p:spPr>
          <a:xfrm>
            <a:off x="7068312" y="1901952"/>
            <a:ext cx="128016" cy="12801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3" name="tool label 2024"/>
          <p:cNvSpPr txBox="1"/>
          <p:nvPr/>
        </p:nvSpPr>
        <p:spPr>
          <a:xfrm>
            <a:off x="6309359" y="2258568"/>
            <a:ext cx="1645920" cy="457200"/>
          </a:xfrm>
          <a:prstGeom prst="rect">
            <a:avLst/>
          </a:prstGeom>
          <a:noFill/>
        </p:spPr>
        <p:txBody>
          <a:bodyPr wrap="square" lIns="0" rIns="0" tIns="0" bIns="0" anchor="t">
            <a:spAutoFit/>
          </a:bodyPr>
          <a:lstStyle/>
          <a:p>
            <a:pPr algn="ctr"/>
            <a:r>
              <a:rPr sz="1050" b="1" i="0">
                <a:solidFill>
                  <a:srgbClr val="1F7A6F"/>
                </a:solidFill>
                <a:latin typeface="Calibri"/>
              </a:rPr>
              <a:t>DEGRONOPEDIA · MetaDegron</a:t>
            </a:r>
          </a:p>
          <a:p>
            <a:pPr algn="ctr"/>
            <a:r>
              <a:rPr sz="1000" b="0" i="0">
                <a:solidFill>
                  <a:srgbClr val="15323F"/>
                </a:solidFill>
                <a:latin typeface="Calibri"/>
              </a:rPr>
              <a:t>tools, 2024</a:t>
            </a:r>
          </a:p>
        </p:txBody>
      </p:sp>
      <p:sp>
        <p:nvSpPr>
          <p:cNvPr id="44" name="tool milestone 2026"/>
          <p:cNvSpPr/>
          <p:nvPr/>
        </p:nvSpPr>
        <p:spPr>
          <a:xfrm>
            <a:off x="9171432" y="1901952"/>
            <a:ext cx="128016" cy="12801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5" name="tool label 2026"/>
          <p:cNvSpPr txBox="1"/>
          <p:nvPr/>
        </p:nvSpPr>
        <p:spPr>
          <a:xfrm>
            <a:off x="8412480" y="2258568"/>
            <a:ext cx="1645920" cy="457200"/>
          </a:xfrm>
          <a:prstGeom prst="rect">
            <a:avLst/>
          </a:prstGeom>
          <a:noFill/>
        </p:spPr>
        <p:txBody>
          <a:bodyPr wrap="square" lIns="0" rIns="0" tIns="0" bIns="0" anchor="t">
            <a:spAutoFit/>
          </a:bodyPr>
          <a:lstStyle/>
          <a:p>
            <a:pPr algn="ctr"/>
            <a:r>
              <a:rPr sz="1050" b="1" i="0">
                <a:solidFill>
                  <a:srgbClr val="1F7A6F"/>
                </a:solidFill>
                <a:latin typeface="Calibri"/>
              </a:rPr>
              <a:t>Degformer</a:t>
            </a:r>
          </a:p>
          <a:p>
            <a:pPr algn="ctr"/>
            <a:r>
              <a:rPr sz="1000" b="0" i="0">
                <a:solidFill>
                  <a:srgbClr val="15323F"/>
                </a:solidFill>
                <a:latin typeface="Calibri"/>
              </a:rPr>
              <a:t>GitHub, 2026</a:t>
            </a:r>
          </a:p>
        </p:txBody>
      </p:sp>
      <p:sp>
        <p:nvSpPr>
          <p:cNvPr id="46" name="open gap"/>
          <p:cNvSpPr/>
          <p:nvPr/>
        </p:nvSpPr>
        <p:spPr>
          <a:xfrm>
            <a:off x="10241280" y="1143000"/>
            <a:ext cx="1399032" cy="1691640"/>
          </a:xfrm>
          <a:prstGeom prst="roundRect">
            <a:avLst>
              <a:gd name="adj" fmla="val 6535"/>
            </a:avLst>
          </a:prstGeom>
          <a:solidFill>
            <a:srgbClr val="FBF1D3"/>
          </a:solidFill>
          <a:ln w="12700">
            <a:solidFill>
              <a:srgbClr val="B08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i="0">
                <a:solidFill>
                  <a:srgbClr val="6B5210"/>
                </a:solidFill>
                <a:latin typeface="Calibri"/>
              </a:rPr>
              <a:t>residue-level model + evaluation conditions</a:t>
            </a:r>
          </a:p>
        </p:txBody>
      </p:sp>
      <p:graphicFrame>
        <p:nvGraphicFramePr>
          <p:cNvPr id="47" name="missing pieces"/>
          <p:cNvGraphicFramePr>
            <a:graphicFrameLocks noGrp="1"/>
          </p:cNvGraphicFramePr>
          <p:nvPr/>
        </p:nvGraphicFramePr>
        <p:xfrm>
          <a:off x="548640" y="3017520"/>
          <a:ext cx="6949440" cy="2148840"/>
        </p:xfrm>
        <a:graphic>
          <a:graphicData uri="http://schemas.openxmlformats.org/drawingml/2006/table">
            <a:tbl>
              <a:tblPr firstRow="0" bandRow="0">
                <a:tableStyleId>{2D5ABB26-0587-4C30-8999-92F81FD0307C}</a:tableStyleId>
              </a:tblPr>
              <a:tblGrid>
                <a:gridCol w="2514600"/>
                <a:gridCol w="4434840"/>
              </a:tblGrid>
              <a:tr h="274320">
                <a:tc>
                  <a:txBody>
                    <a:bodyPr wrap="square"/>
                    <a:lstStyle/>
                    <a:p>
                      <a:pPr algn="l"/>
                      <a:r>
                        <a:rPr sz="1100" b="1" i="0">
                          <a:solidFill>
                            <a:srgbClr val="FAFBFC"/>
                          </a:solidFill>
                          <a:latin typeface="Calibri"/>
                        </a:rPr>
                        <a:t>Missing piece</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00" b="1" i="0">
                          <a:solidFill>
                            <a:srgbClr val="FAFBFC"/>
                          </a:solidFill>
                          <a:latin typeface="Calibri"/>
                        </a:rPr>
                        <a:t>Current state</a:t>
                      </a:r>
                    </a:p>
                  </a:txBody>
                  <a:tcPr marL="54864" marR="54864" marT="27432" marB="27432" anchor="ctr">
                    <a:lnL w="0">
                      <a:noFill/>
                    </a:lnL>
                    <a:lnR w="0">
                      <a:noFill/>
                    </a:lnR>
                    <a:lnT w="0">
                      <a:noFill/>
                    </a:lnT>
                    <a:lnB w="6350">
                      <a:solidFill>
                        <a:srgbClr val="DDE4E8"/>
                      </a:solidFill>
                    </a:lnB>
                    <a:solidFill>
                      <a:srgbClr val="15323F"/>
                    </a:solidFill>
                  </a:tcPr>
                </a:tc>
              </a:tr>
              <a:tr h="426720">
                <a:tc>
                  <a:txBody>
                    <a:bodyPr wrap="square"/>
                    <a:lstStyle/>
                    <a:p>
                      <a:pPr algn="l"/>
                      <a:r>
                        <a:rPr sz="1100" b="1" i="0">
                          <a:solidFill>
                            <a:srgbClr val="15323F"/>
                          </a:solidFill>
                          <a:latin typeface="Calibri"/>
                        </a:rPr>
                        <a:t>A model trained on the residue-level objective</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Published degron models are trained on segment scores; per-residue use is outside their design</a:t>
                      </a:r>
                    </a:p>
                  </a:txBody>
                  <a:tcPr marL="54864" marR="54864" marT="27432" marB="27432" anchor="ctr">
                    <a:lnL w="0">
                      <a:noFill/>
                    </a:lnL>
                    <a:lnR w="0">
                      <a:noFill/>
                    </a:lnR>
                    <a:lnT w="0">
                      <a:noFill/>
                    </a:lnT>
                    <a:lnB w="6350">
                      <a:solidFill>
                        <a:srgbClr val="DDE4E8"/>
                      </a:solidFill>
                    </a:lnB>
                    <a:solidFill>
                      <a:srgbClr val="FFFFFF"/>
                    </a:solidFill>
                  </a:tcPr>
                </a:tc>
              </a:tr>
              <a:tr h="426720">
                <a:tc>
                  <a:txBody>
                    <a:bodyPr wrap="square"/>
                    <a:lstStyle/>
                    <a:p>
                      <a:pPr algn="l"/>
                      <a:r>
                        <a:rPr sz="1100" b="1" i="0">
                          <a:solidFill>
                            <a:srgbClr val="15323F"/>
                          </a:solidFill>
                          <a:latin typeface="Calibri"/>
                        </a:rPr>
                        <a:t>Evaluation conditions for residue-level claims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Closest precedent (Degformer): random split with measurable leakage, no label ceiling, no per-prediction uncertainty</a:t>
                      </a:r>
                    </a:p>
                  </a:txBody>
                  <a:tcPr marL="54864" marR="54864" marT="27432" marB="27432" anchor="ctr">
                    <a:lnL w="0">
                      <a:noFill/>
                    </a:lnL>
                    <a:lnR w="0">
                      <a:noFill/>
                    </a:lnR>
                    <a:lnT w="0">
                      <a:noFill/>
                    </a:lnT>
                    <a:lnB w="6350">
                      <a:solidFill>
                        <a:srgbClr val="DDE4E8"/>
                      </a:solidFill>
                    </a:lnB>
                    <a:solidFill>
                      <a:srgbClr val="F4F7F8"/>
                    </a:solidFill>
                  </a:tcPr>
                </a:tc>
              </a:tr>
              <a:tr h="426720">
                <a:tc>
                  <a:txBody>
                    <a:bodyPr wrap="square"/>
                    <a:lstStyle/>
                    <a:p>
                      <a:pPr algn="l"/>
                      <a:r>
                        <a:rPr sz="1100" b="1" i="0">
                          <a:solidFill>
                            <a:srgbClr val="15323F"/>
                          </a:solidFill>
                          <a:latin typeface="Calibri"/>
                        </a:rPr>
                        <a:t>A measured noise ceiling beside reported numbers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Own measurement: cell-level ceilings 0.9458 (scanning) and 0.9519 (saturation); replicate residue-set agreement Jaccard 0.4965</a:t>
                      </a:r>
                    </a:p>
                  </a:txBody>
                  <a:tcPr marL="54864" marR="54864" marT="27432" marB="27432" anchor="ctr">
                    <a:lnL w="0">
                      <a:noFill/>
                    </a:lnL>
                    <a:lnR w="0">
                      <a:noFill/>
                    </a:lnR>
                    <a:lnT w="0">
                      <a:noFill/>
                    </a:lnT>
                    <a:lnB w="6350">
                      <a:solidFill>
                        <a:srgbClr val="DDE4E8"/>
                      </a:solidFill>
                    </a:lnB>
                    <a:solidFill>
                      <a:srgbClr val="FFFFFF"/>
                    </a:solidFill>
                  </a:tcPr>
                </a:tc>
              </a:tr>
              <a:tr h="594360">
                <a:tc>
                  <a:txBody>
                    <a:bodyPr wrap="square"/>
                    <a:lstStyle/>
                    <a:p>
                      <a:pPr algn="l"/>
                      <a:r>
                        <a:rPr sz="1100" b="1" i="0">
                          <a:solidFill>
                            <a:srgbClr val="15323F"/>
                          </a:solidFill>
                          <a:latin typeface="Calibri"/>
                        </a:rPr>
                        <a:t>At which scale the information sits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Own decomposition: peptide composition → ±3 neighbourhood → order → absolute position. A literature search on 15 Oct 2026 did not find this breakdown published for degrons</a:t>
                      </a:r>
                    </a:p>
                  </a:txBody>
                  <a:tcPr marL="54864" marR="54864" marT="27432" marB="27432" anchor="ctr">
                    <a:lnL w="0">
                      <a:noFill/>
                    </a:lnL>
                    <a:lnR w="0">
                      <a:noFill/>
                    </a:lnR>
                    <a:lnT w="0">
                      <a:noFill/>
                    </a:lnT>
                    <a:lnB w="6350">
                      <a:solidFill>
                        <a:srgbClr val="DDE4E8"/>
                      </a:solidFill>
                    </a:lnB>
                    <a:solidFill>
                      <a:srgbClr val="F4F7F8"/>
                    </a:solidFill>
                  </a:tcPr>
                </a:tc>
              </a:tr>
            </a:tbl>
          </a:graphicData>
        </a:graphic>
      </p:graphicFrame>
      <p:sp>
        <p:nvSpPr>
          <p:cNvPr id="48" name="card: Variant interpretati"/>
          <p:cNvSpPr/>
          <p:nvPr/>
        </p:nvSpPr>
        <p:spPr>
          <a:xfrm>
            <a:off x="7726679" y="3017520"/>
            <a:ext cx="3913632" cy="1371600"/>
          </a:xfrm>
          <a:prstGeom prst="roundRect">
            <a:avLst>
              <a:gd name="adj" fmla="val 6666"/>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9" name="card text: Variant interpretati"/>
          <p:cNvSpPr txBox="1"/>
          <p:nvPr/>
        </p:nvSpPr>
        <p:spPr>
          <a:xfrm>
            <a:off x="7863840" y="3108960"/>
            <a:ext cx="3639312" cy="1234440"/>
          </a:xfrm>
          <a:prstGeom prst="rect">
            <a:avLst/>
          </a:prstGeom>
          <a:noFill/>
        </p:spPr>
        <p:txBody>
          <a:bodyPr wrap="square" lIns="0" rIns="0" tIns="0" bIns="0" anchor="t">
            <a:spAutoFit/>
          </a:bodyPr>
          <a:lstStyle/>
          <a:p>
            <a:pPr algn="l"/>
            <a:r>
              <a:rPr sz="1200" b="1" i="0">
                <a:solidFill>
                  <a:srgbClr val="386FA4"/>
                </a:solidFill>
                <a:latin typeface="Calibri"/>
              </a:rPr>
              <a:t>Variant interpretation</a:t>
            </a:r>
          </a:p>
          <a:p>
            <a:pPr algn="l">
              <a:spcBef>
                <a:spcPts val="300"/>
              </a:spcBef>
            </a:pPr>
            <a:r>
              <a:rPr sz="1100" b="0" i="0">
                <a:solidFill>
                  <a:srgbClr val="15323F"/>
                </a:solidFill>
                <a:latin typeface="Calibri"/>
              </a:rPr>
              <a:t>530,412 VUS sit in measured degron regions (slide 6): a mechanistic hypothesis to complement pathogenicity scores, i.e. does a substitution stabilise or destabilise the peptide, and by how much</a:t>
            </a:r>
          </a:p>
        </p:txBody>
      </p:sp>
      <p:sp>
        <p:nvSpPr>
          <p:cNvPr id="50" name="card: Experimental biologi"/>
          <p:cNvSpPr/>
          <p:nvPr/>
        </p:nvSpPr>
        <p:spPr>
          <a:xfrm>
            <a:off x="7726679" y="4480560"/>
            <a:ext cx="3913632" cy="822960"/>
          </a:xfrm>
          <a:prstGeom prst="roundRect">
            <a:avLst>
              <a:gd name="adj" fmla="val 11111"/>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1" name="card text: Experimental biologi"/>
          <p:cNvSpPr txBox="1"/>
          <p:nvPr/>
        </p:nvSpPr>
        <p:spPr>
          <a:xfrm>
            <a:off x="7863840" y="4572000"/>
            <a:ext cx="3639312" cy="685800"/>
          </a:xfrm>
          <a:prstGeom prst="rect">
            <a:avLst/>
          </a:prstGeom>
          <a:noFill/>
        </p:spPr>
        <p:txBody>
          <a:bodyPr wrap="square" lIns="0" rIns="0" tIns="0" bIns="0" anchor="t">
            <a:spAutoFit/>
          </a:bodyPr>
          <a:lstStyle/>
          <a:p>
            <a:pPr algn="l"/>
            <a:r>
              <a:rPr sz="1200" b="1" i="0">
                <a:solidFill>
                  <a:srgbClr val="2A9D8F"/>
                </a:solidFill>
                <a:latin typeface="Calibri"/>
              </a:rPr>
              <a:t>Experimental biologists</a:t>
            </a:r>
          </a:p>
          <a:p>
            <a:pPr algn="l">
              <a:spcBef>
                <a:spcPts val="300"/>
              </a:spcBef>
            </a:pPr>
            <a:r>
              <a:rPr sz="1100" b="0" i="0">
                <a:solidFill>
                  <a:srgbClr val="15323F"/>
                </a:solidFill>
                <a:latin typeface="Calibri"/>
              </a:rPr>
              <a:t>A prioritisation tool: “test these 3 residues first”, with calibrated uncertainty</a:t>
            </a:r>
          </a:p>
        </p:txBody>
      </p:sp>
      <p:sp>
        <p:nvSpPr>
          <p:cNvPr id="52" name="card: Bioinformatics / ML "/>
          <p:cNvSpPr/>
          <p:nvPr/>
        </p:nvSpPr>
        <p:spPr>
          <a:xfrm>
            <a:off x="7726679" y="5394960"/>
            <a:ext cx="3913632" cy="822960"/>
          </a:xfrm>
          <a:prstGeom prst="roundRect">
            <a:avLst>
              <a:gd name="adj" fmla="val 11111"/>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3" name="card text: Bioinformatics / ML "/>
          <p:cNvSpPr txBox="1"/>
          <p:nvPr/>
        </p:nvSpPr>
        <p:spPr>
          <a:xfrm>
            <a:off x="7863840" y="5486400"/>
            <a:ext cx="3639312" cy="685800"/>
          </a:xfrm>
          <a:prstGeom prst="rect">
            <a:avLst/>
          </a:prstGeom>
          <a:noFill/>
        </p:spPr>
        <p:txBody>
          <a:bodyPr wrap="square" lIns="0" rIns="0" tIns="0" bIns="0" anchor="t">
            <a:spAutoFit/>
          </a:bodyPr>
          <a:lstStyle/>
          <a:p>
            <a:pPr algn="l"/>
            <a:r>
              <a:rPr sz="1200" b="1" i="0">
                <a:solidFill>
                  <a:srgbClr val="7A5BA6"/>
                </a:solidFill>
                <a:latin typeface="Calibri"/>
              </a:rPr>
              <a:t>Bioinformatics / ML researchers</a:t>
            </a:r>
          </a:p>
          <a:p>
            <a:pPr algn="l">
              <a:spcBef>
                <a:spcPts val="300"/>
              </a:spcBef>
            </a:pPr>
            <a:r>
              <a:rPr sz="1100" b="0" i="0">
                <a:solidFill>
                  <a:srgbClr val="15323F"/>
                </a:solidFill>
                <a:latin typeface="Calibri"/>
              </a:rPr>
              <a:t>A reference task with a measured ceiling, honest baselines and a homology-controlled split</a:t>
            </a:r>
          </a:p>
        </p:txBody>
      </p:sp>
      <p:sp>
        <p:nvSpPr>
          <p:cNvPr id="54" name="evidence label"/>
          <p:cNvSpPr txBox="1"/>
          <p:nvPr/>
        </p:nvSpPr>
        <p:spPr>
          <a:xfrm>
            <a:off x="548640" y="5440680"/>
            <a:ext cx="6949440" cy="310896"/>
          </a:xfrm>
          <a:prstGeom prst="rect">
            <a:avLst/>
          </a:prstGeom>
          <a:noFill/>
        </p:spPr>
        <p:txBody>
          <a:bodyPr wrap="square" lIns="0" rIns="0" tIns="0" bIns="0" anchor="t">
            <a:spAutoFit/>
          </a:bodyPr>
          <a:lstStyle/>
          <a:p>
            <a:pPr algn="l"/>
            <a:r>
              <a:rPr sz="1000" b="0" i="0">
                <a:solidFill>
                  <a:srgbClr val="5B7380"/>
                </a:solidFill>
                <a:latin typeface="Calibri"/>
              </a:rPr>
              <a:t>Search statement: PubMed and Europe PMC queries run on 15 Oct 2026 returned no degron-prediction tool published in 2025–2026 beyond those listed; of 19 papers citing Larsen 2025 and Voutsinos 2026, none is a residue-level footprint model.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4"/>
                                        </p:tgtEl>
                                        <p:attrNameLst>
                                          <p:attrName>style.visibility</p:attrName>
                                        </p:attrNameLst>
                                      </p:cBhvr>
                                      <p:to>
                                        <p:strVal val="visible"/>
                                      </p:to>
                                    </p:set>
                                    <p:animEffect transition="in" filter="fade">
                                      <p:cBhvr>
                                        <p:cTn id="5" dur="500"/>
                                        <p:tgtEl>
                                          <p:spTgt spid="34"/>
                                        </p:tgtEl>
                                      </p:cBhvr>
                                    </p:animEffect>
                                  </p:childTnLst>
                                </p:cTn>
                              </p:par>
                              <p:par>
                                <p:cTn id="6" presetID="10" presetClass="entr" presetSubtype="0" fill="hold" nodeType="withEffect">
                                  <p:stCondLst>
                                    <p:cond delay="0"/>
                                  </p:stCondLst>
                                  <p:childTnLst>
                                    <p:set>
                                      <p:cBhvr>
                                        <p:cTn id="7" dur="1" fill="hold">
                                          <p:stCondLst>
                                            <p:cond delay="0"/>
                                          </p:stCondLst>
                                        </p:cTn>
                                        <p:tgtEl>
                                          <p:spTgt spid="35"/>
                                        </p:tgtEl>
                                        <p:attrNameLst>
                                          <p:attrName>style.visibility</p:attrName>
                                        </p:attrNameLst>
                                      </p:cBhvr>
                                      <p:to>
                                        <p:strVal val="visible"/>
                                      </p:to>
                                    </p:set>
                                    <p:animEffect transition="in" filter="fade">
                                      <p:cBhvr>
                                        <p:cTn id="8" dur="500"/>
                                        <p:tgtEl>
                                          <p:spTgt spid="35"/>
                                        </p:tgtEl>
                                      </p:cBhvr>
                                    </p:animEffect>
                                  </p:childTnLst>
                                </p:cTn>
                              </p:par>
                            </p:childTnLst>
                          </p:cTn>
                        </p:par>
                      </p:childTnLst>
                    </p:cTn>
                  </p:par>
                  <p:par>
                    <p:cTn id="32" fill="hold">
                      <p:stCondLst>
                        <p:cond delay="indefinite"/>
                      </p:stCondLst>
                      <p:childTnLst>
                        <p:par>
                          <p:cTn id="33"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par>
                                <p:cTn id="14" presetID="10" presetClass="entr" presetSubtype="0" fill="hold"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par>
                                <p:cTn id="17" presetID="10"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500"/>
                                        <p:tgtEl>
                                          <p:spTgt spid="38"/>
                                        </p:tgtEl>
                                      </p:cBhvr>
                                    </p:animEffect>
                                  </p:childTnLst>
                                </p:cTn>
                              </p:par>
                              <p:par>
                                <p:cTn id="20" presetID="10" presetClass="entr" presetSubtype="0"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500"/>
                                        <p:tgtEl>
                                          <p:spTgt spid="39"/>
                                        </p:tgtEl>
                                      </p:cBhvr>
                                    </p:animEffect>
                                  </p:childTnLst>
                                </p:cTn>
                              </p:par>
                              <p:par>
                                <p:cTn id="23" presetID="10"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par>
                                <p:cTn id="26" presetID="10" presetClass="entr" presetSubtype="0" fill="hold"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par>
                                <p:cTn id="29" presetID="10"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Contribution: three pillars; method measured, two cells still open</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14</a:t>
            </a:r>
          </a:p>
        </p:txBody>
      </p:sp>
      <p:sp>
        <p:nvSpPr>
          <p:cNvPr id="15" name="card: 1  Urgency"/>
          <p:cNvSpPr/>
          <p:nvPr/>
        </p:nvSpPr>
        <p:spPr>
          <a:xfrm>
            <a:off x="548640" y="1051560"/>
            <a:ext cx="3611880" cy="1005840"/>
          </a:xfrm>
          <a:prstGeom prst="roundRect">
            <a:avLst>
              <a:gd name="adj" fmla="val 909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card text: 1  Urgency"/>
          <p:cNvSpPr txBox="1"/>
          <p:nvPr/>
        </p:nvSpPr>
        <p:spPr>
          <a:xfrm>
            <a:off x="685800" y="1143000"/>
            <a:ext cx="3337560" cy="868680"/>
          </a:xfrm>
          <a:prstGeom prst="rect">
            <a:avLst/>
          </a:prstGeom>
          <a:noFill/>
        </p:spPr>
        <p:txBody>
          <a:bodyPr wrap="square" lIns="0" rIns="0" tIns="0" bIns="0" anchor="t">
            <a:spAutoFit/>
          </a:bodyPr>
          <a:lstStyle/>
          <a:p>
            <a:pPr algn="l"/>
            <a:r>
              <a:rPr sz="1300" b="1" i="0">
                <a:solidFill>
                  <a:srgbClr val="2A9D8F"/>
                </a:solidFill>
                <a:latin typeface="Calibri"/>
              </a:rPr>
              <a:t>1  Urgency</a:t>
            </a:r>
          </a:p>
          <a:p>
            <a:pPr algn="l">
              <a:spcBef>
                <a:spcPts val="100"/>
              </a:spcBef>
            </a:pPr>
            <a:r>
              <a:rPr sz="1050" b="0" i="0">
                <a:solidFill>
                  <a:srgbClr val="15323F"/>
                </a:solidFill>
                <a:latin typeface="Calibri"/>
              </a:rPr>
              <a:t>why the question is worth asking</a:t>
            </a:r>
          </a:p>
          <a:p>
            <a:pPr algn="l">
              <a:spcBef>
                <a:spcPts val="200"/>
              </a:spcBef>
            </a:pPr>
            <a:r>
              <a:rPr sz="1050" b="1" i="0">
                <a:solidFill>
                  <a:srgbClr val="2A9D8F"/>
                </a:solidFill>
                <a:latin typeface="Calibri"/>
              </a:rPr>
              <a:t>● measured, region level: OR 2.148 within-protein (slide 6)</a:t>
            </a:r>
          </a:p>
        </p:txBody>
      </p:sp>
      <p:sp>
        <p:nvSpPr>
          <p:cNvPr id="17" name="card: 2  Method"/>
          <p:cNvSpPr/>
          <p:nvPr/>
        </p:nvSpPr>
        <p:spPr>
          <a:xfrm>
            <a:off x="4270248" y="1051560"/>
            <a:ext cx="3611880" cy="1005840"/>
          </a:xfrm>
          <a:prstGeom prst="roundRect">
            <a:avLst>
              <a:gd name="adj" fmla="val 909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card text: 2  Method"/>
          <p:cNvSpPr txBox="1"/>
          <p:nvPr/>
        </p:nvSpPr>
        <p:spPr>
          <a:xfrm>
            <a:off x="4407408" y="1143000"/>
            <a:ext cx="3337560" cy="868680"/>
          </a:xfrm>
          <a:prstGeom prst="rect">
            <a:avLst/>
          </a:prstGeom>
          <a:noFill/>
        </p:spPr>
        <p:txBody>
          <a:bodyPr wrap="square" lIns="0" rIns="0" tIns="0" bIns="0" anchor="t">
            <a:spAutoFit/>
          </a:bodyPr>
          <a:lstStyle/>
          <a:p>
            <a:pPr algn="l"/>
            <a:r>
              <a:rPr sz="1300" b="1" i="0">
                <a:solidFill>
                  <a:srgbClr val="386FA4"/>
                </a:solidFill>
                <a:latin typeface="Calibri"/>
              </a:rPr>
              <a:t>2  Method</a:t>
            </a:r>
          </a:p>
          <a:p>
            <a:pPr algn="l">
              <a:spcBef>
                <a:spcPts val="100"/>
              </a:spcBef>
            </a:pPr>
            <a:r>
              <a:rPr sz="1050" b="0" i="0">
                <a:solidFill>
                  <a:srgbClr val="15323F"/>
                </a:solidFill>
                <a:latin typeface="Calibri"/>
              </a:rPr>
              <a:t>residue-level prediction, proof of the gap, evaluation protocol, new architecture</a:t>
            </a:r>
          </a:p>
          <a:p>
            <a:pPr algn="l">
              <a:spcBef>
                <a:spcPts val="200"/>
              </a:spcBef>
            </a:pPr>
            <a:r>
              <a:rPr sz="1050" b="1" i="0">
                <a:solidFill>
                  <a:srgbClr val="386FA4"/>
                </a:solidFill>
                <a:latin typeface="Calibri"/>
              </a:rPr>
              <a:t>● C1–C3 measured  ·  ○ C4 open</a:t>
            </a:r>
          </a:p>
        </p:txBody>
      </p:sp>
      <p:sp>
        <p:nvSpPr>
          <p:cNvPr id="19" name="card: 3  Software"/>
          <p:cNvSpPr/>
          <p:nvPr/>
        </p:nvSpPr>
        <p:spPr>
          <a:xfrm>
            <a:off x="7991856" y="1051560"/>
            <a:ext cx="3611880" cy="1005840"/>
          </a:xfrm>
          <a:prstGeom prst="roundRect">
            <a:avLst>
              <a:gd name="adj" fmla="val 909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card text: 3  Software"/>
          <p:cNvSpPr txBox="1"/>
          <p:nvPr/>
        </p:nvSpPr>
        <p:spPr>
          <a:xfrm>
            <a:off x="8129016" y="1143000"/>
            <a:ext cx="3337560" cy="868680"/>
          </a:xfrm>
          <a:prstGeom prst="rect">
            <a:avLst/>
          </a:prstGeom>
          <a:noFill/>
        </p:spPr>
        <p:txBody>
          <a:bodyPr wrap="square" lIns="0" rIns="0" tIns="0" bIns="0" anchor="t">
            <a:spAutoFit/>
          </a:bodyPr>
          <a:lstStyle/>
          <a:p>
            <a:pPr algn="l"/>
            <a:r>
              <a:rPr sz="1300" b="1" i="0">
                <a:solidFill>
                  <a:srgbClr val="B08A1E"/>
                </a:solidFill>
                <a:latin typeface="Calibri"/>
              </a:rPr>
              <a:t>3  Software</a:t>
            </a:r>
          </a:p>
          <a:p>
            <a:pPr algn="l">
              <a:spcBef>
                <a:spcPts val="100"/>
              </a:spcBef>
            </a:pPr>
            <a:r>
              <a:rPr sz="1050" b="0" i="0">
                <a:solidFill>
                  <a:srgbClr val="15323F"/>
                </a:solidFill>
                <a:latin typeface="Calibri"/>
              </a:rPr>
              <a:t>prediction service with measured uncertainty, reproducible evaluation harness</a:t>
            </a:r>
          </a:p>
          <a:p>
            <a:pPr algn="l">
              <a:spcBef>
                <a:spcPts val="200"/>
              </a:spcBef>
            </a:pPr>
            <a:r>
              <a:rPr sz="1050" b="1" i="0">
                <a:solidFill>
                  <a:srgbClr val="B08A1E"/>
                </a:solidFill>
                <a:latin typeface="Calibri"/>
              </a:rPr>
              <a:t>○ C5 designed, not built (slides 23–24)</a:t>
            </a:r>
          </a:p>
        </p:txBody>
      </p:sp>
      <p:graphicFrame>
        <p:nvGraphicFramePr>
          <p:cNvPr id="21" name="contributions"/>
          <p:cNvGraphicFramePr>
            <a:graphicFrameLocks noGrp="1"/>
          </p:cNvGraphicFramePr>
          <p:nvPr/>
        </p:nvGraphicFramePr>
        <p:xfrm>
          <a:off x="548640" y="2194560"/>
          <a:ext cx="11091672" cy="2194556"/>
        </p:xfrm>
        <a:graphic>
          <a:graphicData uri="http://schemas.openxmlformats.org/drawingml/2006/table">
            <a:tbl>
              <a:tblPr firstRow="0" bandRow="0">
                <a:tableStyleId>{2D5ABB26-0587-4C30-8999-92F81FD0307C}</a:tableStyleId>
              </a:tblPr>
              <a:tblGrid>
                <a:gridCol w="502920"/>
                <a:gridCol w="8778240"/>
                <a:gridCol w="1810512"/>
              </a:tblGrid>
              <a:tr h="274320">
                <a:tc>
                  <a:txBody>
                    <a:bodyPr wrap="square"/>
                    <a:lstStyle/>
                    <a:p>
                      <a:pPr algn="l"/>
                      <a:r>
                        <a:rPr sz="1050" b="1" i="0">
                          <a:solidFill>
                            <a:srgbClr val="FAFBFC"/>
                          </a:solidFill>
                          <a:latin typeface="Calibri"/>
                        </a:rPr>
                        <a:t>#</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050" b="1" i="0">
                          <a:solidFill>
                            <a:srgbClr val="FAFBFC"/>
                          </a:solidFill>
                          <a:latin typeface="Calibri"/>
                        </a:rPr>
                        <a:t>Contribution</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050" b="1" i="0">
                          <a:solidFill>
                            <a:srgbClr val="FAFBFC"/>
                          </a:solidFill>
                          <a:latin typeface="Calibri"/>
                        </a:rPr>
                        <a:t>Status</a:t>
                      </a:r>
                    </a:p>
                  </a:txBody>
                  <a:tcPr marL="54864" marR="54864" marT="27432" marB="27432" anchor="ctr">
                    <a:lnL w="0">
                      <a:noFill/>
                    </a:lnL>
                    <a:lnR w="0">
                      <a:noFill/>
                    </a:lnR>
                    <a:lnT w="0">
                      <a:noFill/>
                    </a:lnT>
                    <a:lnB w="6350">
                      <a:solidFill>
                        <a:srgbClr val="DDE4E8"/>
                      </a:solidFill>
                    </a:lnB>
                    <a:solidFill>
                      <a:srgbClr val="15323F"/>
                    </a:solidFill>
                  </a:tcPr>
                </a:tc>
              </a:tr>
              <a:tr h="411479">
                <a:tc>
                  <a:txBody>
                    <a:bodyPr wrap="square"/>
                    <a:lstStyle/>
                    <a:p>
                      <a:pPr algn="l"/>
                      <a:r>
                        <a:rPr sz="1050" b="1" i="0">
                          <a:solidFill>
                            <a:srgbClr val="15323F"/>
                          </a:solidFill>
                          <a:latin typeface="Calibri"/>
                        </a:rPr>
                        <a:t>C1</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0" i="0">
                          <a:solidFill>
                            <a:srgbClr val="15323F"/>
                          </a:solidFill>
                          <a:latin typeface="Calibri"/>
                        </a:rPr>
                        <a:t>Proof that the current model class cannot localise degron residues: 89.7% of footprint peptides, explicit rank-2 counterexample, permutation test on PAP (Pearson 1.000000)</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0" i="0">
                          <a:solidFill>
                            <a:srgbClr val="15323F"/>
                          </a:solidFill>
                          <a:latin typeface="Calibri"/>
                        </a:rPr>
                        <a:t>● measured</a:t>
                      </a:r>
                    </a:p>
                  </a:txBody>
                  <a:tcPr marL="54864" marR="54864" marT="27432" marB="27432" anchor="ctr">
                    <a:lnL w="0">
                      <a:noFill/>
                    </a:lnL>
                    <a:lnR w="0">
                      <a:noFill/>
                    </a:lnR>
                    <a:lnT w="0">
                      <a:noFill/>
                    </a:lnT>
                    <a:lnB w="6350">
                      <a:solidFill>
                        <a:srgbClr val="DDE4E8"/>
                      </a:solidFill>
                    </a:lnB>
                    <a:solidFill>
                      <a:srgbClr val="D9EFEC"/>
                    </a:solidFill>
                  </a:tcPr>
                </a:tc>
              </a:tr>
              <a:tr h="411479">
                <a:tc>
                  <a:txBody>
                    <a:bodyPr wrap="square"/>
                    <a:lstStyle/>
                    <a:p>
                      <a:pPr algn="l"/>
                      <a:r>
                        <a:rPr sz="1050" b="1" i="0">
                          <a:solidFill>
                            <a:srgbClr val="15323F"/>
                          </a:solidFill>
                          <a:latin typeface="Calibri"/>
                        </a:rPr>
                        <a:t>C2</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0" i="0">
                          <a:solidFill>
                            <a:srgbClr val="15323F"/>
                          </a:solidFill>
                          <a:latin typeface="Calibri"/>
                        </a:rPr>
                        <a:t>Evaluation protocol for the residue-level task: two label sets with distinct roles, measured ceilings (0.9458 / 0.9519), composition baseline, published-model control, cluster split, pre-computed detection threshold (MDE 0.0123)</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0" i="0">
                          <a:solidFill>
                            <a:srgbClr val="15323F"/>
                          </a:solidFill>
                          <a:latin typeface="Calibri"/>
                        </a:rPr>
                        <a:t>● measured</a:t>
                      </a:r>
                    </a:p>
                  </a:txBody>
                  <a:tcPr marL="54864" marR="54864" marT="27432" marB="27432" anchor="ctr">
                    <a:lnL w="0">
                      <a:noFill/>
                    </a:lnL>
                    <a:lnR w="0">
                      <a:noFill/>
                    </a:lnR>
                    <a:lnT w="0">
                      <a:noFill/>
                    </a:lnT>
                    <a:lnB w="6350">
                      <a:solidFill>
                        <a:srgbClr val="DDE4E8"/>
                      </a:solidFill>
                    </a:lnB>
                    <a:solidFill>
                      <a:srgbClr val="D9EFEC"/>
                    </a:solidFill>
                  </a:tcPr>
                </a:tc>
              </a:tr>
              <a:tr h="411479">
                <a:tc>
                  <a:txBody>
                    <a:bodyPr wrap="square"/>
                    <a:lstStyle/>
                    <a:p>
                      <a:pPr algn="l"/>
                      <a:r>
                        <a:rPr sz="1050" b="1" i="0">
                          <a:solidFill>
                            <a:srgbClr val="15323F"/>
                          </a:solidFill>
                          <a:latin typeface="Calibri"/>
                        </a:rPr>
                        <a:t>C3</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0" i="0">
                          <a:solidFill>
                            <a:srgbClr val="15323F"/>
                          </a:solidFill>
                          <a:latin typeface="Calibri"/>
                        </a:rPr>
                        <a:t>Decomposition of where the predictive information sits, and a model that beats the closest published control on the context axis: +0.0300 over ΔPAP cnn2w7 (CI [0.0234, 0.0366])</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0" i="0">
                          <a:solidFill>
                            <a:srgbClr val="15323F"/>
                          </a:solidFill>
                          <a:latin typeface="Calibri"/>
                        </a:rPr>
                        <a:t>● first positive result</a:t>
                      </a:r>
                    </a:p>
                  </a:txBody>
                  <a:tcPr marL="54864" marR="54864" marT="27432" marB="27432" anchor="ctr">
                    <a:lnL w="0">
                      <a:noFill/>
                    </a:lnL>
                    <a:lnR w="0">
                      <a:noFill/>
                    </a:lnR>
                    <a:lnT w="0">
                      <a:noFill/>
                    </a:lnT>
                    <a:lnB w="6350">
                      <a:solidFill>
                        <a:srgbClr val="DDE4E8"/>
                      </a:solidFill>
                    </a:lnB>
                    <a:solidFill>
                      <a:srgbClr val="D9EFEC"/>
                    </a:solidFill>
                  </a:tcPr>
                </a:tc>
              </a:tr>
              <a:tr h="274320">
                <a:tc>
                  <a:txBody>
                    <a:bodyPr wrap="square"/>
                    <a:lstStyle/>
                    <a:p>
                      <a:pPr algn="l"/>
                      <a:r>
                        <a:rPr sz="1050" b="1" i="0">
                          <a:solidFill>
                            <a:srgbClr val="15323F"/>
                          </a:solidFill>
                          <a:latin typeface="Calibri"/>
                        </a:rPr>
                        <a:t>C4</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0" i="0">
                          <a:solidFill>
                            <a:srgbClr val="15323F"/>
                          </a:solidFill>
                          <a:latin typeface="Calibri"/>
                        </a:rPr>
                        <a:t>Architecture closing the gap on the substitution matrix: currently −0.0420 behind ΔPAP cnn2w1 (target: beat 0.7693, ceiling 0.9519)</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0" i="0">
                          <a:solidFill>
                            <a:srgbClr val="15323F"/>
                          </a:solidFill>
                          <a:latin typeface="Calibri"/>
                        </a:rPr>
                        <a:t>○ open: the work ahead</a:t>
                      </a:r>
                    </a:p>
                  </a:txBody>
                  <a:tcPr marL="54864" marR="54864" marT="27432" marB="27432" anchor="ctr">
                    <a:lnL w="0">
                      <a:noFill/>
                    </a:lnL>
                    <a:lnR w="0">
                      <a:noFill/>
                    </a:lnR>
                    <a:lnT w="0">
                      <a:noFill/>
                    </a:lnT>
                    <a:lnB w="6350">
                      <a:solidFill>
                        <a:srgbClr val="DDE4E8"/>
                      </a:solidFill>
                    </a:lnB>
                    <a:solidFill>
                      <a:srgbClr val="FBF1D3"/>
                    </a:solidFill>
                  </a:tcPr>
                </a:tc>
              </a:tr>
              <a:tr h="411479">
                <a:tc>
                  <a:txBody>
                    <a:bodyPr wrap="square"/>
                    <a:lstStyle/>
                    <a:p>
                      <a:pPr algn="l"/>
                      <a:r>
                        <a:rPr sz="1050" b="1" i="0">
                          <a:solidFill>
                            <a:srgbClr val="15323F"/>
                          </a:solidFill>
                          <a:latin typeface="Calibri"/>
                        </a:rPr>
                        <a:t>C5</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0" i="0">
                          <a:solidFill>
                            <a:srgbClr val="15323F"/>
                          </a:solidFill>
                          <a:latin typeface="Calibri"/>
                        </a:rPr>
                        <a:t>Software: residue-level prediction service with uncertainty anchored to the measured ceiling, plus a harness that re-runs prior models under the same cluster split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0" i="0">
                          <a:solidFill>
                            <a:srgbClr val="15323F"/>
                          </a:solidFill>
                          <a:latin typeface="Calibri"/>
                        </a:rPr>
                        <a:t>○ designed, built in weeks 11–13</a:t>
                      </a:r>
                    </a:p>
                  </a:txBody>
                  <a:tcPr marL="54864" marR="54864" marT="27432" marB="27432" anchor="ctr">
                    <a:lnL w="0">
                      <a:noFill/>
                    </a:lnL>
                    <a:lnR w="0">
                      <a:noFill/>
                    </a:lnR>
                    <a:lnT w="0">
                      <a:noFill/>
                    </a:lnT>
                    <a:lnB w="6350">
                      <a:solidFill>
                        <a:srgbClr val="DDE4E8"/>
                      </a:solidFill>
                    </a:lnB>
                    <a:solidFill>
                      <a:srgbClr val="FBF1D3"/>
                    </a:solidFill>
                  </a:tcPr>
                </a:tc>
              </a:tr>
            </a:tbl>
          </a:graphicData>
        </a:graphic>
      </p:graphicFrame>
      <p:sp>
        <p:nvSpPr>
          <p:cNvPr id="22" name="bar title"/>
          <p:cNvSpPr txBox="1"/>
          <p:nvPr/>
        </p:nvSpPr>
        <p:spPr>
          <a:xfrm>
            <a:off x="548640" y="4443983"/>
            <a:ext cx="7863840" cy="256032"/>
          </a:xfrm>
          <a:prstGeom prst="rect">
            <a:avLst/>
          </a:prstGeom>
          <a:noFill/>
        </p:spPr>
        <p:txBody>
          <a:bodyPr wrap="square" lIns="0" rIns="0" tIns="0" bIns="0" anchor="t">
            <a:spAutoFit/>
          </a:bodyPr>
          <a:lstStyle/>
          <a:p>
            <a:pPr algn="l"/>
            <a:r>
              <a:rPr sz="1150" b="1" i="0">
                <a:solidFill>
                  <a:srgbClr val="15323F"/>
                </a:solidFill>
                <a:latin typeface="Calibri"/>
              </a:rPr>
              <a:t>Where the information sits: contribution to the +0.0289 gain</a:t>
            </a:r>
          </a:p>
        </p:txBody>
      </p:sp>
      <p:sp>
        <p:nvSpPr>
          <p:cNvPr id="23" name="segment ±3 neighbour"/>
          <p:cNvSpPr/>
          <p:nvPr/>
        </p:nvSpPr>
        <p:spPr>
          <a:xfrm>
            <a:off x="548640" y="4736592"/>
            <a:ext cx="6269453" cy="365760"/>
          </a:xfrm>
          <a:prstGeom prst="rect">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4" name="segment order  +0.00"/>
          <p:cNvSpPr/>
          <p:nvPr/>
        </p:nvSpPr>
        <p:spPr>
          <a:xfrm>
            <a:off x="6818093" y="4736592"/>
            <a:ext cx="1540339" cy="365760"/>
          </a:xfrm>
          <a:prstGeom prst="rect">
            <a:avLst/>
          </a:prstGeom>
          <a:solidFill>
            <a:srgbClr val="7A97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5" name="segment absolute position"/>
          <p:cNvSpPr/>
          <p:nvPr/>
        </p:nvSpPr>
        <p:spPr>
          <a:xfrm>
            <a:off x="8358432" y="4736592"/>
            <a:ext cx="54047" cy="36576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6" name="seg label 1"/>
          <p:cNvSpPr txBox="1"/>
          <p:nvPr/>
        </p:nvSpPr>
        <p:spPr>
          <a:xfrm>
            <a:off x="548640" y="5148072"/>
            <a:ext cx="6309360" cy="228600"/>
          </a:xfrm>
          <a:prstGeom prst="rect">
            <a:avLst/>
          </a:prstGeom>
          <a:noFill/>
        </p:spPr>
        <p:txBody>
          <a:bodyPr wrap="square" lIns="0" rIns="0" tIns="0" bIns="0" anchor="t">
            <a:spAutoFit/>
          </a:bodyPr>
          <a:lstStyle/>
          <a:p>
            <a:pPr algn="l"/>
            <a:r>
              <a:rPr sz="1050" b="1" i="0">
                <a:solidFill>
                  <a:srgbClr val="386FA4"/>
                </a:solidFill>
                <a:latin typeface="Calibri"/>
              </a:rPr>
              <a:t>±3 neighbourhood composition  +0.0232 (80%)</a:t>
            </a:r>
          </a:p>
        </p:txBody>
      </p:sp>
      <p:sp>
        <p:nvSpPr>
          <p:cNvPr id="27" name="seg label 2"/>
          <p:cNvSpPr txBox="1"/>
          <p:nvPr/>
        </p:nvSpPr>
        <p:spPr>
          <a:xfrm>
            <a:off x="6949440" y="5148072"/>
            <a:ext cx="1554480" cy="228600"/>
          </a:xfrm>
          <a:prstGeom prst="rect">
            <a:avLst/>
          </a:prstGeom>
          <a:noFill/>
        </p:spPr>
        <p:txBody>
          <a:bodyPr wrap="square" lIns="0" rIns="0" tIns="0" bIns="0" anchor="t">
            <a:spAutoFit/>
          </a:bodyPr>
          <a:lstStyle/>
          <a:p>
            <a:pPr algn="l"/>
            <a:r>
              <a:rPr sz="1050" b="0" i="0">
                <a:solidFill>
                  <a:srgbClr val="4A6A92"/>
                </a:solidFill>
                <a:latin typeface="Calibri"/>
              </a:rPr>
              <a:t>order +0.0057</a:t>
            </a:r>
          </a:p>
        </p:txBody>
      </p:sp>
      <p:sp>
        <p:nvSpPr>
          <p:cNvPr id="28" name="seg label 3"/>
          <p:cNvSpPr txBox="1"/>
          <p:nvPr/>
        </p:nvSpPr>
        <p:spPr>
          <a:xfrm>
            <a:off x="6492240" y="5376672"/>
            <a:ext cx="2103120" cy="228600"/>
          </a:xfrm>
          <a:prstGeom prst="rect">
            <a:avLst/>
          </a:prstGeom>
          <a:noFill/>
        </p:spPr>
        <p:txBody>
          <a:bodyPr wrap="square" lIns="0" rIns="0" tIns="0" bIns="0" anchor="t">
            <a:spAutoFit/>
          </a:bodyPr>
          <a:lstStyle/>
          <a:p>
            <a:pPr algn="r"/>
            <a:r>
              <a:rPr sz="1050" b="1" i="0">
                <a:solidFill>
                  <a:srgbClr val="D1495B"/>
                </a:solidFill>
                <a:latin typeface="Calibri"/>
              </a:rPr>
              <a:t>absolute position +0.0002 (nil)</a:t>
            </a:r>
          </a:p>
        </p:txBody>
      </p:sp>
      <p:sp>
        <p:nvSpPr>
          <p:cNvPr id="29" name="right question"/>
          <p:cNvSpPr/>
          <p:nvPr/>
        </p:nvSpPr>
        <p:spPr>
          <a:xfrm>
            <a:off x="8641080" y="4690872"/>
            <a:ext cx="2999232" cy="914400"/>
          </a:xfrm>
          <a:prstGeom prst="roundRect">
            <a:avLst>
              <a:gd name="adj" fmla="val 10000"/>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250" b="0" i="0">
                <a:solidFill>
                  <a:srgbClr val="15323F"/>
                </a:solidFill>
                <a:latin typeface="Calibri"/>
              </a:rPr>
              <a:t>Not </a:t>
            </a:r>
            <a:r>
              <a:rPr sz="1250" b="1" i="0">
                <a:solidFill>
                  <a:srgbClr val="15323F"/>
                </a:solidFill>
                <a:latin typeface="Calibri"/>
              </a:rPr>
              <a:t>“composition or position?”</a:t>
            </a:r>
            <a:r>
              <a:rPr sz="1250" b="0" i="0">
                <a:solidFill>
                  <a:srgbClr val="15323F"/>
                </a:solidFill>
                <a:latin typeface="Calibri"/>
              </a:rPr>
              <a:t> but </a:t>
            </a:r>
            <a:r>
              <a:rPr sz="1250" b="1" i="0">
                <a:solidFill>
                  <a:srgbClr val="D1495B"/>
                </a:solidFill>
                <a:latin typeface="Calibri"/>
              </a:rPr>
              <a:t>“composition at which scale?”</a:t>
            </a:r>
          </a:p>
        </p:txBody>
      </p:sp>
      <p:sp>
        <p:nvSpPr>
          <p:cNvPr id="30" name="evidence label"/>
          <p:cNvSpPr txBox="1"/>
          <p:nvPr/>
        </p:nvSpPr>
        <p:spPr>
          <a:xfrm>
            <a:off x="548640" y="6053328"/>
            <a:ext cx="11094415" cy="310896"/>
          </a:xfrm>
          <a:prstGeom prst="rect">
            <a:avLst/>
          </a:prstGeom>
          <a:noFill/>
        </p:spPr>
        <p:txBody>
          <a:bodyPr wrap="square" lIns="0" rIns="0" tIns="0" bIns="0" anchor="t">
            <a:spAutoFit/>
          </a:bodyPr>
          <a:lstStyle/>
          <a:p>
            <a:pPr algn="l"/>
            <a:r>
              <a:rPr sz="1000" b="0" i="0">
                <a:solidFill>
                  <a:srgbClr val="5B7380"/>
                </a:solidFill>
                <a:latin typeface="Calibri"/>
              </a:rPr>
              <a:t>● own measurement with result files · ○ open. Beating ΔPAP is beating a model used outside its design: no model has been trained for this task, which is the gap claimed here.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5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5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Task: from a 28-residue peptide to a 28×20 map of substitution effects</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15</a:t>
            </a:r>
          </a:p>
        </p:txBody>
      </p:sp>
      <p:sp>
        <p:nvSpPr>
          <p:cNvPr id="15" name="input residue 1"/>
          <p:cNvSpPr/>
          <p:nvPr/>
        </p:nvSpPr>
        <p:spPr>
          <a:xfrm>
            <a:off x="548640"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input residue 2"/>
          <p:cNvSpPr/>
          <p:nvPr/>
        </p:nvSpPr>
        <p:spPr>
          <a:xfrm>
            <a:off x="660196"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input residue 3"/>
          <p:cNvSpPr/>
          <p:nvPr/>
        </p:nvSpPr>
        <p:spPr>
          <a:xfrm>
            <a:off x="771753"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input residue 4"/>
          <p:cNvSpPr/>
          <p:nvPr/>
        </p:nvSpPr>
        <p:spPr>
          <a:xfrm>
            <a:off x="883310"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input residue 5"/>
          <p:cNvSpPr/>
          <p:nvPr/>
        </p:nvSpPr>
        <p:spPr>
          <a:xfrm>
            <a:off x="994867"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input residue 6"/>
          <p:cNvSpPr/>
          <p:nvPr/>
        </p:nvSpPr>
        <p:spPr>
          <a:xfrm>
            <a:off x="1106424"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input residue 7"/>
          <p:cNvSpPr/>
          <p:nvPr/>
        </p:nvSpPr>
        <p:spPr>
          <a:xfrm>
            <a:off x="1217980"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input residue 8"/>
          <p:cNvSpPr/>
          <p:nvPr/>
        </p:nvSpPr>
        <p:spPr>
          <a:xfrm>
            <a:off x="1329537"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input residue 9"/>
          <p:cNvSpPr/>
          <p:nvPr/>
        </p:nvSpPr>
        <p:spPr>
          <a:xfrm>
            <a:off x="1441094"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input residue 10"/>
          <p:cNvSpPr/>
          <p:nvPr/>
        </p:nvSpPr>
        <p:spPr>
          <a:xfrm>
            <a:off x="1552651"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input residue 11"/>
          <p:cNvSpPr/>
          <p:nvPr/>
        </p:nvSpPr>
        <p:spPr>
          <a:xfrm>
            <a:off x="1664207"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input residue 12"/>
          <p:cNvSpPr/>
          <p:nvPr/>
        </p:nvSpPr>
        <p:spPr>
          <a:xfrm>
            <a:off x="1775764"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input residue 13"/>
          <p:cNvSpPr/>
          <p:nvPr/>
        </p:nvSpPr>
        <p:spPr>
          <a:xfrm>
            <a:off x="1887321"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input residue 14"/>
          <p:cNvSpPr/>
          <p:nvPr/>
        </p:nvSpPr>
        <p:spPr>
          <a:xfrm>
            <a:off x="1998878"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input residue 15"/>
          <p:cNvSpPr/>
          <p:nvPr/>
        </p:nvSpPr>
        <p:spPr>
          <a:xfrm>
            <a:off x="2110435"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input residue 16"/>
          <p:cNvSpPr/>
          <p:nvPr/>
        </p:nvSpPr>
        <p:spPr>
          <a:xfrm>
            <a:off x="2221992"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input residue 17"/>
          <p:cNvSpPr/>
          <p:nvPr/>
        </p:nvSpPr>
        <p:spPr>
          <a:xfrm>
            <a:off x="2333548"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input residue 18"/>
          <p:cNvSpPr/>
          <p:nvPr/>
        </p:nvSpPr>
        <p:spPr>
          <a:xfrm>
            <a:off x="2445105"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input residue 19"/>
          <p:cNvSpPr/>
          <p:nvPr/>
        </p:nvSpPr>
        <p:spPr>
          <a:xfrm>
            <a:off x="2556662"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input residue 20"/>
          <p:cNvSpPr/>
          <p:nvPr/>
        </p:nvSpPr>
        <p:spPr>
          <a:xfrm>
            <a:off x="2668219"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input residue 21"/>
          <p:cNvSpPr/>
          <p:nvPr/>
        </p:nvSpPr>
        <p:spPr>
          <a:xfrm>
            <a:off x="2779776"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input residue 22"/>
          <p:cNvSpPr/>
          <p:nvPr/>
        </p:nvSpPr>
        <p:spPr>
          <a:xfrm>
            <a:off x="2891332"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input residue 23"/>
          <p:cNvSpPr/>
          <p:nvPr/>
        </p:nvSpPr>
        <p:spPr>
          <a:xfrm>
            <a:off x="3002889"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input residue 24"/>
          <p:cNvSpPr/>
          <p:nvPr/>
        </p:nvSpPr>
        <p:spPr>
          <a:xfrm>
            <a:off x="3114446"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input residue 25"/>
          <p:cNvSpPr/>
          <p:nvPr/>
        </p:nvSpPr>
        <p:spPr>
          <a:xfrm>
            <a:off x="3226003"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input residue 26"/>
          <p:cNvSpPr/>
          <p:nvPr/>
        </p:nvSpPr>
        <p:spPr>
          <a:xfrm>
            <a:off x="3337560"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input residue 27"/>
          <p:cNvSpPr/>
          <p:nvPr/>
        </p:nvSpPr>
        <p:spPr>
          <a:xfrm>
            <a:off x="3449116"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input residue 28"/>
          <p:cNvSpPr/>
          <p:nvPr/>
        </p:nvSpPr>
        <p:spPr>
          <a:xfrm>
            <a:off x="3560673" y="1645920"/>
            <a:ext cx="102412" cy="10241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input key residue 14"/>
          <p:cNvSpPr/>
          <p:nvPr/>
        </p:nvSpPr>
        <p:spPr>
          <a:xfrm>
            <a:off x="2110435" y="1645920"/>
            <a:ext cx="102412" cy="102412"/>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4" name="input key residue 15"/>
          <p:cNvSpPr/>
          <p:nvPr/>
        </p:nvSpPr>
        <p:spPr>
          <a:xfrm>
            <a:off x="2221992" y="1645920"/>
            <a:ext cx="102412" cy="102412"/>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5" name="input key residue 16"/>
          <p:cNvSpPr/>
          <p:nvPr/>
        </p:nvSpPr>
        <p:spPr>
          <a:xfrm>
            <a:off x="2333548" y="1645920"/>
            <a:ext cx="102412" cy="102412"/>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6" name="input key residue 17"/>
          <p:cNvSpPr/>
          <p:nvPr/>
        </p:nvSpPr>
        <p:spPr>
          <a:xfrm>
            <a:off x="2445105" y="1645920"/>
            <a:ext cx="102412" cy="102412"/>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7" name="input key residue 18"/>
          <p:cNvSpPr/>
          <p:nvPr/>
        </p:nvSpPr>
        <p:spPr>
          <a:xfrm>
            <a:off x="2556662" y="1645920"/>
            <a:ext cx="102412" cy="102412"/>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8" name="input label"/>
          <p:cNvSpPr txBox="1"/>
          <p:nvPr/>
        </p:nvSpPr>
        <p:spPr>
          <a:xfrm>
            <a:off x="548640" y="1828800"/>
            <a:ext cx="3108960" cy="502920"/>
          </a:xfrm>
          <a:prstGeom prst="rect">
            <a:avLst/>
          </a:prstGeom>
          <a:noFill/>
        </p:spPr>
        <p:txBody>
          <a:bodyPr wrap="square" lIns="0" rIns="0" tIns="0" bIns="0" anchor="t">
            <a:spAutoFit/>
          </a:bodyPr>
          <a:lstStyle/>
          <a:p>
            <a:pPr algn="l"/>
            <a:r>
              <a:rPr sz="1100" b="0" i="0">
                <a:solidFill>
                  <a:srgbClr val="5B7380"/>
                </a:solidFill>
                <a:latin typeface="Calibri"/>
              </a:rPr>
              <a:t>input: a 28-residue peptide (optionally rASA, pLDDT)</a:t>
            </a:r>
          </a:p>
        </p:txBody>
      </p:sp>
      <p:sp>
        <p:nvSpPr>
          <p:cNvPr id="49" name="arrow 1"/>
          <p:cNvSpPr/>
          <p:nvPr/>
        </p:nvSpPr>
        <p:spPr>
          <a:xfrm>
            <a:off x="4160520" y="1325880"/>
            <a:ext cx="365760" cy="274320"/>
          </a:xfrm>
          <a:prstGeom prst="rightArrow">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0" name="model (proposed)"/>
          <p:cNvSpPr/>
          <p:nvPr/>
        </p:nvSpPr>
        <p:spPr>
          <a:xfrm>
            <a:off x="4617720" y="1188720"/>
            <a:ext cx="2468880" cy="1097280"/>
          </a:xfrm>
          <a:prstGeom prst="roundRect">
            <a:avLst>
              <a:gd name="adj" fmla="val 8333"/>
            </a:avLst>
          </a:prstGeom>
          <a:solidFill>
            <a:srgbClr val="FBF1D3"/>
          </a:solidFill>
          <a:ln w="12700">
            <a:solidFill>
              <a:srgbClr val="B08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386FA4"/>
                </a:solidFill>
                <a:latin typeface="Calibri"/>
              </a:rPr>
              <a:t>model</a:t>
            </a:r>
          </a:p>
          <a:p>
            <a:pPr algn="ctr"/>
            <a:r>
              <a:rPr sz="1100" b="0" i="0">
                <a:solidFill>
                  <a:srgbClr val="5B7380"/>
                </a:solidFill>
                <a:latin typeface="Calibri"/>
              </a:rPr>
              <a:t>architecture: see slide 21</a:t>
            </a:r>
          </a:p>
        </p:txBody>
      </p:sp>
      <p:sp>
        <p:nvSpPr>
          <p:cNvPr id="51" name="arrow 2"/>
          <p:cNvSpPr/>
          <p:nvPr/>
        </p:nvSpPr>
        <p:spPr>
          <a:xfrm>
            <a:off x="7178040" y="1325880"/>
            <a:ext cx="365760" cy="274320"/>
          </a:xfrm>
          <a:prstGeom prst="rightArrow">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pic>
        <p:nvPicPr>
          <p:cNvPr id="52" name="Picture 51" descr="Schematic 28 by 20 grid with a few highlighted cells"/>
          <p:cNvPicPr>
            <a:picLocks noChangeAspect="1"/>
          </p:cNvPicPr>
          <p:nvPr/>
        </p:nvPicPr>
        <p:blipFill>
          <a:blip r:embed="rId3"/>
          <a:stretch>
            <a:fillRect/>
          </a:stretch>
        </p:blipFill>
        <p:spPr>
          <a:xfrm>
            <a:off x="7680960" y="1051560"/>
            <a:ext cx="1783080" cy="1717502"/>
          </a:xfrm>
          <a:prstGeom prst="rect">
            <a:avLst/>
          </a:prstGeom>
        </p:spPr>
      </p:pic>
      <p:sp>
        <p:nvSpPr>
          <p:cNvPr id="53" name="output 1 label"/>
          <p:cNvSpPr txBox="1"/>
          <p:nvPr/>
        </p:nvSpPr>
        <p:spPr>
          <a:xfrm>
            <a:off x="9601200" y="1051560"/>
            <a:ext cx="2103120" cy="914400"/>
          </a:xfrm>
          <a:prstGeom prst="rect">
            <a:avLst/>
          </a:prstGeom>
          <a:noFill/>
        </p:spPr>
        <p:txBody>
          <a:bodyPr wrap="square" lIns="0" rIns="0" tIns="0" bIns="0" anchor="t">
            <a:spAutoFit/>
          </a:bodyPr>
          <a:lstStyle/>
          <a:p>
            <a:pPr algn="l"/>
            <a:r>
              <a:rPr sz="1100" b="1" i="0">
                <a:solidFill>
                  <a:srgbClr val="386FA4"/>
                </a:solidFill>
                <a:latin typeface="Calibri"/>
              </a:rPr>
              <a:t>output 1</a:t>
            </a:r>
          </a:p>
          <a:p>
            <a:pPr algn="l"/>
            <a:r>
              <a:rPr sz="1100" b="0" i="0">
                <a:solidFill>
                  <a:srgbClr val="15323F"/>
                </a:solidFill>
                <a:latin typeface="Calibri"/>
              </a:rPr>
              <a:t>28 × 20 matrix: one ΔPSI per (position, amino acid)</a:t>
            </a:r>
          </a:p>
        </p:txBody>
      </p:sp>
      <p:pic>
        <p:nvPicPr>
          <p:cNvPr id="54" name="Picture 53" descr="Colour bar from coral (negative) through ivory (zero) to teal (positive)"/>
          <p:cNvPicPr>
            <a:picLocks noChangeAspect="1"/>
          </p:cNvPicPr>
          <p:nvPr/>
        </p:nvPicPr>
        <p:blipFill>
          <a:blip r:embed="rId4"/>
          <a:stretch>
            <a:fillRect/>
          </a:stretch>
        </p:blipFill>
        <p:spPr>
          <a:xfrm>
            <a:off x="9601200" y="2148840"/>
            <a:ext cx="2011680" cy="128016"/>
          </a:xfrm>
          <a:prstGeom prst="rect">
            <a:avLst/>
          </a:prstGeom>
        </p:spPr>
      </p:pic>
      <p:sp>
        <p:nvSpPr>
          <p:cNvPr id="55" name="bar legend"/>
          <p:cNvSpPr txBox="1"/>
          <p:nvPr/>
        </p:nvSpPr>
        <p:spPr>
          <a:xfrm>
            <a:off x="9601200" y="2304288"/>
            <a:ext cx="2103120" cy="274320"/>
          </a:xfrm>
          <a:prstGeom prst="rect">
            <a:avLst/>
          </a:prstGeom>
          <a:noFill/>
        </p:spPr>
        <p:txBody>
          <a:bodyPr wrap="square" lIns="0" rIns="0" tIns="0" bIns="0" anchor="t">
            <a:spAutoFit/>
          </a:bodyPr>
          <a:lstStyle/>
          <a:p>
            <a:pPr algn="ctr"/>
            <a:r>
              <a:rPr sz="1000" b="0" i="0">
                <a:solidFill>
                  <a:srgbClr val="5B7380"/>
                </a:solidFill>
                <a:latin typeface="Calibri"/>
              </a:rPr>
              <a:t>− ΔPSI                 0                 + ΔPSI</a:t>
            </a:r>
          </a:p>
        </p:txBody>
      </p:sp>
      <p:sp>
        <p:nvSpPr>
          <p:cNvPr id="56" name="output 2 chip"/>
          <p:cNvSpPr/>
          <p:nvPr/>
        </p:nvSpPr>
        <p:spPr>
          <a:xfrm>
            <a:off x="9601200" y="2697480"/>
            <a:ext cx="2039112" cy="274320"/>
          </a:xfrm>
          <a:prstGeom prst="roundRect">
            <a:avLst>
              <a:gd name="adj" fmla="val 50000"/>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386FA4"/>
                </a:solidFill>
                <a:latin typeface="Calibri"/>
              </a:rPr>
              <a:t>+ output 2: per-position map</a:t>
            </a:r>
          </a:p>
        </p:txBody>
      </p:sp>
      <p:graphicFrame>
        <p:nvGraphicFramePr>
          <p:cNvPr id="57" name="task definition"/>
          <p:cNvGraphicFramePr>
            <a:graphicFrameLocks noGrp="1"/>
          </p:cNvGraphicFramePr>
          <p:nvPr/>
        </p:nvGraphicFramePr>
        <p:xfrm>
          <a:off x="548640" y="3246120"/>
          <a:ext cx="7040880" cy="2255518"/>
        </p:xfrm>
        <a:graphic>
          <a:graphicData uri="http://schemas.openxmlformats.org/drawingml/2006/table">
            <a:tbl>
              <a:tblPr firstRow="0" bandRow="0">
                <a:tableStyleId>{2D5ABB26-0587-4C30-8999-92F81FD0307C}</a:tableStyleId>
              </a:tblPr>
              <a:tblGrid>
                <a:gridCol w="1600200"/>
                <a:gridCol w="5440680"/>
              </a:tblGrid>
              <a:tr h="274320">
                <a:tc>
                  <a:txBody>
                    <a:bodyPr wrap="square"/>
                    <a:lstStyle/>
                    <a:p>
                      <a:pPr algn="l"/>
                      <a:r>
                        <a:rPr sz="1150" b="1" i="0">
                          <a:solidFill>
                            <a:srgbClr val="FAFBFC"/>
                          </a:solidFill>
                          <a:latin typeface="Calibri"/>
                        </a:rPr>
                        <a:t>Item</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Definition</a:t>
                      </a:r>
                    </a:p>
                  </a:txBody>
                  <a:tcPr marL="54864" marR="54864" marT="27432" marB="27432" anchor="ctr">
                    <a:lnL w="0">
                      <a:noFill/>
                    </a:lnL>
                    <a:lnR w="0">
                      <a:noFill/>
                    </a:lnR>
                    <a:lnT w="0">
                      <a:noFill/>
                    </a:lnT>
                    <a:lnB w="6350">
                      <a:solidFill>
                        <a:srgbClr val="DDE4E8"/>
                      </a:solidFill>
                    </a:lnB>
                    <a:solidFill>
                      <a:srgbClr val="15323F"/>
                    </a:solidFill>
                  </a:tcPr>
                </a:tc>
              </a:tr>
              <a:tr h="274320">
                <a:tc>
                  <a:txBody>
                    <a:bodyPr wrap="square"/>
                    <a:lstStyle/>
                    <a:p>
                      <a:pPr algn="l"/>
                      <a:r>
                        <a:rPr sz="1150" b="1" i="0">
                          <a:solidFill>
                            <a:srgbClr val="15323F"/>
                          </a:solidFill>
                          <a:latin typeface="Calibri"/>
                        </a:rPr>
                        <a:t>Input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a 28-residue peptide sequence (optionally structural context: rASA, pLDDT)</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150" b="1" i="0">
                          <a:solidFill>
                            <a:srgbClr val="15323F"/>
                          </a:solidFill>
                          <a:latin typeface="Calibri"/>
                        </a:rPr>
                        <a:t>Output 1</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a 28 × 20 matrix of predicted ΔPSI: one value per (position, amino acid type)</a:t>
                      </a:r>
                    </a:p>
                  </a:txBody>
                  <a:tcPr marL="54864" marR="54864" marT="27432" marB="27432" anchor="ctr">
                    <a:lnL w="0">
                      <a:noFill/>
                    </a:lnL>
                    <a:lnR w="0">
                      <a:noFill/>
                    </a:lnR>
                    <a:lnT w="0">
                      <a:noFill/>
                    </a:lnT>
                    <a:lnB w="6350">
                      <a:solidFill>
                        <a:srgbClr val="DDE4E8"/>
                      </a:solidFill>
                    </a:lnB>
                    <a:solidFill>
                      <a:srgbClr val="F4F7F8"/>
                    </a:solidFill>
                  </a:tcPr>
                </a:tc>
              </a:tr>
              <a:tr h="274320">
                <a:tc>
                  <a:txBody>
                    <a:bodyPr wrap="square"/>
                    <a:lstStyle/>
                    <a:p>
                      <a:pPr algn="l"/>
                      <a:r>
                        <a:rPr sz="1150" b="1" i="0">
                          <a:solidFill>
                            <a:srgbClr val="15323F"/>
                          </a:solidFill>
                          <a:latin typeface="Calibri"/>
                        </a:rPr>
                        <a:t>Output 2</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a per-position importance map: the 19 substitutions at each position aggregated</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150" b="1" i="0">
                          <a:solidFill>
                            <a:srgbClr val="15323F"/>
                          </a:solidFill>
                          <a:latin typeface="Calibri"/>
                        </a:rPr>
                        <a:t>Label</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ΔPSI = PSI(substituted) − PSI(wild type), both measured in the GPS assay</a:t>
                      </a:r>
                    </a:p>
                  </a:txBody>
                  <a:tcPr marL="54864" marR="54864" marT="27432" marB="27432" anchor="ctr">
                    <a:lnL w="0">
                      <a:noFill/>
                    </a:lnL>
                    <a:lnR w="0">
                      <a:noFill/>
                    </a:lnR>
                    <a:lnT w="0">
                      <a:noFill/>
                    </a:lnT>
                    <a:lnB w="6350">
                      <a:solidFill>
                        <a:srgbClr val="DDE4E8"/>
                      </a:solidFill>
                    </a:lnB>
                    <a:solidFill>
                      <a:srgbClr val="F4F7F8"/>
                    </a:solidFill>
                  </a:tcPr>
                </a:tc>
              </a:tr>
              <a:tr h="441959">
                <a:tc>
                  <a:txBody>
                    <a:bodyPr wrap="square"/>
                    <a:lstStyle/>
                    <a:p>
                      <a:pPr algn="l"/>
                      <a:r>
                        <a:rPr sz="1150" b="1" i="0">
                          <a:solidFill>
                            <a:srgbClr val="15323F"/>
                          </a:solidFill>
                          <a:latin typeface="Calibri"/>
                        </a:rPr>
                        <a:t>Label sign</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ΔPSI &gt; 0 → the substitution stabilised the peptide → the residue was part of a working degron</a:t>
                      </a:r>
                    </a:p>
                  </a:txBody>
                  <a:tcPr marL="54864" marR="54864" marT="27432" marB="27432" anchor="ctr">
                    <a:lnL w="0">
                      <a:noFill/>
                    </a:lnL>
                    <a:lnR w="0">
                      <a:noFill/>
                    </a:lnR>
                    <a:lnT w="0">
                      <a:noFill/>
                    </a:lnT>
                    <a:lnB w="6350">
                      <a:solidFill>
                        <a:srgbClr val="DDE4E8"/>
                      </a:solidFill>
                    </a:lnB>
                    <a:solidFill>
                      <a:srgbClr val="FFFFFF"/>
                    </a:solidFill>
                  </a:tcPr>
                </a:tc>
              </a:tr>
              <a:tr h="441959">
                <a:tc>
                  <a:txBody>
                    <a:bodyPr wrap="square"/>
                    <a:lstStyle/>
                    <a:p>
                      <a:pPr algn="l"/>
                      <a:r>
                        <a:rPr sz="1150" b="1" i="0">
                          <a:solidFill>
                            <a:srgbClr val="15323F"/>
                          </a:solidFill>
                          <a:latin typeface="Calibri"/>
                        </a:rPr>
                        <a:t>Unit of inference</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the protein cluster (MMseqs2, ≥30% identity, 80% coverage), not the peptide and not the residue</a:t>
                      </a:r>
                    </a:p>
                  </a:txBody>
                  <a:tcPr marL="54864" marR="54864" marT="27432" marB="27432" anchor="ctr">
                    <a:lnL w="0">
                      <a:noFill/>
                    </a:lnL>
                    <a:lnR w="0">
                      <a:noFill/>
                    </a:lnR>
                    <a:lnT w="0">
                      <a:noFill/>
                    </a:lnT>
                    <a:lnB w="6350">
                      <a:solidFill>
                        <a:srgbClr val="DDE4E8"/>
                      </a:solidFill>
                    </a:lnB>
                    <a:solidFill>
                      <a:srgbClr val="F4F7F8"/>
                    </a:solidFill>
                  </a:tcPr>
                </a:tc>
              </a:tr>
            </a:tbl>
          </a:graphicData>
        </a:graphic>
      </p:graphicFrame>
      <p:sp>
        <p:nvSpPr>
          <p:cNvPr id="58" name="card: Two framings of the "/>
          <p:cNvSpPr/>
          <p:nvPr/>
        </p:nvSpPr>
        <p:spPr>
          <a:xfrm>
            <a:off x="7818120" y="3246120"/>
            <a:ext cx="3822191" cy="1417320"/>
          </a:xfrm>
          <a:prstGeom prst="roundRect">
            <a:avLst>
              <a:gd name="adj" fmla="val 6451"/>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9" name="card text: Two framings of the "/>
          <p:cNvSpPr txBox="1"/>
          <p:nvPr/>
        </p:nvSpPr>
        <p:spPr>
          <a:xfrm>
            <a:off x="7955280" y="3337560"/>
            <a:ext cx="3547872" cy="1280160"/>
          </a:xfrm>
          <a:prstGeom prst="rect">
            <a:avLst/>
          </a:prstGeom>
          <a:noFill/>
        </p:spPr>
        <p:txBody>
          <a:bodyPr wrap="square" lIns="0" rIns="0" tIns="0" bIns="0" anchor="t">
            <a:spAutoFit/>
          </a:bodyPr>
          <a:lstStyle/>
          <a:p>
            <a:pPr algn="l"/>
            <a:r>
              <a:rPr sz="1200" b="1" i="0">
                <a:solidFill>
                  <a:srgbClr val="386FA4"/>
                </a:solidFill>
                <a:latin typeface="Calibri"/>
              </a:rPr>
              <a:t>Two framings of the same output, both reported</a:t>
            </a:r>
          </a:p>
          <a:p>
            <a:pPr algn="l">
              <a:spcBef>
                <a:spcPts val="200"/>
              </a:spcBef>
            </a:pPr>
            <a:r>
              <a:rPr sz="1150" b="1" i="0">
                <a:solidFill>
                  <a:srgbClr val="15323F"/>
                </a:solidFill>
                <a:latin typeface="Calibri"/>
              </a:rPr>
              <a:t>cell-level: </a:t>
            </a:r>
            <a:r>
              <a:rPr sz="1150" b="0" i="0">
                <a:solidFill>
                  <a:srgbClr val="15323F"/>
                </a:solidFill>
                <a:latin typeface="Calibri"/>
              </a:rPr>
              <a:t>is this one (position, amino acid) substitution stabilising? → AUROC</a:t>
            </a:r>
          </a:p>
          <a:p>
            <a:pPr algn="l">
              <a:spcBef>
                <a:spcPts val="300"/>
              </a:spcBef>
            </a:pPr>
            <a:r>
              <a:rPr sz="1150" b="1" i="0">
                <a:solidFill>
                  <a:srgbClr val="15323F"/>
                </a:solidFill>
                <a:latin typeface="Calibri"/>
              </a:rPr>
              <a:t>position-level: </a:t>
            </a:r>
            <a:r>
              <a:rPr sz="1150" b="0" i="0">
                <a:solidFill>
                  <a:srgbClr val="15323F"/>
                </a:solidFill>
                <a:latin typeface="Calibri"/>
              </a:rPr>
              <a:t>which positions carry the degron? → precision@3</a:t>
            </a:r>
          </a:p>
        </p:txBody>
      </p:sp>
      <p:sp>
        <p:nvSpPr>
          <p:cNvPr id="60" name="card: Scope"/>
          <p:cNvSpPr/>
          <p:nvPr/>
        </p:nvSpPr>
        <p:spPr>
          <a:xfrm>
            <a:off x="7818120" y="4754880"/>
            <a:ext cx="3822191" cy="1280160"/>
          </a:xfrm>
          <a:prstGeom prst="roundRect">
            <a:avLst>
              <a:gd name="adj" fmla="val 7142"/>
            </a:avLst>
          </a:prstGeom>
          <a:solidFill>
            <a:srgbClr val="FBF1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1" name="card text: Scope"/>
          <p:cNvSpPr txBox="1"/>
          <p:nvPr/>
        </p:nvSpPr>
        <p:spPr>
          <a:xfrm>
            <a:off x="7955280" y="4846320"/>
            <a:ext cx="3547872" cy="1143000"/>
          </a:xfrm>
          <a:prstGeom prst="rect">
            <a:avLst/>
          </a:prstGeom>
          <a:noFill/>
        </p:spPr>
        <p:txBody>
          <a:bodyPr wrap="square" lIns="0" rIns="0" tIns="0" bIns="0" anchor="t">
            <a:spAutoFit/>
          </a:bodyPr>
          <a:lstStyle/>
          <a:p>
            <a:pPr algn="l"/>
            <a:r>
              <a:rPr sz="1200" b="1" i="0">
                <a:solidFill>
                  <a:srgbClr val="8A6A12"/>
                </a:solidFill>
                <a:latin typeface="Calibri"/>
              </a:rPr>
              <a:t>Scope</a:t>
            </a:r>
          </a:p>
          <a:p>
            <a:pPr algn="l">
              <a:spcBef>
                <a:spcPts val="300"/>
              </a:spcBef>
            </a:pPr>
            <a:r>
              <a:rPr sz="1100" b="0" i="0">
                <a:solidFill>
                  <a:srgbClr val="15323F"/>
                </a:solidFill>
                <a:latin typeface="Calibri"/>
              </a:rPr>
              <a:t>Peptides are measured in isolation, fused to a reporter, in the cytosol. Results describe that system; transfer to intact proteins is a separate question with its own labels.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0"/>
                                        </p:tgtEl>
                                        <p:attrNameLst>
                                          <p:attrName>style.visibility</p:attrName>
                                        </p:attrNameLst>
                                      </p:cBhvr>
                                      <p:to>
                                        <p:strVal val="visible"/>
                                      </p:to>
                                    </p:set>
                                    <p:animEffect transition="in" filter="fade">
                                      <p:cBhvr>
                                        <p:cTn id="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One worked example: a measured ΔPSI matrix, read one cell and then one row</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16</a:t>
            </a:r>
          </a:p>
        </p:txBody>
      </p:sp>
      <p:pic>
        <p:nvPicPr>
          <p:cNvPr id="15" name="Picture 14" descr="Measured 28 by 20 ΔPSI heatmap for peptide O00468_AGRN_82 with per-position bars"/>
          <p:cNvPicPr>
            <a:picLocks noChangeAspect="1"/>
          </p:cNvPicPr>
          <p:nvPr/>
        </p:nvPicPr>
        <p:blipFill>
          <a:blip r:embed="rId3"/>
          <a:stretch>
            <a:fillRect/>
          </a:stretch>
        </p:blipFill>
        <p:spPr>
          <a:xfrm>
            <a:off x="548640" y="1051560"/>
            <a:ext cx="6344273" cy="4846320"/>
          </a:xfrm>
          <a:prstGeom prst="rect">
            <a:avLst/>
          </a:prstGeom>
        </p:spPr>
      </p:pic>
      <p:sp>
        <p:nvSpPr>
          <p:cNvPr id="16" name="example cell ring"/>
          <p:cNvSpPr/>
          <p:nvPr/>
        </p:nvSpPr>
        <p:spPr>
          <a:xfrm>
            <a:off x="1099322" y="1329011"/>
            <a:ext cx="243620" cy="159928"/>
          </a:xfrm>
          <a:prstGeom prst="ellipse">
            <a:avLst/>
          </a:prstGeom>
          <a:noFill/>
          <a:ln w="31750">
            <a:solidFill>
              <a:srgbClr val="15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footprint rows box"/>
          <p:cNvSpPr/>
          <p:nvPr/>
        </p:nvSpPr>
        <p:spPr>
          <a:xfrm>
            <a:off x="1092192" y="3189884"/>
            <a:ext cx="4115199" cy="702945"/>
          </a:xfrm>
          <a:prstGeom prst="rect">
            <a:avLst/>
          </a:prstGeom>
          <a:noFill/>
          <a:ln w="31750">
            <a:solidFill>
              <a:srgbClr val="15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peptide info"/>
          <p:cNvSpPr txBox="1"/>
          <p:nvPr/>
        </p:nvSpPr>
        <p:spPr>
          <a:xfrm>
            <a:off x="7167233" y="1051560"/>
            <a:ext cx="4475821" cy="1234440"/>
          </a:xfrm>
          <a:prstGeom prst="rect">
            <a:avLst/>
          </a:prstGeom>
          <a:noFill/>
        </p:spPr>
        <p:txBody>
          <a:bodyPr wrap="square" lIns="0" rIns="0" tIns="0" bIns="0" anchor="t">
            <a:spAutoFit/>
          </a:bodyPr>
          <a:lstStyle/>
          <a:p>
            <a:pPr algn="l"/>
            <a:r>
              <a:rPr sz="1300" b="1" i="0">
                <a:solidFill>
                  <a:srgbClr val="15323F"/>
                </a:solidFill>
                <a:latin typeface="Courier New"/>
              </a:rPr>
              <a:t>Peptide  O00468_AGRN_82</a:t>
            </a:r>
          </a:p>
          <a:p>
            <a:pPr algn="l">
              <a:spcBef>
                <a:spcPts val="200"/>
              </a:spcBef>
            </a:pPr>
            <a:r>
              <a:rPr sz="1100" b="0" i="0">
                <a:solidFill>
                  <a:srgbClr val="5B7380"/>
                </a:solidFill>
                <a:latin typeface="Courier New"/>
              </a:rPr>
              <a:t>SAGDVDTLAFDGRTFVEYLNAVTESELA</a:t>
            </a:r>
          </a:p>
          <a:p>
            <a:pPr algn="l">
              <a:spcBef>
                <a:spcPts val="400"/>
              </a:spcBef>
            </a:pPr>
            <a:r>
              <a:rPr sz="1250" b="0" i="0">
                <a:solidFill>
                  <a:srgbClr val="15323F"/>
                </a:solidFill>
                <a:latin typeface="Calibri"/>
              </a:rPr>
              <a:t>Wild-type PSI </a:t>
            </a:r>
            <a:r>
              <a:rPr sz="1250" b="1" i="0">
                <a:solidFill>
                  <a:srgbClr val="15323F"/>
                </a:solidFill>
                <a:latin typeface="Calibri"/>
              </a:rPr>
              <a:t>2.878</a:t>
            </a:r>
            <a:r>
              <a:rPr sz="1250" b="0" i="0">
                <a:solidFill>
                  <a:srgbClr val="15323F"/>
                </a:solidFill>
                <a:latin typeface="Calibri"/>
              </a:rPr>
              <a:t>: low, so this peptide is a degron</a:t>
            </a:r>
          </a:p>
          <a:p>
            <a:pPr algn="l">
              <a:spcBef>
                <a:spcPts val="200"/>
              </a:spcBef>
            </a:pPr>
            <a:r>
              <a:rPr sz="1200" b="0" i="0">
                <a:solidFill>
                  <a:srgbClr val="15323F"/>
                </a:solidFill>
                <a:latin typeface="Calibri"/>
              </a:rPr>
              <a:t>532 measured cells (28 positions × 19 substitutions), mean of two replicates</a:t>
            </a:r>
          </a:p>
        </p:txBody>
      </p:sp>
      <p:sp>
        <p:nvSpPr>
          <p:cNvPr id="19" name="card: Reading one cell"/>
          <p:cNvSpPr/>
          <p:nvPr/>
        </p:nvSpPr>
        <p:spPr>
          <a:xfrm>
            <a:off x="7167233" y="2514600"/>
            <a:ext cx="4475821" cy="1325880"/>
          </a:xfrm>
          <a:prstGeom prst="roundRect">
            <a:avLst>
              <a:gd name="adj" fmla="val 6896"/>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card text: Reading one cell"/>
          <p:cNvSpPr txBox="1"/>
          <p:nvPr/>
        </p:nvSpPr>
        <p:spPr>
          <a:xfrm>
            <a:off x="7304393" y="2606040"/>
            <a:ext cx="4201501" cy="1188720"/>
          </a:xfrm>
          <a:prstGeom prst="rect">
            <a:avLst/>
          </a:prstGeom>
          <a:noFill/>
        </p:spPr>
        <p:txBody>
          <a:bodyPr wrap="square" lIns="0" rIns="0" tIns="0" bIns="0" anchor="t">
            <a:spAutoFit/>
          </a:bodyPr>
          <a:lstStyle/>
          <a:p>
            <a:pPr algn="l"/>
            <a:r>
              <a:rPr sz="1250" b="1" i="0">
                <a:solidFill>
                  <a:srgbClr val="15323F"/>
                </a:solidFill>
                <a:latin typeface="Calibri"/>
              </a:rPr>
              <a:t>Reading one cell</a:t>
            </a:r>
          </a:p>
          <a:p>
            <a:pPr algn="l">
              <a:spcBef>
                <a:spcPts val="300"/>
              </a:spcBef>
            </a:pPr>
            <a:r>
              <a:rPr sz="1150" b="0" i="0">
                <a:solidFill>
                  <a:srgbClr val="15323F"/>
                </a:solidFill>
                <a:latin typeface="Calibri"/>
              </a:rPr>
              <a:t>Position 1 → A: ΔPSI = -0.19 (replicates -0.04 and -0.34). Not stabilising, so no evidence this residue is part of the working degron.</a:t>
            </a:r>
          </a:p>
        </p:txBody>
      </p:sp>
      <p:sp>
        <p:nvSpPr>
          <p:cNvPr id="21" name="card: Reading a row"/>
          <p:cNvSpPr/>
          <p:nvPr/>
        </p:nvSpPr>
        <p:spPr>
          <a:xfrm>
            <a:off x="7167233" y="3931920"/>
            <a:ext cx="4475821" cy="1417320"/>
          </a:xfrm>
          <a:prstGeom prst="roundRect">
            <a:avLst>
              <a:gd name="adj" fmla="val 6451"/>
            </a:avLst>
          </a:prstGeom>
          <a:solidFill>
            <a:srgbClr val="D9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2" name="card text: Reading a row"/>
          <p:cNvSpPr txBox="1"/>
          <p:nvPr/>
        </p:nvSpPr>
        <p:spPr>
          <a:xfrm>
            <a:off x="7304393" y="4023359"/>
            <a:ext cx="4201501" cy="1280160"/>
          </a:xfrm>
          <a:prstGeom prst="rect">
            <a:avLst/>
          </a:prstGeom>
          <a:noFill/>
        </p:spPr>
        <p:txBody>
          <a:bodyPr wrap="square" lIns="0" rIns="0" tIns="0" bIns="0" anchor="t">
            <a:spAutoFit/>
          </a:bodyPr>
          <a:lstStyle/>
          <a:p>
            <a:pPr algn="l"/>
            <a:r>
              <a:rPr sz="1250" b="1" i="0">
                <a:solidFill>
                  <a:srgbClr val="2A9D8F"/>
                </a:solidFill>
                <a:latin typeface="Calibri"/>
              </a:rPr>
              <a:t>Reading a row</a:t>
            </a:r>
          </a:p>
          <a:p>
            <a:pPr algn="l">
              <a:spcBef>
                <a:spcPts val="300"/>
              </a:spcBef>
            </a:pPr>
            <a:r>
              <a:rPr sz="1150" b="0" i="0">
                <a:solidFill>
                  <a:srgbClr val="15323F"/>
                </a:solidFill>
                <a:latin typeface="Calibri"/>
              </a:rPr>
              <a:t>At positions 15–19 (FVEYL) 86 of 95 measured substitutions stabilise the peptide. That block is its footprint, the residues the degron depends on.</a:t>
            </a:r>
          </a:p>
        </p:txBody>
      </p:sp>
      <p:sp>
        <p:nvSpPr>
          <p:cNvPr id="23" name="evidence label"/>
          <p:cNvSpPr txBox="1"/>
          <p:nvPr/>
        </p:nvSpPr>
        <p:spPr>
          <a:xfrm>
            <a:off x="548640" y="5989320"/>
            <a:ext cx="11094415" cy="310896"/>
          </a:xfrm>
          <a:prstGeom prst="rect">
            <a:avLst/>
          </a:prstGeom>
          <a:noFill/>
        </p:spPr>
        <p:txBody>
          <a:bodyPr wrap="square" lIns="0" rIns="0" tIns="0" bIns="0" anchor="t">
            <a:spAutoFit/>
          </a:bodyPr>
          <a:lstStyle/>
          <a:p>
            <a:pPr algn="l"/>
            <a:r>
              <a:rPr sz="1000" b="0" i="0">
                <a:solidFill>
                  <a:srgbClr val="5B7380"/>
                </a:solidFill>
                <a:latin typeface="Calibri"/>
              </a:rPr>
              <a:t>Own rebuild from Zhang et al. 2023 raw counts; PSI reconstruction validated against the authors' table (max deviation 5.0 × 10⁻⁷ over 261,865 values). Measured illustration: saturation peptides sit on the evaluation side of the split, so this is not a training example.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par>
                                <p:cTn id="6" presetID="10" presetClass="entr" presetSubtype="0" fill="hold"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Feasibility: ahead on the context axis, behind on the substitution matrix</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17</a:t>
            </a:r>
          </a:p>
        </p:txBody>
      </p:sp>
      <p:cxnSp>
        <p:nvCxnSpPr>
          <p:cNvPr id="15" name="baseline"/>
          <p:cNvCxnSpPr/>
          <p:nvPr/>
        </p:nvCxnSpPr>
        <p:spPr>
          <a:xfrm>
            <a:off x="914400" y="5349240"/>
            <a:ext cx="5486400" cy="0"/>
          </a:xfrm>
          <a:prstGeom prst="line">
            <a:avLst/>
          </a:prstGeom>
          <a:ln w="15875">
            <a:solidFill>
              <a:srgbClr val="15323F"/>
            </a:solidFill>
          </a:ln>
        </p:spPr>
        <p:style>
          <a:lnRef idx="2">
            <a:schemeClr val="accent1"/>
          </a:lnRef>
          <a:fillRef idx="0">
            <a:schemeClr val="accent1"/>
          </a:fillRef>
          <a:effectRef idx="1">
            <a:schemeClr val="accent1"/>
          </a:effectRef>
          <a:fontRef idx="minor">
            <a:schemeClr val="tx1"/>
          </a:fontRef>
        </p:style>
      </p:cxnSp>
      <p:cxnSp>
        <p:nvCxnSpPr>
          <p:cNvPr id="16" name="y axis"/>
          <p:cNvCxnSpPr/>
          <p:nvPr/>
        </p:nvCxnSpPr>
        <p:spPr>
          <a:xfrm flipV="1">
            <a:off x="914400" y="1645919"/>
            <a:ext cx="0" cy="3703321"/>
          </a:xfrm>
          <a:prstGeom prst="line">
            <a:avLst/>
          </a:prstGeom>
          <a:ln w="15875">
            <a:solidFill>
              <a:srgbClr val="15323F"/>
            </a:solidFill>
          </a:ln>
        </p:spPr>
        <p:style>
          <a:lnRef idx="2">
            <a:schemeClr val="accent1"/>
          </a:lnRef>
          <a:fillRef idx="0">
            <a:schemeClr val="accent1"/>
          </a:fillRef>
          <a:effectRef idx="1">
            <a:schemeClr val="accent1"/>
          </a:effectRef>
          <a:fontRef idx="minor">
            <a:schemeClr val="tx1"/>
          </a:fontRef>
        </p:style>
      </p:cxnSp>
      <p:cxnSp>
        <p:nvCxnSpPr>
          <p:cNvPr id="17" name="tick 0.7"/>
          <p:cNvCxnSpPr/>
          <p:nvPr/>
        </p:nvCxnSpPr>
        <p:spPr>
          <a:xfrm>
            <a:off x="868680" y="5349240"/>
            <a:ext cx="45720" cy="0"/>
          </a:xfrm>
          <a:prstGeom prst="line">
            <a:avLst/>
          </a:prstGeom>
          <a:ln w="12700">
            <a:solidFill>
              <a:srgbClr val="15323F"/>
            </a:solidFill>
          </a:ln>
        </p:spPr>
        <p:style>
          <a:lnRef idx="2">
            <a:schemeClr val="accent1"/>
          </a:lnRef>
          <a:fillRef idx="0">
            <a:schemeClr val="accent1"/>
          </a:fillRef>
          <a:effectRef idx="1">
            <a:schemeClr val="accent1"/>
          </a:effectRef>
          <a:fontRef idx="minor">
            <a:schemeClr val="tx1"/>
          </a:fontRef>
        </p:style>
      </p:cxnSp>
      <p:sp>
        <p:nvSpPr>
          <p:cNvPr id="18" name="tick label 0.7"/>
          <p:cNvSpPr txBox="1"/>
          <p:nvPr/>
        </p:nvSpPr>
        <p:spPr>
          <a:xfrm>
            <a:off x="320040" y="5239512"/>
            <a:ext cx="502920" cy="219456"/>
          </a:xfrm>
          <a:prstGeom prst="rect">
            <a:avLst/>
          </a:prstGeom>
          <a:noFill/>
        </p:spPr>
        <p:txBody>
          <a:bodyPr wrap="square" lIns="0" rIns="0" tIns="0" bIns="0" anchor="t">
            <a:spAutoFit/>
          </a:bodyPr>
          <a:lstStyle/>
          <a:p>
            <a:pPr algn="r"/>
            <a:r>
              <a:rPr sz="1000" b="0" i="0">
                <a:solidFill>
                  <a:srgbClr val="5B7380"/>
                </a:solidFill>
                <a:latin typeface="Calibri"/>
              </a:rPr>
              <a:t>0.70</a:t>
            </a:r>
          </a:p>
        </p:txBody>
      </p:sp>
      <p:cxnSp>
        <p:nvCxnSpPr>
          <p:cNvPr id="19" name="grid 0.7"/>
          <p:cNvCxnSpPr/>
          <p:nvPr/>
        </p:nvCxnSpPr>
        <p:spPr>
          <a:xfrm>
            <a:off x="914400" y="5349240"/>
            <a:ext cx="5486400" cy="0"/>
          </a:xfrm>
          <a:prstGeom prst="line">
            <a:avLst/>
          </a:prstGeom>
          <a:ln w="6350">
            <a:solidFill>
              <a:srgbClr val="DDE4E8"/>
            </a:solidFill>
          </a:ln>
        </p:spPr>
        <p:style>
          <a:lnRef idx="2">
            <a:schemeClr val="accent1"/>
          </a:lnRef>
          <a:fillRef idx="0">
            <a:schemeClr val="accent1"/>
          </a:fillRef>
          <a:effectRef idx="1">
            <a:schemeClr val="accent1"/>
          </a:effectRef>
          <a:fontRef idx="minor">
            <a:schemeClr val="tx1"/>
          </a:fontRef>
        </p:style>
      </p:cxnSp>
      <p:cxnSp>
        <p:nvCxnSpPr>
          <p:cNvPr id="20" name="tick 0.75"/>
          <p:cNvCxnSpPr/>
          <p:nvPr/>
        </p:nvCxnSpPr>
        <p:spPr>
          <a:xfrm>
            <a:off x="868680" y="4663439"/>
            <a:ext cx="45720" cy="0"/>
          </a:xfrm>
          <a:prstGeom prst="line">
            <a:avLst/>
          </a:prstGeom>
          <a:ln w="12700">
            <a:solidFill>
              <a:srgbClr val="15323F"/>
            </a:solidFill>
          </a:ln>
        </p:spPr>
        <p:style>
          <a:lnRef idx="2">
            <a:schemeClr val="accent1"/>
          </a:lnRef>
          <a:fillRef idx="0">
            <a:schemeClr val="accent1"/>
          </a:fillRef>
          <a:effectRef idx="1">
            <a:schemeClr val="accent1"/>
          </a:effectRef>
          <a:fontRef idx="minor">
            <a:schemeClr val="tx1"/>
          </a:fontRef>
        </p:style>
      </p:cxnSp>
      <p:sp>
        <p:nvSpPr>
          <p:cNvPr id="21" name="tick label 0.75"/>
          <p:cNvSpPr txBox="1"/>
          <p:nvPr/>
        </p:nvSpPr>
        <p:spPr>
          <a:xfrm>
            <a:off x="320040" y="4553711"/>
            <a:ext cx="502920" cy="219456"/>
          </a:xfrm>
          <a:prstGeom prst="rect">
            <a:avLst/>
          </a:prstGeom>
          <a:noFill/>
        </p:spPr>
        <p:txBody>
          <a:bodyPr wrap="square" lIns="0" rIns="0" tIns="0" bIns="0" anchor="t">
            <a:spAutoFit/>
          </a:bodyPr>
          <a:lstStyle/>
          <a:p>
            <a:pPr algn="r"/>
            <a:r>
              <a:rPr sz="1000" b="0" i="0">
                <a:solidFill>
                  <a:srgbClr val="5B7380"/>
                </a:solidFill>
                <a:latin typeface="Calibri"/>
              </a:rPr>
              <a:t>0.75</a:t>
            </a:r>
          </a:p>
        </p:txBody>
      </p:sp>
      <p:cxnSp>
        <p:nvCxnSpPr>
          <p:cNvPr id="22" name="grid 0.75"/>
          <p:cNvCxnSpPr/>
          <p:nvPr/>
        </p:nvCxnSpPr>
        <p:spPr>
          <a:xfrm>
            <a:off x="914400" y="4663439"/>
            <a:ext cx="5486400" cy="0"/>
          </a:xfrm>
          <a:prstGeom prst="line">
            <a:avLst/>
          </a:prstGeom>
          <a:ln w="6350">
            <a:solidFill>
              <a:srgbClr val="DDE4E8"/>
            </a:solidFill>
          </a:ln>
        </p:spPr>
        <p:style>
          <a:lnRef idx="2">
            <a:schemeClr val="accent1"/>
          </a:lnRef>
          <a:fillRef idx="0">
            <a:schemeClr val="accent1"/>
          </a:fillRef>
          <a:effectRef idx="1">
            <a:schemeClr val="accent1"/>
          </a:effectRef>
          <a:fontRef idx="minor">
            <a:schemeClr val="tx1"/>
          </a:fontRef>
        </p:style>
      </p:cxnSp>
      <p:cxnSp>
        <p:nvCxnSpPr>
          <p:cNvPr id="23" name="tick 0.8"/>
          <p:cNvCxnSpPr/>
          <p:nvPr/>
        </p:nvCxnSpPr>
        <p:spPr>
          <a:xfrm>
            <a:off x="868680" y="3977639"/>
            <a:ext cx="45720" cy="0"/>
          </a:xfrm>
          <a:prstGeom prst="line">
            <a:avLst/>
          </a:prstGeom>
          <a:ln w="12700">
            <a:solidFill>
              <a:srgbClr val="15323F"/>
            </a:solidFill>
          </a:ln>
        </p:spPr>
        <p:style>
          <a:lnRef idx="2">
            <a:schemeClr val="accent1"/>
          </a:lnRef>
          <a:fillRef idx="0">
            <a:schemeClr val="accent1"/>
          </a:fillRef>
          <a:effectRef idx="1">
            <a:schemeClr val="accent1"/>
          </a:effectRef>
          <a:fontRef idx="minor">
            <a:schemeClr val="tx1"/>
          </a:fontRef>
        </p:style>
      </p:cxnSp>
      <p:sp>
        <p:nvSpPr>
          <p:cNvPr id="24" name="tick label 0.8"/>
          <p:cNvSpPr txBox="1"/>
          <p:nvPr/>
        </p:nvSpPr>
        <p:spPr>
          <a:xfrm>
            <a:off x="320040" y="3867911"/>
            <a:ext cx="502920" cy="219456"/>
          </a:xfrm>
          <a:prstGeom prst="rect">
            <a:avLst/>
          </a:prstGeom>
          <a:noFill/>
        </p:spPr>
        <p:txBody>
          <a:bodyPr wrap="square" lIns="0" rIns="0" tIns="0" bIns="0" anchor="t">
            <a:spAutoFit/>
          </a:bodyPr>
          <a:lstStyle/>
          <a:p>
            <a:pPr algn="r"/>
            <a:r>
              <a:rPr sz="1000" b="0" i="0">
                <a:solidFill>
                  <a:srgbClr val="5B7380"/>
                </a:solidFill>
                <a:latin typeface="Calibri"/>
              </a:rPr>
              <a:t>0.80</a:t>
            </a:r>
          </a:p>
        </p:txBody>
      </p:sp>
      <p:cxnSp>
        <p:nvCxnSpPr>
          <p:cNvPr id="25" name="grid 0.8"/>
          <p:cNvCxnSpPr/>
          <p:nvPr/>
        </p:nvCxnSpPr>
        <p:spPr>
          <a:xfrm>
            <a:off x="914400" y="3977639"/>
            <a:ext cx="5486400" cy="0"/>
          </a:xfrm>
          <a:prstGeom prst="line">
            <a:avLst/>
          </a:prstGeom>
          <a:ln w="6350">
            <a:solidFill>
              <a:srgbClr val="DDE4E8"/>
            </a:solidFill>
          </a:ln>
        </p:spPr>
        <p:style>
          <a:lnRef idx="2">
            <a:schemeClr val="accent1"/>
          </a:lnRef>
          <a:fillRef idx="0">
            <a:schemeClr val="accent1"/>
          </a:fillRef>
          <a:effectRef idx="1">
            <a:schemeClr val="accent1"/>
          </a:effectRef>
          <a:fontRef idx="minor">
            <a:schemeClr val="tx1"/>
          </a:fontRef>
        </p:style>
      </p:cxnSp>
      <p:cxnSp>
        <p:nvCxnSpPr>
          <p:cNvPr id="26" name="tick 0.85"/>
          <p:cNvCxnSpPr/>
          <p:nvPr/>
        </p:nvCxnSpPr>
        <p:spPr>
          <a:xfrm>
            <a:off x="868680" y="3291839"/>
            <a:ext cx="45720" cy="0"/>
          </a:xfrm>
          <a:prstGeom prst="line">
            <a:avLst/>
          </a:prstGeom>
          <a:ln w="12700">
            <a:solidFill>
              <a:srgbClr val="15323F"/>
            </a:solidFill>
          </a:ln>
        </p:spPr>
        <p:style>
          <a:lnRef idx="2">
            <a:schemeClr val="accent1"/>
          </a:lnRef>
          <a:fillRef idx="0">
            <a:schemeClr val="accent1"/>
          </a:fillRef>
          <a:effectRef idx="1">
            <a:schemeClr val="accent1"/>
          </a:effectRef>
          <a:fontRef idx="minor">
            <a:schemeClr val="tx1"/>
          </a:fontRef>
        </p:style>
      </p:cxnSp>
      <p:sp>
        <p:nvSpPr>
          <p:cNvPr id="27" name="tick label 0.85"/>
          <p:cNvSpPr txBox="1"/>
          <p:nvPr/>
        </p:nvSpPr>
        <p:spPr>
          <a:xfrm>
            <a:off x="320040" y="3182111"/>
            <a:ext cx="502920" cy="219456"/>
          </a:xfrm>
          <a:prstGeom prst="rect">
            <a:avLst/>
          </a:prstGeom>
          <a:noFill/>
        </p:spPr>
        <p:txBody>
          <a:bodyPr wrap="square" lIns="0" rIns="0" tIns="0" bIns="0" anchor="t">
            <a:spAutoFit/>
          </a:bodyPr>
          <a:lstStyle/>
          <a:p>
            <a:pPr algn="r"/>
            <a:r>
              <a:rPr sz="1000" b="0" i="0">
                <a:solidFill>
                  <a:srgbClr val="5B7380"/>
                </a:solidFill>
                <a:latin typeface="Calibri"/>
              </a:rPr>
              <a:t>0.85</a:t>
            </a:r>
          </a:p>
        </p:txBody>
      </p:sp>
      <p:cxnSp>
        <p:nvCxnSpPr>
          <p:cNvPr id="28" name="grid 0.85"/>
          <p:cNvCxnSpPr/>
          <p:nvPr/>
        </p:nvCxnSpPr>
        <p:spPr>
          <a:xfrm>
            <a:off x="914400" y="3291839"/>
            <a:ext cx="5486400" cy="0"/>
          </a:xfrm>
          <a:prstGeom prst="line">
            <a:avLst/>
          </a:prstGeom>
          <a:ln w="6350">
            <a:solidFill>
              <a:srgbClr val="DDE4E8"/>
            </a:solidFill>
          </a:ln>
        </p:spPr>
        <p:style>
          <a:lnRef idx="2">
            <a:schemeClr val="accent1"/>
          </a:lnRef>
          <a:fillRef idx="0">
            <a:schemeClr val="accent1"/>
          </a:fillRef>
          <a:effectRef idx="1">
            <a:schemeClr val="accent1"/>
          </a:effectRef>
          <a:fontRef idx="minor">
            <a:schemeClr val="tx1"/>
          </a:fontRef>
        </p:style>
      </p:cxnSp>
      <p:cxnSp>
        <p:nvCxnSpPr>
          <p:cNvPr id="29" name="tick 0.9"/>
          <p:cNvCxnSpPr/>
          <p:nvPr/>
        </p:nvCxnSpPr>
        <p:spPr>
          <a:xfrm>
            <a:off x="868680" y="2606039"/>
            <a:ext cx="45720" cy="0"/>
          </a:xfrm>
          <a:prstGeom prst="line">
            <a:avLst/>
          </a:prstGeom>
          <a:ln w="12700">
            <a:solidFill>
              <a:srgbClr val="15323F"/>
            </a:solidFill>
          </a:ln>
        </p:spPr>
        <p:style>
          <a:lnRef idx="2">
            <a:schemeClr val="accent1"/>
          </a:lnRef>
          <a:fillRef idx="0">
            <a:schemeClr val="accent1"/>
          </a:fillRef>
          <a:effectRef idx="1">
            <a:schemeClr val="accent1"/>
          </a:effectRef>
          <a:fontRef idx="minor">
            <a:schemeClr val="tx1"/>
          </a:fontRef>
        </p:style>
      </p:cxnSp>
      <p:sp>
        <p:nvSpPr>
          <p:cNvPr id="30" name="tick label 0.9"/>
          <p:cNvSpPr txBox="1"/>
          <p:nvPr/>
        </p:nvSpPr>
        <p:spPr>
          <a:xfrm>
            <a:off x="320040" y="2496311"/>
            <a:ext cx="502920" cy="219456"/>
          </a:xfrm>
          <a:prstGeom prst="rect">
            <a:avLst/>
          </a:prstGeom>
          <a:noFill/>
        </p:spPr>
        <p:txBody>
          <a:bodyPr wrap="square" lIns="0" rIns="0" tIns="0" bIns="0" anchor="t">
            <a:spAutoFit/>
          </a:bodyPr>
          <a:lstStyle/>
          <a:p>
            <a:pPr algn="r"/>
            <a:r>
              <a:rPr sz="1000" b="0" i="0">
                <a:solidFill>
                  <a:srgbClr val="5B7380"/>
                </a:solidFill>
                <a:latin typeface="Calibri"/>
              </a:rPr>
              <a:t>0.90</a:t>
            </a:r>
          </a:p>
        </p:txBody>
      </p:sp>
      <p:cxnSp>
        <p:nvCxnSpPr>
          <p:cNvPr id="31" name="grid 0.9"/>
          <p:cNvCxnSpPr/>
          <p:nvPr/>
        </p:nvCxnSpPr>
        <p:spPr>
          <a:xfrm>
            <a:off x="914400" y="2606039"/>
            <a:ext cx="5486400" cy="0"/>
          </a:xfrm>
          <a:prstGeom prst="line">
            <a:avLst/>
          </a:prstGeom>
          <a:ln w="6350">
            <a:solidFill>
              <a:srgbClr val="DDE4E8"/>
            </a:solidFill>
          </a:ln>
        </p:spPr>
        <p:style>
          <a:lnRef idx="2">
            <a:schemeClr val="accent1"/>
          </a:lnRef>
          <a:fillRef idx="0">
            <a:schemeClr val="accent1"/>
          </a:fillRef>
          <a:effectRef idx="1">
            <a:schemeClr val="accent1"/>
          </a:effectRef>
          <a:fontRef idx="minor">
            <a:schemeClr val="tx1"/>
          </a:fontRef>
        </p:style>
      </p:cxnSp>
      <p:cxnSp>
        <p:nvCxnSpPr>
          <p:cNvPr id="32" name="tick 0.95"/>
          <p:cNvCxnSpPr/>
          <p:nvPr/>
        </p:nvCxnSpPr>
        <p:spPr>
          <a:xfrm>
            <a:off x="868680" y="1920239"/>
            <a:ext cx="45720" cy="0"/>
          </a:xfrm>
          <a:prstGeom prst="line">
            <a:avLst/>
          </a:prstGeom>
          <a:ln w="12700">
            <a:solidFill>
              <a:srgbClr val="15323F"/>
            </a:solidFill>
          </a:ln>
        </p:spPr>
        <p:style>
          <a:lnRef idx="2">
            <a:schemeClr val="accent1"/>
          </a:lnRef>
          <a:fillRef idx="0">
            <a:schemeClr val="accent1"/>
          </a:fillRef>
          <a:effectRef idx="1">
            <a:schemeClr val="accent1"/>
          </a:effectRef>
          <a:fontRef idx="minor">
            <a:schemeClr val="tx1"/>
          </a:fontRef>
        </p:style>
      </p:cxnSp>
      <p:sp>
        <p:nvSpPr>
          <p:cNvPr id="33" name="tick label 0.95"/>
          <p:cNvSpPr txBox="1"/>
          <p:nvPr/>
        </p:nvSpPr>
        <p:spPr>
          <a:xfrm>
            <a:off x="320040" y="1810511"/>
            <a:ext cx="502920" cy="219456"/>
          </a:xfrm>
          <a:prstGeom prst="rect">
            <a:avLst/>
          </a:prstGeom>
          <a:noFill/>
        </p:spPr>
        <p:txBody>
          <a:bodyPr wrap="square" lIns="0" rIns="0" tIns="0" bIns="0" anchor="t">
            <a:spAutoFit/>
          </a:bodyPr>
          <a:lstStyle/>
          <a:p>
            <a:pPr algn="r"/>
            <a:r>
              <a:rPr sz="1000" b="0" i="0">
                <a:solidFill>
                  <a:srgbClr val="5B7380"/>
                </a:solidFill>
                <a:latin typeface="Calibri"/>
              </a:rPr>
              <a:t>0.95</a:t>
            </a:r>
          </a:p>
        </p:txBody>
      </p:sp>
      <p:cxnSp>
        <p:nvCxnSpPr>
          <p:cNvPr id="34" name="grid 0.95"/>
          <p:cNvCxnSpPr/>
          <p:nvPr/>
        </p:nvCxnSpPr>
        <p:spPr>
          <a:xfrm>
            <a:off x="914400" y="1920239"/>
            <a:ext cx="5486400" cy="0"/>
          </a:xfrm>
          <a:prstGeom prst="line">
            <a:avLst/>
          </a:prstGeom>
          <a:ln w="6350">
            <a:solidFill>
              <a:srgbClr val="DDE4E8"/>
            </a:solidFill>
          </a:ln>
        </p:spPr>
        <p:style>
          <a:lnRef idx="2">
            <a:schemeClr val="accent1"/>
          </a:lnRef>
          <a:fillRef idx="0">
            <a:schemeClr val="accent1"/>
          </a:fillRef>
          <a:effectRef idx="1">
            <a:schemeClr val="accent1"/>
          </a:effectRef>
          <a:fontRef idx="minor">
            <a:schemeClr val="tx1"/>
          </a:fontRef>
        </p:style>
      </p:cxnSp>
      <p:sp>
        <p:nvSpPr>
          <p:cNvPr id="35" name="chart title"/>
          <p:cNvSpPr txBox="1"/>
          <p:nvPr/>
        </p:nvSpPr>
        <p:spPr>
          <a:xfrm>
            <a:off x="548640" y="1051560"/>
            <a:ext cx="5943600" cy="274320"/>
          </a:xfrm>
          <a:prstGeom prst="rect">
            <a:avLst/>
          </a:prstGeom>
          <a:noFill/>
        </p:spPr>
        <p:txBody>
          <a:bodyPr wrap="square" lIns="0" rIns="0" tIns="0" bIns="0" anchor="t">
            <a:spAutoFit/>
          </a:bodyPr>
          <a:lstStyle/>
          <a:p>
            <a:pPr algn="l"/>
            <a:r>
              <a:rPr sz="1150" b="1" i="0">
                <a:solidFill>
                  <a:srgbClr val="15323F"/>
                </a:solidFill>
                <a:latin typeface="Calibri"/>
              </a:rPr>
              <a:t>Cell-level AUROC, own measurements (axis starts at 0.70)</a:t>
            </a:r>
          </a:p>
        </p:txBody>
      </p:sp>
      <p:sp>
        <p:nvSpPr>
          <p:cNvPr id="36" name="scanning ΔPAP w1"/>
          <p:cNvSpPr/>
          <p:nvPr/>
        </p:nvSpPr>
        <p:spPr>
          <a:xfrm>
            <a:off x="1143000" y="4055821"/>
            <a:ext cx="502920" cy="1293418"/>
          </a:xfrm>
          <a:prstGeom prst="rect">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7" name="scanning ΔPAP w1 value"/>
          <p:cNvSpPr txBox="1"/>
          <p:nvPr/>
        </p:nvSpPr>
        <p:spPr>
          <a:xfrm>
            <a:off x="1033271" y="3818077"/>
            <a:ext cx="722376" cy="219456"/>
          </a:xfrm>
          <a:prstGeom prst="rect">
            <a:avLst/>
          </a:prstGeom>
          <a:noFill/>
        </p:spPr>
        <p:txBody>
          <a:bodyPr wrap="square" lIns="0" rIns="0" tIns="0" bIns="0" anchor="t">
            <a:spAutoFit/>
          </a:bodyPr>
          <a:lstStyle/>
          <a:p>
            <a:pPr algn="ctr"/>
            <a:r>
              <a:rPr sz="1050" b="1" i="0">
                <a:solidFill>
                  <a:srgbClr val="15323F"/>
                </a:solidFill>
                <a:latin typeface="Calibri"/>
              </a:rPr>
              <a:t>0.7943</a:t>
            </a:r>
          </a:p>
        </p:txBody>
      </p:sp>
      <p:sp>
        <p:nvSpPr>
          <p:cNvPr id="38" name="scanning label ΔPAP w1"/>
          <p:cNvSpPr txBox="1"/>
          <p:nvPr/>
        </p:nvSpPr>
        <p:spPr>
          <a:xfrm>
            <a:off x="1051560" y="5385816"/>
            <a:ext cx="685800" cy="201168"/>
          </a:xfrm>
          <a:prstGeom prst="rect">
            <a:avLst/>
          </a:prstGeom>
          <a:noFill/>
        </p:spPr>
        <p:txBody>
          <a:bodyPr wrap="square" lIns="0" rIns="0" tIns="0" bIns="0" anchor="t">
            <a:spAutoFit/>
          </a:bodyPr>
          <a:lstStyle/>
          <a:p>
            <a:pPr algn="ctr"/>
            <a:r>
              <a:rPr sz="1000" b="0" i="0">
                <a:solidFill>
                  <a:srgbClr val="15323F"/>
                </a:solidFill>
                <a:latin typeface="Calibri"/>
              </a:rPr>
              <a:t>ΔPAP w1</a:t>
            </a:r>
          </a:p>
        </p:txBody>
      </p:sp>
      <p:sp>
        <p:nvSpPr>
          <p:cNvPr id="39" name="scanning ΔPAP w7"/>
          <p:cNvSpPr/>
          <p:nvPr/>
        </p:nvSpPr>
        <p:spPr>
          <a:xfrm>
            <a:off x="1801368" y="3487978"/>
            <a:ext cx="502920" cy="1861261"/>
          </a:xfrm>
          <a:prstGeom prst="rect">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0" name="scanning ΔPAP w7 value"/>
          <p:cNvSpPr txBox="1"/>
          <p:nvPr/>
        </p:nvSpPr>
        <p:spPr>
          <a:xfrm>
            <a:off x="1691640" y="3250234"/>
            <a:ext cx="722376" cy="219456"/>
          </a:xfrm>
          <a:prstGeom prst="rect">
            <a:avLst/>
          </a:prstGeom>
          <a:noFill/>
        </p:spPr>
        <p:txBody>
          <a:bodyPr wrap="square" lIns="0" rIns="0" tIns="0" bIns="0" anchor="t">
            <a:spAutoFit/>
          </a:bodyPr>
          <a:lstStyle/>
          <a:p>
            <a:pPr algn="ctr"/>
            <a:r>
              <a:rPr sz="1050" b="1" i="0">
                <a:solidFill>
                  <a:srgbClr val="15323F"/>
                </a:solidFill>
                <a:latin typeface="Calibri"/>
              </a:rPr>
              <a:t>0.8357</a:t>
            </a:r>
          </a:p>
        </p:txBody>
      </p:sp>
      <p:sp>
        <p:nvSpPr>
          <p:cNvPr id="41" name="scanning label ΔPAP w7"/>
          <p:cNvSpPr txBox="1"/>
          <p:nvPr/>
        </p:nvSpPr>
        <p:spPr>
          <a:xfrm>
            <a:off x="1709928" y="5385816"/>
            <a:ext cx="685800" cy="201168"/>
          </a:xfrm>
          <a:prstGeom prst="rect">
            <a:avLst/>
          </a:prstGeom>
          <a:noFill/>
        </p:spPr>
        <p:txBody>
          <a:bodyPr wrap="square" lIns="0" rIns="0" tIns="0" bIns="0" anchor="t">
            <a:spAutoFit/>
          </a:bodyPr>
          <a:lstStyle/>
          <a:p>
            <a:pPr algn="ctr"/>
            <a:r>
              <a:rPr sz="1000" b="0" i="0">
                <a:solidFill>
                  <a:srgbClr val="15323F"/>
                </a:solidFill>
                <a:latin typeface="Calibri"/>
              </a:rPr>
              <a:t>ΔPAP w7</a:t>
            </a:r>
          </a:p>
        </p:txBody>
      </p:sp>
      <p:sp>
        <p:nvSpPr>
          <p:cNvPr id="42" name="scanning M0"/>
          <p:cNvSpPr/>
          <p:nvPr/>
        </p:nvSpPr>
        <p:spPr>
          <a:xfrm>
            <a:off x="2459736" y="3438601"/>
            <a:ext cx="502920" cy="1910638"/>
          </a:xfrm>
          <a:prstGeom prst="rect">
            <a:avLst/>
          </a:prstGeom>
          <a:solidFill>
            <a:srgbClr val="DCE7F2"/>
          </a:solidFill>
          <a:ln w="12700">
            <a:solidFill>
              <a:srgbClr val="386FA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3" name="scanning M0 value"/>
          <p:cNvSpPr txBox="1"/>
          <p:nvPr/>
        </p:nvSpPr>
        <p:spPr>
          <a:xfrm>
            <a:off x="2350008" y="3200857"/>
            <a:ext cx="722376" cy="219456"/>
          </a:xfrm>
          <a:prstGeom prst="rect">
            <a:avLst/>
          </a:prstGeom>
          <a:noFill/>
        </p:spPr>
        <p:txBody>
          <a:bodyPr wrap="square" lIns="0" rIns="0" tIns="0" bIns="0" anchor="t">
            <a:spAutoFit/>
          </a:bodyPr>
          <a:lstStyle/>
          <a:p>
            <a:pPr algn="ctr"/>
            <a:r>
              <a:rPr sz="1050" b="1" i="0">
                <a:solidFill>
                  <a:srgbClr val="15323F"/>
                </a:solidFill>
                <a:latin typeface="Calibri"/>
              </a:rPr>
              <a:t>0.8393</a:t>
            </a:r>
          </a:p>
        </p:txBody>
      </p:sp>
      <p:sp>
        <p:nvSpPr>
          <p:cNvPr id="44" name="scanning label M0"/>
          <p:cNvSpPr txBox="1"/>
          <p:nvPr/>
        </p:nvSpPr>
        <p:spPr>
          <a:xfrm>
            <a:off x="2368296" y="5385816"/>
            <a:ext cx="685800" cy="201168"/>
          </a:xfrm>
          <a:prstGeom prst="rect">
            <a:avLst/>
          </a:prstGeom>
          <a:noFill/>
        </p:spPr>
        <p:txBody>
          <a:bodyPr wrap="square" lIns="0" rIns="0" tIns="0" bIns="0" anchor="t">
            <a:spAutoFit/>
          </a:bodyPr>
          <a:lstStyle/>
          <a:p>
            <a:pPr algn="ctr"/>
            <a:r>
              <a:rPr sz="1000" b="0" i="0">
                <a:solidFill>
                  <a:srgbClr val="15323F"/>
                </a:solidFill>
                <a:latin typeface="Calibri"/>
              </a:rPr>
              <a:t>M0</a:t>
            </a:r>
          </a:p>
        </p:txBody>
      </p:sp>
      <p:sp>
        <p:nvSpPr>
          <p:cNvPr id="45" name="scanning M3"/>
          <p:cNvSpPr/>
          <p:nvPr/>
        </p:nvSpPr>
        <p:spPr>
          <a:xfrm>
            <a:off x="3118104" y="3042208"/>
            <a:ext cx="502920" cy="2307031"/>
          </a:xfrm>
          <a:prstGeom prst="rect">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6" name="scanning M3 value"/>
          <p:cNvSpPr txBox="1"/>
          <p:nvPr/>
        </p:nvSpPr>
        <p:spPr>
          <a:xfrm>
            <a:off x="3008376" y="2804464"/>
            <a:ext cx="722376" cy="219456"/>
          </a:xfrm>
          <a:prstGeom prst="rect">
            <a:avLst/>
          </a:prstGeom>
          <a:noFill/>
        </p:spPr>
        <p:txBody>
          <a:bodyPr wrap="square" lIns="0" rIns="0" tIns="0" bIns="0" anchor="t">
            <a:spAutoFit/>
          </a:bodyPr>
          <a:lstStyle/>
          <a:p>
            <a:pPr algn="ctr"/>
            <a:r>
              <a:rPr sz="1050" b="1" i="0">
                <a:solidFill>
                  <a:srgbClr val="15323F"/>
                </a:solidFill>
                <a:latin typeface="Calibri"/>
              </a:rPr>
              <a:t>0.8682</a:t>
            </a:r>
          </a:p>
        </p:txBody>
      </p:sp>
      <p:sp>
        <p:nvSpPr>
          <p:cNvPr id="47" name="scanning label M3"/>
          <p:cNvSpPr txBox="1"/>
          <p:nvPr/>
        </p:nvSpPr>
        <p:spPr>
          <a:xfrm>
            <a:off x="3026664" y="5385816"/>
            <a:ext cx="685800" cy="201168"/>
          </a:xfrm>
          <a:prstGeom prst="rect">
            <a:avLst/>
          </a:prstGeom>
          <a:noFill/>
        </p:spPr>
        <p:txBody>
          <a:bodyPr wrap="square" lIns="0" rIns="0" tIns="0" bIns="0" anchor="t">
            <a:spAutoFit/>
          </a:bodyPr>
          <a:lstStyle/>
          <a:p>
            <a:pPr algn="ctr"/>
            <a:r>
              <a:rPr sz="1000" b="0" i="0">
                <a:solidFill>
                  <a:srgbClr val="15323F"/>
                </a:solidFill>
                <a:latin typeface="Calibri"/>
              </a:rPr>
              <a:t>M3</a:t>
            </a:r>
          </a:p>
        </p:txBody>
      </p:sp>
      <p:cxnSp>
        <p:nvCxnSpPr>
          <p:cNvPr id="48" name="scanning ceiling"/>
          <p:cNvCxnSpPr/>
          <p:nvPr/>
        </p:nvCxnSpPr>
        <p:spPr>
          <a:xfrm>
            <a:off x="1051560" y="1977847"/>
            <a:ext cx="2788920" cy="0"/>
          </a:xfrm>
          <a:prstGeom prst="line">
            <a:avLst/>
          </a:prstGeom>
          <a:ln w="19050">
            <a:solidFill>
              <a:srgbClr val="15323F"/>
            </a:solidFill>
            <a:prstDash val="dash"/>
          </a:ln>
        </p:spPr>
        <p:style>
          <a:lnRef idx="2">
            <a:schemeClr val="accent1"/>
          </a:lnRef>
          <a:fillRef idx="0">
            <a:schemeClr val="accent1"/>
          </a:fillRef>
          <a:effectRef idx="1">
            <a:schemeClr val="accent1"/>
          </a:effectRef>
          <a:fontRef idx="minor">
            <a:schemeClr val="tx1"/>
          </a:fontRef>
        </p:style>
      </p:cxnSp>
      <p:sp>
        <p:nvSpPr>
          <p:cNvPr id="49" name="scanning ceiling label"/>
          <p:cNvSpPr txBox="1"/>
          <p:nvPr/>
        </p:nvSpPr>
        <p:spPr>
          <a:xfrm>
            <a:off x="1051560" y="1730959"/>
            <a:ext cx="2743200" cy="219456"/>
          </a:xfrm>
          <a:prstGeom prst="rect">
            <a:avLst/>
          </a:prstGeom>
          <a:noFill/>
        </p:spPr>
        <p:txBody>
          <a:bodyPr wrap="square" lIns="0" rIns="0" tIns="0" bIns="0" anchor="t">
            <a:spAutoFit/>
          </a:bodyPr>
          <a:lstStyle/>
          <a:p>
            <a:pPr algn="l"/>
            <a:r>
              <a:rPr sz="1050" b="1" i="0">
                <a:solidFill>
                  <a:srgbClr val="15323F"/>
                </a:solidFill>
                <a:latin typeface="Calibri"/>
              </a:rPr>
              <a:t>ceiling 0.9458</a:t>
            </a:r>
          </a:p>
        </p:txBody>
      </p:sp>
      <p:sp>
        <p:nvSpPr>
          <p:cNvPr id="50" name="saturation M0"/>
          <p:cNvSpPr/>
          <p:nvPr/>
        </p:nvSpPr>
        <p:spPr>
          <a:xfrm>
            <a:off x="4343400" y="5251856"/>
            <a:ext cx="502920" cy="97383"/>
          </a:xfrm>
          <a:prstGeom prst="rect">
            <a:avLst/>
          </a:prstGeom>
          <a:solidFill>
            <a:srgbClr val="DCE7F2"/>
          </a:solidFill>
          <a:ln w="12700">
            <a:solidFill>
              <a:srgbClr val="386FA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1" name="saturation M0 value"/>
          <p:cNvSpPr txBox="1"/>
          <p:nvPr/>
        </p:nvSpPr>
        <p:spPr>
          <a:xfrm>
            <a:off x="4233672" y="5014112"/>
            <a:ext cx="722376" cy="219456"/>
          </a:xfrm>
          <a:prstGeom prst="rect">
            <a:avLst/>
          </a:prstGeom>
          <a:noFill/>
        </p:spPr>
        <p:txBody>
          <a:bodyPr wrap="square" lIns="0" rIns="0" tIns="0" bIns="0" anchor="t">
            <a:spAutoFit/>
          </a:bodyPr>
          <a:lstStyle/>
          <a:p>
            <a:pPr algn="ctr"/>
            <a:r>
              <a:rPr sz="1050" b="1" i="0">
                <a:solidFill>
                  <a:srgbClr val="15323F"/>
                </a:solidFill>
                <a:latin typeface="Calibri"/>
              </a:rPr>
              <a:t>0.7071</a:t>
            </a:r>
          </a:p>
        </p:txBody>
      </p:sp>
      <p:sp>
        <p:nvSpPr>
          <p:cNvPr id="52" name="saturation label M0"/>
          <p:cNvSpPr txBox="1"/>
          <p:nvPr/>
        </p:nvSpPr>
        <p:spPr>
          <a:xfrm>
            <a:off x="4251960" y="5385816"/>
            <a:ext cx="685800" cy="201168"/>
          </a:xfrm>
          <a:prstGeom prst="rect">
            <a:avLst/>
          </a:prstGeom>
          <a:noFill/>
        </p:spPr>
        <p:txBody>
          <a:bodyPr wrap="square" lIns="0" rIns="0" tIns="0" bIns="0" anchor="t">
            <a:spAutoFit/>
          </a:bodyPr>
          <a:lstStyle/>
          <a:p>
            <a:pPr algn="ctr"/>
            <a:r>
              <a:rPr sz="1000" b="0" i="0">
                <a:solidFill>
                  <a:srgbClr val="15323F"/>
                </a:solidFill>
                <a:latin typeface="Calibri"/>
              </a:rPr>
              <a:t>M0</a:t>
            </a:r>
          </a:p>
        </p:txBody>
      </p:sp>
      <p:sp>
        <p:nvSpPr>
          <p:cNvPr id="53" name="saturation M3"/>
          <p:cNvSpPr/>
          <p:nvPr/>
        </p:nvSpPr>
        <p:spPr>
          <a:xfrm>
            <a:off x="5001768" y="4974793"/>
            <a:ext cx="502920" cy="374446"/>
          </a:xfrm>
          <a:prstGeom prst="rect">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4" name="saturation M3 value"/>
          <p:cNvSpPr txBox="1"/>
          <p:nvPr/>
        </p:nvSpPr>
        <p:spPr>
          <a:xfrm>
            <a:off x="4892040" y="4737049"/>
            <a:ext cx="722376" cy="219456"/>
          </a:xfrm>
          <a:prstGeom prst="rect">
            <a:avLst/>
          </a:prstGeom>
          <a:noFill/>
        </p:spPr>
        <p:txBody>
          <a:bodyPr wrap="square" lIns="0" rIns="0" tIns="0" bIns="0" anchor="t">
            <a:spAutoFit/>
          </a:bodyPr>
          <a:lstStyle/>
          <a:p>
            <a:pPr algn="ctr"/>
            <a:r>
              <a:rPr sz="1050" b="1" i="0">
                <a:solidFill>
                  <a:srgbClr val="15323F"/>
                </a:solidFill>
                <a:latin typeface="Calibri"/>
              </a:rPr>
              <a:t>0.7273</a:t>
            </a:r>
          </a:p>
        </p:txBody>
      </p:sp>
      <p:sp>
        <p:nvSpPr>
          <p:cNvPr id="55" name="saturation label M3"/>
          <p:cNvSpPr txBox="1"/>
          <p:nvPr/>
        </p:nvSpPr>
        <p:spPr>
          <a:xfrm>
            <a:off x="4910328" y="5385816"/>
            <a:ext cx="685800" cy="201168"/>
          </a:xfrm>
          <a:prstGeom prst="rect">
            <a:avLst/>
          </a:prstGeom>
          <a:noFill/>
        </p:spPr>
        <p:txBody>
          <a:bodyPr wrap="square" lIns="0" rIns="0" tIns="0" bIns="0" anchor="t">
            <a:spAutoFit/>
          </a:bodyPr>
          <a:lstStyle/>
          <a:p>
            <a:pPr algn="ctr"/>
            <a:r>
              <a:rPr sz="1000" b="0" i="0">
                <a:solidFill>
                  <a:srgbClr val="15323F"/>
                </a:solidFill>
                <a:latin typeface="Calibri"/>
              </a:rPr>
              <a:t>M3</a:t>
            </a:r>
          </a:p>
        </p:txBody>
      </p:sp>
      <p:sp>
        <p:nvSpPr>
          <p:cNvPr id="56" name="saturation ΔPAP w1"/>
          <p:cNvSpPr/>
          <p:nvPr/>
        </p:nvSpPr>
        <p:spPr>
          <a:xfrm>
            <a:off x="5660136" y="4398721"/>
            <a:ext cx="502920" cy="950518"/>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7" name="saturation ΔPAP w1 value"/>
          <p:cNvSpPr txBox="1"/>
          <p:nvPr/>
        </p:nvSpPr>
        <p:spPr>
          <a:xfrm>
            <a:off x="5550407" y="4160977"/>
            <a:ext cx="722376" cy="219456"/>
          </a:xfrm>
          <a:prstGeom prst="rect">
            <a:avLst/>
          </a:prstGeom>
          <a:noFill/>
        </p:spPr>
        <p:txBody>
          <a:bodyPr wrap="square" lIns="0" rIns="0" tIns="0" bIns="0" anchor="t">
            <a:spAutoFit/>
          </a:bodyPr>
          <a:lstStyle/>
          <a:p>
            <a:pPr algn="ctr"/>
            <a:r>
              <a:rPr sz="1050" b="1" i="0">
                <a:solidFill>
                  <a:srgbClr val="D1495B"/>
                </a:solidFill>
                <a:latin typeface="Calibri"/>
              </a:rPr>
              <a:t>0.7693</a:t>
            </a:r>
          </a:p>
        </p:txBody>
      </p:sp>
      <p:sp>
        <p:nvSpPr>
          <p:cNvPr id="58" name="saturation label ΔPAP w1"/>
          <p:cNvSpPr txBox="1"/>
          <p:nvPr/>
        </p:nvSpPr>
        <p:spPr>
          <a:xfrm>
            <a:off x="5568696" y="5385816"/>
            <a:ext cx="685800" cy="201168"/>
          </a:xfrm>
          <a:prstGeom prst="rect">
            <a:avLst/>
          </a:prstGeom>
          <a:noFill/>
        </p:spPr>
        <p:txBody>
          <a:bodyPr wrap="square" lIns="0" rIns="0" tIns="0" bIns="0" anchor="t">
            <a:spAutoFit/>
          </a:bodyPr>
          <a:lstStyle/>
          <a:p>
            <a:pPr algn="ctr"/>
            <a:r>
              <a:rPr sz="1000" b="0" i="0">
                <a:solidFill>
                  <a:srgbClr val="15323F"/>
                </a:solidFill>
                <a:latin typeface="Calibri"/>
              </a:rPr>
              <a:t>ΔPAP w1</a:t>
            </a:r>
          </a:p>
        </p:txBody>
      </p:sp>
      <p:cxnSp>
        <p:nvCxnSpPr>
          <p:cNvPr id="59" name="saturation ceiling"/>
          <p:cNvCxnSpPr/>
          <p:nvPr/>
        </p:nvCxnSpPr>
        <p:spPr>
          <a:xfrm>
            <a:off x="4251960" y="1894179"/>
            <a:ext cx="2148840" cy="0"/>
          </a:xfrm>
          <a:prstGeom prst="line">
            <a:avLst/>
          </a:prstGeom>
          <a:ln w="19050">
            <a:solidFill>
              <a:srgbClr val="15323F"/>
            </a:solidFill>
            <a:prstDash val="dash"/>
          </a:ln>
        </p:spPr>
        <p:style>
          <a:lnRef idx="2">
            <a:schemeClr val="accent1"/>
          </a:lnRef>
          <a:fillRef idx="0">
            <a:schemeClr val="accent1"/>
          </a:fillRef>
          <a:effectRef idx="1">
            <a:schemeClr val="accent1"/>
          </a:effectRef>
          <a:fontRef idx="minor">
            <a:schemeClr val="tx1"/>
          </a:fontRef>
        </p:style>
      </p:cxnSp>
      <p:sp>
        <p:nvSpPr>
          <p:cNvPr id="60" name="saturation ceiling label"/>
          <p:cNvSpPr txBox="1"/>
          <p:nvPr/>
        </p:nvSpPr>
        <p:spPr>
          <a:xfrm>
            <a:off x="4251960" y="1647291"/>
            <a:ext cx="2194560" cy="219456"/>
          </a:xfrm>
          <a:prstGeom prst="rect">
            <a:avLst/>
          </a:prstGeom>
          <a:noFill/>
        </p:spPr>
        <p:txBody>
          <a:bodyPr wrap="square" lIns="0" rIns="0" tIns="0" bIns="0" anchor="t">
            <a:spAutoFit/>
          </a:bodyPr>
          <a:lstStyle/>
          <a:p>
            <a:pPr algn="l"/>
            <a:r>
              <a:rPr sz="1050" b="1" i="0">
                <a:solidFill>
                  <a:srgbClr val="15323F"/>
                </a:solidFill>
                <a:latin typeface="Calibri"/>
              </a:rPr>
              <a:t>ceiling 0.9519</a:t>
            </a:r>
          </a:p>
        </p:txBody>
      </p:sp>
      <p:cxnSp>
        <p:nvCxnSpPr>
          <p:cNvPr id="61" name="target line"/>
          <p:cNvCxnSpPr/>
          <p:nvPr/>
        </p:nvCxnSpPr>
        <p:spPr>
          <a:xfrm>
            <a:off x="4251960" y="4398721"/>
            <a:ext cx="1965960" cy="0"/>
          </a:xfrm>
          <a:prstGeom prst="line">
            <a:avLst/>
          </a:prstGeom>
          <a:ln w="19050">
            <a:solidFill>
              <a:srgbClr val="D1495B"/>
            </a:solidFill>
            <a:prstDash val="dash"/>
          </a:ln>
        </p:spPr>
        <p:style>
          <a:lnRef idx="2">
            <a:schemeClr val="accent1"/>
          </a:lnRef>
          <a:fillRef idx="0">
            <a:schemeClr val="accent1"/>
          </a:fillRef>
          <a:effectRef idx="1">
            <a:schemeClr val="accent1"/>
          </a:effectRef>
          <a:fontRef idx="minor">
            <a:schemeClr val="tx1"/>
          </a:fontRef>
        </p:style>
      </p:cxnSp>
      <p:cxnSp>
        <p:nvCxnSpPr>
          <p:cNvPr id="62" name="gap arrow"/>
          <p:cNvCxnSpPr/>
          <p:nvPr/>
        </p:nvCxnSpPr>
        <p:spPr>
          <a:xfrm flipV="1">
            <a:off x="5257800" y="4426153"/>
            <a:ext cx="0" cy="274320"/>
          </a:xfrm>
          <a:prstGeom prst="line">
            <a:avLst/>
          </a:prstGeom>
          <a:ln w="31750">
            <a:solidFill>
              <a:srgbClr val="D1495B"/>
            </a:solidFill>
            <a:tailEnd type="triangle"/>
          </a:ln>
        </p:spPr>
        <p:style>
          <a:lnRef idx="2">
            <a:schemeClr val="accent1"/>
          </a:lnRef>
          <a:fillRef idx="0">
            <a:schemeClr val="accent1"/>
          </a:fillRef>
          <a:effectRef idx="1">
            <a:schemeClr val="accent1"/>
          </a:effectRef>
          <a:fontRef idx="minor">
            <a:schemeClr val="tx1"/>
          </a:fontRef>
        </p:style>
      </p:cxnSp>
      <p:sp>
        <p:nvSpPr>
          <p:cNvPr id="63" name="gap label"/>
          <p:cNvSpPr txBox="1"/>
          <p:nvPr/>
        </p:nvSpPr>
        <p:spPr>
          <a:xfrm>
            <a:off x="4206240" y="3868369"/>
            <a:ext cx="1005840" cy="457200"/>
          </a:xfrm>
          <a:prstGeom prst="rect">
            <a:avLst/>
          </a:prstGeom>
          <a:noFill/>
        </p:spPr>
        <p:txBody>
          <a:bodyPr wrap="square" lIns="0" rIns="0" tIns="0" bIns="0" anchor="t">
            <a:spAutoFit/>
          </a:bodyPr>
          <a:lstStyle/>
          <a:p>
            <a:pPr algn="r"/>
            <a:r>
              <a:rPr sz="1200" b="1" i="0">
                <a:solidFill>
                  <a:srgbClr val="D1495B"/>
                </a:solidFill>
                <a:latin typeface="Calibri"/>
              </a:rPr>
              <a:t>−0.0420</a:t>
            </a:r>
          </a:p>
          <a:p>
            <a:pPr algn="r"/>
            <a:r>
              <a:rPr sz="1050" b="0" i="0">
                <a:solidFill>
                  <a:srgbClr val="D1495B"/>
                </a:solidFill>
                <a:latin typeface="Calibri"/>
              </a:rPr>
              <a:t>target</a:t>
            </a:r>
          </a:p>
        </p:txBody>
      </p:sp>
      <p:sp>
        <p:nvSpPr>
          <p:cNvPr id="64" name="cluster title 1"/>
          <p:cNvSpPr txBox="1"/>
          <p:nvPr/>
        </p:nvSpPr>
        <p:spPr>
          <a:xfrm>
            <a:off x="1005840" y="5623559"/>
            <a:ext cx="2834640" cy="502920"/>
          </a:xfrm>
          <a:prstGeom prst="rect">
            <a:avLst/>
          </a:prstGeom>
          <a:noFill/>
        </p:spPr>
        <p:txBody>
          <a:bodyPr wrap="square" lIns="0" rIns="0" tIns="0" bIns="0" anchor="t">
            <a:spAutoFit/>
          </a:bodyPr>
          <a:lstStyle/>
          <a:p>
            <a:pPr algn="l"/>
            <a:r>
              <a:rPr sz="1150" b="1" i="0">
                <a:solidFill>
                  <a:srgbClr val="15323F"/>
                </a:solidFill>
                <a:latin typeface="Calibri"/>
              </a:rPr>
              <a:t>Scanning set</a:t>
            </a:r>
          </a:p>
          <a:p>
            <a:pPr algn="l"/>
            <a:r>
              <a:rPr sz="1000" b="0" i="0">
                <a:solidFill>
                  <a:srgbClr val="5B7380"/>
                </a:solidFill>
                <a:latin typeface="Calibri"/>
              </a:rPr>
              <a:t>1,985 clusters · 2,994 peptides · 83,446 cells</a:t>
            </a:r>
          </a:p>
        </p:txBody>
      </p:sp>
      <p:sp>
        <p:nvSpPr>
          <p:cNvPr id="65" name="cluster title 2"/>
          <p:cNvSpPr txBox="1"/>
          <p:nvPr/>
        </p:nvSpPr>
        <p:spPr>
          <a:xfrm>
            <a:off x="4251960" y="5623559"/>
            <a:ext cx="2286000" cy="502920"/>
          </a:xfrm>
          <a:prstGeom prst="rect">
            <a:avLst/>
          </a:prstGeom>
          <a:noFill/>
        </p:spPr>
        <p:txBody>
          <a:bodyPr wrap="square" lIns="0" rIns="0" tIns="0" bIns="0" anchor="t">
            <a:spAutoFit/>
          </a:bodyPr>
          <a:lstStyle/>
          <a:p>
            <a:pPr algn="l"/>
            <a:r>
              <a:rPr sz="1150" b="1" i="0">
                <a:solidFill>
                  <a:srgbClr val="15323F"/>
                </a:solidFill>
                <a:latin typeface="Calibri"/>
              </a:rPr>
              <a:t>Saturation matrix</a:t>
            </a:r>
          </a:p>
          <a:p>
            <a:pPr algn="l"/>
            <a:r>
              <a:rPr sz="1000" b="0" i="0">
                <a:solidFill>
                  <a:srgbClr val="5B7380"/>
                </a:solidFill>
                <a:latin typeface="Calibri"/>
              </a:rPr>
              <a:t>89 clusters · 91 peptides · 47,847 cells</a:t>
            </a:r>
          </a:p>
        </p:txBody>
      </p:sp>
      <p:sp>
        <p:nvSpPr>
          <p:cNvPr id="66" name="card: Where the model is a"/>
          <p:cNvSpPr/>
          <p:nvPr/>
        </p:nvSpPr>
        <p:spPr>
          <a:xfrm>
            <a:off x="6903720" y="1051560"/>
            <a:ext cx="4739335" cy="1005840"/>
          </a:xfrm>
          <a:prstGeom prst="roundRect">
            <a:avLst>
              <a:gd name="adj" fmla="val 9090"/>
            </a:avLst>
          </a:prstGeom>
          <a:solidFill>
            <a:srgbClr val="D9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7" name="card text: Where the model is a"/>
          <p:cNvSpPr txBox="1"/>
          <p:nvPr/>
        </p:nvSpPr>
        <p:spPr>
          <a:xfrm>
            <a:off x="7040880" y="1143000"/>
            <a:ext cx="4465015" cy="868680"/>
          </a:xfrm>
          <a:prstGeom prst="rect">
            <a:avLst/>
          </a:prstGeom>
          <a:noFill/>
        </p:spPr>
        <p:txBody>
          <a:bodyPr wrap="square" lIns="0" rIns="0" tIns="0" bIns="0" anchor="t">
            <a:spAutoFit/>
          </a:bodyPr>
          <a:lstStyle/>
          <a:p>
            <a:pPr algn="l"/>
            <a:r>
              <a:rPr sz="1150" b="1" i="0">
                <a:solidFill>
                  <a:srgbClr val="1F7A6F"/>
                </a:solidFill>
                <a:latin typeface="Calibri"/>
              </a:rPr>
              <a:t>Where the model is ahead (paired by peptide, bootstrapped by cluster)</a:t>
            </a:r>
          </a:p>
          <a:p>
            <a:pPr algn="l">
              <a:spcBef>
                <a:spcPts val="200"/>
              </a:spcBef>
            </a:pPr>
            <a:r>
              <a:rPr sz="1150" b="0" i="0">
                <a:solidFill>
                  <a:srgbClr val="15323F"/>
                </a:solidFill>
                <a:latin typeface="Calibri"/>
              </a:rPr>
              <a:t>M3 − M0 = +0.0289, CI [0.0264, 0.0313], wins on 72.5% of peptides</a:t>
            </a:r>
          </a:p>
          <a:p>
            <a:pPr algn="l">
              <a:spcBef>
                <a:spcPts val="200"/>
              </a:spcBef>
            </a:pPr>
            <a:r>
              <a:rPr sz="1150" b="0" i="0">
                <a:solidFill>
                  <a:srgbClr val="15323F"/>
                </a:solidFill>
                <a:latin typeface="Calibri"/>
              </a:rPr>
              <a:t>M3 − ΔPAP cnn2w7 = +0.0300, CI [0.0234, 0.0366]</a:t>
            </a:r>
          </a:p>
        </p:txBody>
      </p:sp>
      <p:sp>
        <p:nvSpPr>
          <p:cNvPr id="68" name="card: Where it is still be"/>
          <p:cNvSpPr/>
          <p:nvPr/>
        </p:nvSpPr>
        <p:spPr>
          <a:xfrm>
            <a:off x="6903720" y="2148840"/>
            <a:ext cx="4739335" cy="1234440"/>
          </a:xfrm>
          <a:prstGeom prst="roundRect">
            <a:avLst>
              <a:gd name="adj" fmla="val 7407"/>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9" name="card text: Where it is still be"/>
          <p:cNvSpPr txBox="1"/>
          <p:nvPr/>
        </p:nvSpPr>
        <p:spPr>
          <a:xfrm>
            <a:off x="7040880" y="2240280"/>
            <a:ext cx="4465015" cy="1097280"/>
          </a:xfrm>
          <a:prstGeom prst="rect">
            <a:avLst/>
          </a:prstGeom>
          <a:noFill/>
        </p:spPr>
        <p:txBody>
          <a:bodyPr wrap="square" lIns="0" rIns="0" tIns="0" bIns="0" anchor="t">
            <a:spAutoFit/>
          </a:bodyPr>
          <a:lstStyle/>
          <a:p>
            <a:pPr algn="l"/>
            <a:r>
              <a:rPr sz="1150" b="1" i="0">
                <a:solidFill>
                  <a:srgbClr val="D1495B"/>
                </a:solidFill>
                <a:latin typeface="Calibri"/>
              </a:rPr>
              <a:t>Where it is still behind: the stated target</a:t>
            </a:r>
          </a:p>
          <a:p>
            <a:pPr algn="l">
              <a:spcBef>
                <a:spcPts val="200"/>
              </a:spcBef>
            </a:pPr>
            <a:r>
              <a:rPr sz="1150" b="0" i="0">
                <a:solidFill>
                  <a:srgbClr val="15323F"/>
                </a:solidFill>
                <a:latin typeface="Calibri"/>
              </a:rPr>
              <a:t>Matrix: M3 − ΔPAP cnn2w1 = −0.0420, CI [−0.0580, −0.0256]</a:t>
            </a:r>
          </a:p>
          <a:p>
            <a:pPr algn="l">
              <a:spcBef>
                <a:spcPts val="200"/>
              </a:spcBef>
            </a:pPr>
            <a:r>
              <a:rPr sz="1150" b="0" i="0">
                <a:solidFill>
                  <a:srgbClr val="15323F"/>
                </a:solidFill>
                <a:latin typeface="Calibri"/>
              </a:rPr>
              <a:t>The ranking reverses by metric: at position level M3 has Spearman 0.4440 vs 0.3553, so claims are reported per metric, never pooled</a:t>
            </a:r>
          </a:p>
        </p:txBody>
      </p:sp>
      <p:graphicFrame>
        <p:nvGraphicFramePr>
          <p:cNvPr id="70" name="power"/>
          <p:cNvGraphicFramePr>
            <a:graphicFrameLocks noGrp="1"/>
          </p:cNvGraphicFramePr>
          <p:nvPr/>
        </p:nvGraphicFramePr>
        <p:xfrm>
          <a:off x="6903720" y="3474720"/>
          <a:ext cx="4739335" cy="1257300"/>
        </p:xfrm>
        <a:graphic>
          <a:graphicData uri="http://schemas.openxmlformats.org/drawingml/2006/table">
            <a:tbl>
              <a:tblPr firstRow="0" bandRow="0">
                <a:tableStyleId>{2D5ABB26-0587-4C30-8999-92F81FD0307C}</a:tableStyleId>
              </a:tblPr>
              <a:tblGrid>
                <a:gridCol w="2926080"/>
                <a:gridCol w="1813255"/>
              </a:tblGrid>
              <a:tr h="251460">
                <a:tc>
                  <a:txBody>
                    <a:bodyPr wrap="square"/>
                    <a:lstStyle/>
                    <a:p>
                      <a:pPr algn="l"/>
                      <a:r>
                        <a:rPr sz="1050" b="1" i="0">
                          <a:solidFill>
                            <a:srgbClr val="FAFBFC"/>
                          </a:solidFill>
                          <a:latin typeface="Calibri"/>
                        </a:rPr>
                        <a:t>Statistical power, computed in advance</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r"/>
                      <a:r>
                        <a:rPr sz="1050" b="1" i="0">
                          <a:solidFill>
                            <a:srgbClr val="FAFBFC"/>
                          </a:solidFill>
                          <a:latin typeface="Calibri"/>
                        </a:rPr>
                        <a:t/>
                      </a:r>
                    </a:p>
                  </a:txBody>
                  <a:tcPr marL="54864" marR="54864" marT="27432" marB="27432" anchor="ctr">
                    <a:lnL w="0">
                      <a:noFill/>
                    </a:lnL>
                    <a:lnR w="0">
                      <a:noFill/>
                    </a:lnR>
                    <a:lnT w="0">
                      <a:noFill/>
                    </a:lnT>
                    <a:lnB w="6350">
                      <a:solidFill>
                        <a:srgbClr val="DDE4E8"/>
                      </a:solidFill>
                    </a:lnB>
                    <a:solidFill>
                      <a:srgbClr val="15323F"/>
                    </a:solidFill>
                  </a:tcPr>
                </a:tc>
              </a:tr>
              <a:tr h="251460">
                <a:tc>
                  <a:txBody>
                    <a:bodyPr wrap="square"/>
                    <a:lstStyle/>
                    <a:p>
                      <a:pPr algn="l"/>
                      <a:r>
                        <a:rPr sz="1050" b="0" i="0">
                          <a:solidFill>
                            <a:srgbClr val="15323F"/>
                          </a:solidFill>
                          <a:latin typeface="Calibri"/>
                        </a:rPr>
                        <a:t>MDE, paired M3 − M0, saturation (80% power)</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r"/>
                      <a:r>
                        <a:rPr sz="1050" b="0" i="0">
                          <a:solidFill>
                            <a:srgbClr val="15323F"/>
                          </a:solidFill>
                          <a:latin typeface="Calibri"/>
                        </a:rPr>
                        <a:t>0.0123</a:t>
                      </a:r>
                    </a:p>
                  </a:txBody>
                  <a:tcPr marL="54864" marR="54864" marT="27432" marB="27432" anchor="ctr">
                    <a:lnL w="0">
                      <a:noFill/>
                    </a:lnL>
                    <a:lnR w="0">
                      <a:noFill/>
                    </a:lnR>
                    <a:lnT w="0">
                      <a:noFill/>
                    </a:lnT>
                    <a:lnB w="6350">
                      <a:solidFill>
                        <a:srgbClr val="DDE4E8"/>
                      </a:solidFill>
                    </a:lnB>
                    <a:solidFill>
                      <a:srgbClr val="FFFFFF"/>
                    </a:solidFill>
                  </a:tcPr>
                </a:tc>
              </a:tr>
              <a:tr h="251460">
                <a:tc>
                  <a:txBody>
                    <a:bodyPr wrap="square"/>
                    <a:lstStyle/>
                    <a:p>
                      <a:pPr algn="l"/>
                      <a:r>
                        <a:rPr sz="1050" b="0" i="0">
                          <a:solidFill>
                            <a:srgbClr val="15323F"/>
                          </a:solidFill>
                          <a:latin typeface="Calibri"/>
                        </a:rPr>
                        <a:t>Unpaired equivalent</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r"/>
                      <a:r>
                        <a:rPr sz="1050" b="0" i="0">
                          <a:solidFill>
                            <a:srgbClr val="15323F"/>
                          </a:solidFill>
                          <a:latin typeface="Calibri"/>
                        </a:rPr>
                        <a:t>0.0491</a:t>
                      </a:r>
                    </a:p>
                  </a:txBody>
                  <a:tcPr marL="54864" marR="54864" marT="27432" marB="27432" anchor="ctr">
                    <a:lnL w="0">
                      <a:noFill/>
                    </a:lnL>
                    <a:lnR w="0">
                      <a:noFill/>
                    </a:lnR>
                    <a:lnT w="0">
                      <a:noFill/>
                    </a:lnT>
                    <a:lnB w="6350">
                      <a:solidFill>
                        <a:srgbClr val="DDE4E8"/>
                      </a:solidFill>
                    </a:lnB>
                    <a:solidFill>
                      <a:srgbClr val="F4F7F8"/>
                    </a:solidFill>
                  </a:tcPr>
                </a:tc>
              </a:tr>
              <a:tr h="251460">
                <a:tc>
                  <a:txBody>
                    <a:bodyPr wrap="square"/>
                    <a:lstStyle/>
                    <a:p>
                      <a:pPr algn="l"/>
                      <a:r>
                        <a:rPr sz="1050" b="0" i="0">
                          <a:solidFill>
                            <a:srgbClr val="15323F"/>
                          </a:solidFill>
                          <a:latin typeface="Calibri"/>
                        </a:rPr>
                        <a:t>Scanning set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r"/>
                      <a:r>
                        <a:rPr sz="1050" b="0" i="0">
                          <a:solidFill>
                            <a:srgbClr val="15323F"/>
                          </a:solidFill>
                          <a:latin typeface="Calibri"/>
                        </a:rPr>
                        <a:t>0.0025–0.0036</a:t>
                      </a:r>
                    </a:p>
                  </a:txBody>
                  <a:tcPr marL="54864" marR="54864" marT="27432" marB="27432" anchor="ctr">
                    <a:lnL w="0">
                      <a:noFill/>
                    </a:lnL>
                    <a:lnR w="0">
                      <a:noFill/>
                    </a:lnR>
                    <a:lnT w="0">
                      <a:noFill/>
                    </a:lnT>
                    <a:lnB w="6350">
                      <a:solidFill>
                        <a:srgbClr val="DDE4E8"/>
                      </a:solidFill>
                    </a:lnB>
                    <a:solidFill>
                      <a:srgbClr val="FFFFFF"/>
                    </a:solidFill>
                  </a:tcPr>
                </a:tc>
              </a:tr>
              <a:tr h="251460">
                <a:tc>
                  <a:txBody>
                    <a:bodyPr wrap="square"/>
                    <a:lstStyle/>
                    <a:p>
                      <a:pPr algn="l"/>
                      <a:r>
                        <a:rPr sz="1050" b="0" i="0">
                          <a:solidFill>
                            <a:srgbClr val="15323F"/>
                          </a:solidFill>
                          <a:latin typeface="Calibri"/>
                        </a:rPr>
                        <a:t>Cell ICC · design effect · effective cells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r"/>
                      <a:r>
                        <a:rPr sz="1050" b="0" i="0">
                          <a:solidFill>
                            <a:srgbClr val="15323F"/>
                          </a:solidFill>
                          <a:latin typeface="Calibri"/>
                        </a:rPr>
                        <a:t>0.0625 · 33.79 · ≈1,416</a:t>
                      </a:r>
                    </a:p>
                  </a:txBody>
                  <a:tcPr marL="54864" marR="54864" marT="27432" marB="27432" anchor="ctr">
                    <a:lnL w="0">
                      <a:noFill/>
                    </a:lnL>
                    <a:lnR w="0">
                      <a:noFill/>
                    </a:lnR>
                    <a:lnT w="0">
                      <a:noFill/>
                    </a:lnT>
                    <a:lnB w="6350">
                      <a:solidFill>
                        <a:srgbClr val="DDE4E8"/>
                      </a:solidFill>
                    </a:lnB>
                    <a:solidFill>
                      <a:srgbClr val="F4F7F8"/>
                    </a:solidFill>
                  </a:tcPr>
                </a:tc>
              </a:tr>
            </a:tbl>
          </a:graphicData>
        </a:graphic>
      </p:graphicFrame>
      <p:sp>
        <p:nvSpPr>
          <p:cNvPr id="71" name="commitment"/>
          <p:cNvSpPr txBox="1"/>
          <p:nvPr/>
        </p:nvSpPr>
        <p:spPr>
          <a:xfrm>
            <a:off x="6903720" y="4786883"/>
            <a:ext cx="4739335" cy="868680"/>
          </a:xfrm>
          <a:prstGeom prst="rect">
            <a:avLst/>
          </a:prstGeom>
          <a:noFill/>
        </p:spPr>
        <p:txBody>
          <a:bodyPr wrap="square" lIns="0" rIns="0" tIns="0" bIns="0" anchor="t">
            <a:spAutoFit/>
          </a:bodyPr>
          <a:lstStyle/>
          <a:p>
            <a:pPr algn="l"/>
            <a:r>
              <a:rPr sz="1050" b="0" i="0">
                <a:solidFill>
                  <a:srgbClr val="15323F"/>
                </a:solidFill>
                <a:latin typeface="Calibri"/>
              </a:rPr>
              <a:t>Committed in advance: a result below 0.0123 on that comparison is reported as indistinguishable, not as a win; new comparisons get their own estimate. Residue-set agreement between replicates is Jaccard 0.4965, so report uncertainty, not one confident answer.</a:t>
            </a:r>
          </a:p>
        </p:txBody>
      </p:sp>
      <p:sp>
        <p:nvSpPr>
          <p:cNvPr id="72" name="evidence label"/>
          <p:cNvSpPr txBox="1"/>
          <p:nvPr/>
        </p:nvSpPr>
        <p:spPr>
          <a:xfrm>
            <a:off x="548640" y="6126480"/>
            <a:ext cx="11094415" cy="310896"/>
          </a:xfrm>
          <a:prstGeom prst="rect">
            <a:avLst/>
          </a:prstGeom>
          <a:noFill/>
        </p:spPr>
        <p:txBody>
          <a:bodyPr wrap="square" lIns="0" rIns="0" tIns="0" bIns="0" anchor="t">
            <a:spAutoFit/>
          </a:bodyPr>
          <a:lstStyle/>
          <a:p>
            <a:pPr algn="l"/>
            <a:r>
              <a:rPr sz="1000" b="0" i="0">
                <a:solidFill>
                  <a:srgbClr val="5B7380"/>
                </a:solidFill>
                <a:latin typeface="Calibri"/>
              </a:rPr>
              <a:t>Measurement ceilings are an upper bound on what the labels can score, not a promise of achievable performance. All values: own measurements, scripts and JSON in the repository.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stCondLst>
                      <p:childTnLst>
                        <p:par>
                          <p:cTn id="4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6"/>
                                        </p:tgtEl>
                                        <p:attrNameLst>
                                          <p:attrName>style.visibility</p:attrName>
                                        </p:attrNameLst>
                                      </p:cBhvr>
                                      <p:to>
                                        <p:strVal val="visible"/>
                                      </p:to>
                                    </p:set>
                                    <p:animEffect transition="in" filter="fade">
                                      <p:cBhvr>
                                        <p:cTn id="5" dur="500"/>
                                        <p:tgtEl>
                                          <p:spTgt spid="36"/>
                                        </p:tgtEl>
                                      </p:cBhvr>
                                    </p:animEffect>
                                  </p:childTnLst>
                                </p:cTn>
                              </p:par>
                              <p:par>
                                <p:cTn id="6" presetID="10" presetClass="entr" presetSubtype="0" fill="hold" nodeType="withEffect">
                                  <p:stCondLst>
                                    <p:cond delay="0"/>
                                  </p:stCondLst>
                                  <p:childTnLst>
                                    <p:set>
                                      <p:cBhvr>
                                        <p:cTn id="7" dur="1" fill="hold">
                                          <p:stCondLst>
                                            <p:cond delay="0"/>
                                          </p:stCondLst>
                                        </p:cTn>
                                        <p:tgtEl>
                                          <p:spTgt spid="37"/>
                                        </p:tgtEl>
                                        <p:attrNameLst>
                                          <p:attrName>style.visibility</p:attrName>
                                        </p:attrNameLst>
                                      </p:cBhvr>
                                      <p:to>
                                        <p:strVal val="visible"/>
                                      </p:to>
                                    </p:set>
                                    <p:animEffect transition="in" filter="fade">
                                      <p:cBhvr>
                                        <p:cTn id="8" dur="500"/>
                                        <p:tgtEl>
                                          <p:spTgt spid="37"/>
                                        </p:tgtEl>
                                      </p:cBhvr>
                                    </p:animEffect>
                                  </p:childTnLst>
                                </p:cTn>
                              </p:par>
                              <p:par>
                                <p:cTn id="9" presetID="10"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par>
                                <p:cTn id="12" presetID="10" presetClass="entr" presetSubtype="0" fill="hold" nodeType="with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500"/>
                                        <p:tgtEl>
                                          <p:spTgt spid="39"/>
                                        </p:tgtEl>
                                      </p:cBhvr>
                                    </p:animEffect>
                                  </p:childTnLst>
                                </p:cTn>
                              </p:par>
                              <p:par>
                                <p:cTn id="15" presetID="10"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par>
                                <p:cTn id="18" presetID="10" presetClass="entr" presetSubtype="0" fill="hold" nodeType="with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500"/>
                                        <p:tgtEl>
                                          <p:spTgt spid="41"/>
                                        </p:tgtEl>
                                      </p:cBhvr>
                                    </p:animEffect>
                                  </p:childTnLst>
                                </p:cTn>
                              </p:par>
                              <p:par>
                                <p:cTn id="21" presetID="10" presetClass="entr" presetSubtype="0"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500"/>
                                        <p:tgtEl>
                                          <p:spTgt spid="42"/>
                                        </p:tgtEl>
                                      </p:cBhvr>
                                    </p:animEffect>
                                  </p:childTnLst>
                                </p:cTn>
                              </p:par>
                              <p:par>
                                <p:cTn id="24" presetID="10" presetClass="entr" presetSubtype="0" fill="hold" nodeType="with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500"/>
                                        <p:tgtEl>
                                          <p:spTgt spid="43"/>
                                        </p:tgtEl>
                                      </p:cBhvr>
                                    </p:animEffect>
                                  </p:childTnLst>
                                </p:cTn>
                              </p:par>
                              <p:par>
                                <p:cTn id="27" presetID="10"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500"/>
                                        <p:tgtEl>
                                          <p:spTgt spid="44"/>
                                        </p:tgtEl>
                                      </p:cBhvr>
                                    </p:animEffect>
                                  </p:childTnLst>
                                </p:cTn>
                              </p:par>
                              <p:par>
                                <p:cTn id="30" presetID="10" presetClass="entr" presetSubtype="0" fill="hold"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500"/>
                                        <p:tgtEl>
                                          <p:spTgt spid="46"/>
                                        </p:tgtEl>
                                      </p:cBhvr>
                                    </p:animEffect>
                                  </p:childTnLst>
                                </p:cTn>
                              </p:par>
                              <p:par>
                                <p:cTn id="36" presetID="10" presetClass="entr" presetSubtype="0" fill="hold" nodeType="with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500"/>
                                        <p:tgtEl>
                                          <p:spTgt spid="47"/>
                                        </p:tgtEl>
                                      </p:cBhvr>
                                    </p:animEffect>
                                  </p:childTnLst>
                                </p:cTn>
                              </p:par>
                              <p:par>
                                <p:cTn id="39" presetID="10" presetClass="entr" presetSubtype="0" fill="hold" nodeType="with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500"/>
                                        <p:tgtEl>
                                          <p:spTgt spid="48"/>
                                        </p:tgtEl>
                                      </p:cBhvr>
                                    </p:animEffect>
                                  </p:childTnLst>
                                </p:cTn>
                              </p:par>
                              <p:par>
                                <p:cTn id="42" presetID="10" presetClass="entr" presetSubtype="0" fill="hold" nodeType="with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fade">
                                      <p:cBhvr>
                                        <p:cTn id="44" dur="500"/>
                                        <p:tgtEl>
                                          <p:spTgt spid="49"/>
                                        </p:tgtEl>
                                      </p:cBhvr>
                                    </p:animEffect>
                                  </p:childTnLst>
                                </p:cTn>
                              </p:par>
                            </p:childTnLst>
                          </p:cTn>
                        </p:par>
                      </p:childTnLst>
                    </p:cTn>
                  </p:par>
                  <p:par>
                    <p:cTn id="80" fill="hold">
                      <p:stCondLst>
                        <p:cond delay="indefinite"/>
                      </p:stCondLst>
                      <p:childTnLst>
                        <p:par>
                          <p:cTn id="81"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fade">
                                      <p:cBhvr>
                                        <p:cTn id="49" dur="500"/>
                                        <p:tgtEl>
                                          <p:spTgt spid="50"/>
                                        </p:tgtEl>
                                      </p:cBhvr>
                                    </p:animEffect>
                                  </p:childTnLst>
                                </p:cTn>
                              </p:par>
                              <p:par>
                                <p:cTn id="50" presetID="10" presetClass="entr" presetSubtype="0" fill="hold" nodeType="with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00"/>
                                        <p:tgtEl>
                                          <p:spTgt spid="51"/>
                                        </p:tgtEl>
                                      </p:cBhvr>
                                    </p:animEffect>
                                  </p:childTnLst>
                                </p:cTn>
                              </p:par>
                              <p:par>
                                <p:cTn id="53" presetID="10" presetClass="entr" presetSubtype="0" fill="hold" nodeType="with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500"/>
                                        <p:tgtEl>
                                          <p:spTgt spid="52"/>
                                        </p:tgtEl>
                                      </p:cBhvr>
                                    </p:animEffect>
                                  </p:childTnLst>
                                </p:cTn>
                              </p:par>
                              <p:par>
                                <p:cTn id="56" presetID="10" presetClass="entr" presetSubtype="0" fill="hold" nodeType="with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fade">
                                      <p:cBhvr>
                                        <p:cTn id="58" dur="500"/>
                                        <p:tgtEl>
                                          <p:spTgt spid="53"/>
                                        </p:tgtEl>
                                      </p:cBhvr>
                                    </p:animEffect>
                                  </p:childTnLst>
                                </p:cTn>
                              </p:par>
                              <p:par>
                                <p:cTn id="59" presetID="10" presetClass="entr" presetSubtype="0" fill="hold" nodeType="withEffect">
                                  <p:stCondLst>
                                    <p:cond delay="0"/>
                                  </p:stCondLst>
                                  <p:childTnLst>
                                    <p:set>
                                      <p:cBhvr>
                                        <p:cTn id="60" dur="1" fill="hold">
                                          <p:stCondLst>
                                            <p:cond delay="0"/>
                                          </p:stCondLst>
                                        </p:cTn>
                                        <p:tgtEl>
                                          <p:spTgt spid="54"/>
                                        </p:tgtEl>
                                        <p:attrNameLst>
                                          <p:attrName>style.visibility</p:attrName>
                                        </p:attrNameLst>
                                      </p:cBhvr>
                                      <p:to>
                                        <p:strVal val="visible"/>
                                      </p:to>
                                    </p:set>
                                    <p:animEffect transition="in" filter="fade">
                                      <p:cBhvr>
                                        <p:cTn id="61" dur="500"/>
                                        <p:tgtEl>
                                          <p:spTgt spid="54"/>
                                        </p:tgtEl>
                                      </p:cBhvr>
                                    </p:animEffect>
                                  </p:childTnLst>
                                </p:cTn>
                              </p:par>
                              <p:par>
                                <p:cTn id="62" presetID="10" presetClass="entr" presetSubtype="0" fill="hold" nodeType="withEffect">
                                  <p:stCondLst>
                                    <p:cond delay="0"/>
                                  </p:stCondLst>
                                  <p:childTnLst>
                                    <p:set>
                                      <p:cBhvr>
                                        <p:cTn id="63" dur="1" fill="hold">
                                          <p:stCondLst>
                                            <p:cond delay="0"/>
                                          </p:stCondLst>
                                        </p:cTn>
                                        <p:tgtEl>
                                          <p:spTgt spid="55"/>
                                        </p:tgtEl>
                                        <p:attrNameLst>
                                          <p:attrName>style.visibility</p:attrName>
                                        </p:attrNameLst>
                                      </p:cBhvr>
                                      <p:to>
                                        <p:strVal val="visible"/>
                                      </p:to>
                                    </p:set>
                                    <p:animEffect transition="in" filter="fade">
                                      <p:cBhvr>
                                        <p:cTn id="64" dur="500"/>
                                        <p:tgtEl>
                                          <p:spTgt spid="55"/>
                                        </p:tgtEl>
                                      </p:cBhvr>
                                    </p:animEffect>
                                  </p:childTnLst>
                                </p:cTn>
                              </p:par>
                              <p:par>
                                <p:cTn id="65" presetID="10" presetClass="entr" presetSubtype="0" fill="hold" nodeType="withEffect">
                                  <p:stCondLst>
                                    <p:cond delay="0"/>
                                  </p:stCondLst>
                                  <p:childTnLst>
                                    <p:set>
                                      <p:cBhvr>
                                        <p:cTn id="66" dur="1" fill="hold">
                                          <p:stCondLst>
                                            <p:cond delay="0"/>
                                          </p:stCondLst>
                                        </p:cTn>
                                        <p:tgtEl>
                                          <p:spTgt spid="56"/>
                                        </p:tgtEl>
                                        <p:attrNameLst>
                                          <p:attrName>style.visibility</p:attrName>
                                        </p:attrNameLst>
                                      </p:cBhvr>
                                      <p:to>
                                        <p:strVal val="visible"/>
                                      </p:to>
                                    </p:set>
                                    <p:animEffect transition="in" filter="fade">
                                      <p:cBhvr>
                                        <p:cTn id="67" dur="500"/>
                                        <p:tgtEl>
                                          <p:spTgt spid="56"/>
                                        </p:tgtEl>
                                      </p:cBhvr>
                                    </p:animEffect>
                                  </p:childTnLst>
                                </p:cTn>
                              </p:par>
                              <p:par>
                                <p:cTn id="68" presetID="10" presetClass="entr" presetSubtype="0" fill="hold" nodeType="withEffect">
                                  <p:stCondLst>
                                    <p:cond delay="0"/>
                                  </p:stCondLst>
                                  <p:childTnLst>
                                    <p:set>
                                      <p:cBhvr>
                                        <p:cTn id="69" dur="1" fill="hold">
                                          <p:stCondLst>
                                            <p:cond delay="0"/>
                                          </p:stCondLst>
                                        </p:cTn>
                                        <p:tgtEl>
                                          <p:spTgt spid="57"/>
                                        </p:tgtEl>
                                        <p:attrNameLst>
                                          <p:attrName>style.visibility</p:attrName>
                                        </p:attrNameLst>
                                      </p:cBhvr>
                                      <p:to>
                                        <p:strVal val="visible"/>
                                      </p:to>
                                    </p:set>
                                    <p:animEffect transition="in" filter="fade">
                                      <p:cBhvr>
                                        <p:cTn id="70" dur="500"/>
                                        <p:tgtEl>
                                          <p:spTgt spid="57"/>
                                        </p:tgtEl>
                                      </p:cBhvr>
                                    </p:animEffect>
                                  </p:childTnLst>
                                </p:cTn>
                              </p:par>
                              <p:par>
                                <p:cTn id="71" presetID="10" presetClass="entr" presetSubtype="0" fill="hold" nodeType="with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fade">
                                      <p:cBhvr>
                                        <p:cTn id="73" dur="500"/>
                                        <p:tgtEl>
                                          <p:spTgt spid="58"/>
                                        </p:tgtEl>
                                      </p:cBhvr>
                                    </p:animEffect>
                                  </p:childTnLst>
                                </p:cTn>
                              </p:par>
                              <p:par>
                                <p:cTn id="74" presetID="10" presetClass="entr" presetSubtype="0" fill="hold" nodeType="withEffect">
                                  <p:stCondLst>
                                    <p:cond delay="0"/>
                                  </p:stCondLst>
                                  <p:childTnLst>
                                    <p:set>
                                      <p:cBhvr>
                                        <p:cTn id="75" dur="1" fill="hold">
                                          <p:stCondLst>
                                            <p:cond delay="0"/>
                                          </p:stCondLst>
                                        </p:cTn>
                                        <p:tgtEl>
                                          <p:spTgt spid="59"/>
                                        </p:tgtEl>
                                        <p:attrNameLst>
                                          <p:attrName>style.visibility</p:attrName>
                                        </p:attrNameLst>
                                      </p:cBhvr>
                                      <p:to>
                                        <p:strVal val="visible"/>
                                      </p:to>
                                    </p:set>
                                    <p:animEffect transition="in" filter="fade">
                                      <p:cBhvr>
                                        <p:cTn id="76" dur="500"/>
                                        <p:tgtEl>
                                          <p:spTgt spid="59"/>
                                        </p:tgtEl>
                                      </p:cBhvr>
                                    </p:animEffect>
                                  </p:childTnLst>
                                </p:cTn>
                              </p:par>
                              <p:par>
                                <p:cTn id="77" presetID="10" presetClass="entr" presetSubtype="0" fill="hold" nodeType="withEffect">
                                  <p:stCondLst>
                                    <p:cond delay="0"/>
                                  </p:stCondLst>
                                  <p:childTnLst>
                                    <p:set>
                                      <p:cBhvr>
                                        <p:cTn id="78" dur="1" fill="hold">
                                          <p:stCondLst>
                                            <p:cond delay="0"/>
                                          </p:stCondLst>
                                        </p:cTn>
                                        <p:tgtEl>
                                          <p:spTgt spid="60"/>
                                        </p:tgtEl>
                                        <p:attrNameLst>
                                          <p:attrName>style.visibility</p:attrName>
                                        </p:attrNameLst>
                                      </p:cBhvr>
                                      <p:to>
                                        <p:strVal val="visible"/>
                                      </p:to>
                                    </p:set>
                                    <p:animEffect transition="in" filter="fade">
                                      <p:cBhvr>
                                        <p:cTn id="79" dur="500"/>
                                        <p:tgtEl>
                                          <p:spTgt spid="60"/>
                                        </p:tgtEl>
                                      </p:cBhvr>
                                    </p:animEffect>
                                  </p:childTnLst>
                                </p:cTn>
                              </p:par>
                            </p:childTnLst>
                          </p:cTn>
                        </p:par>
                      </p:childTnLst>
                    </p:cTn>
                  </p:par>
                  <p:par>
                    <p:cTn id="91" fill="hold">
                      <p:stCondLst>
                        <p:cond delay="indefinite"/>
                      </p:stCondLst>
                      <p:childTnLst>
                        <p:par>
                          <p:cTn id="92"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61"/>
                                        </p:tgtEl>
                                        <p:attrNameLst>
                                          <p:attrName>style.visibility</p:attrName>
                                        </p:attrNameLst>
                                      </p:cBhvr>
                                      <p:to>
                                        <p:strVal val="visible"/>
                                      </p:to>
                                    </p:set>
                                    <p:animEffect transition="in" filter="fade">
                                      <p:cBhvr>
                                        <p:cTn id="84" dur="500"/>
                                        <p:tgtEl>
                                          <p:spTgt spid="61"/>
                                        </p:tgtEl>
                                      </p:cBhvr>
                                    </p:animEffect>
                                  </p:childTnLst>
                                </p:cTn>
                              </p:par>
                              <p:par>
                                <p:cTn id="85" presetID="10" presetClass="entr" presetSubtype="0" fill="hold" nodeType="withEffect">
                                  <p:stCondLst>
                                    <p:cond delay="0"/>
                                  </p:stCondLst>
                                  <p:childTnLst>
                                    <p:set>
                                      <p:cBhvr>
                                        <p:cTn id="86" dur="1" fill="hold">
                                          <p:stCondLst>
                                            <p:cond delay="0"/>
                                          </p:stCondLst>
                                        </p:cTn>
                                        <p:tgtEl>
                                          <p:spTgt spid="62"/>
                                        </p:tgtEl>
                                        <p:attrNameLst>
                                          <p:attrName>style.visibility</p:attrName>
                                        </p:attrNameLst>
                                      </p:cBhvr>
                                      <p:to>
                                        <p:strVal val="visible"/>
                                      </p:to>
                                    </p:set>
                                    <p:animEffect transition="in" filter="fade">
                                      <p:cBhvr>
                                        <p:cTn id="87" dur="500"/>
                                        <p:tgtEl>
                                          <p:spTgt spid="62"/>
                                        </p:tgtEl>
                                      </p:cBhvr>
                                    </p:animEffect>
                                  </p:childTnLst>
                                </p:cTn>
                              </p:par>
                              <p:par>
                                <p:cTn id="88" presetID="10" presetClass="entr" presetSubtype="0" fill="hold" nodeType="withEffect">
                                  <p:stCondLst>
                                    <p:cond delay="0"/>
                                  </p:stCondLst>
                                  <p:childTnLst>
                                    <p:set>
                                      <p:cBhvr>
                                        <p:cTn id="89" dur="1" fill="hold">
                                          <p:stCondLst>
                                            <p:cond delay="0"/>
                                          </p:stCondLst>
                                        </p:cTn>
                                        <p:tgtEl>
                                          <p:spTgt spid="63"/>
                                        </p:tgtEl>
                                        <p:attrNameLst>
                                          <p:attrName>style.visibility</p:attrName>
                                        </p:attrNameLst>
                                      </p:cBhvr>
                                      <p:to>
                                        <p:strVal val="visible"/>
                                      </p:to>
                                    </p:set>
                                    <p:animEffect transition="in" filter="fade">
                                      <p:cBhvr>
                                        <p:cTn id="9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Data: seven sources, all pinned and checksummed, about 2.3 GB on disk</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18</a:t>
            </a:r>
          </a:p>
        </p:txBody>
      </p:sp>
      <p:graphicFrame>
        <p:nvGraphicFramePr>
          <p:cNvPr id="15" name="data sources"/>
          <p:cNvGraphicFramePr>
            <a:graphicFrameLocks noGrp="1"/>
          </p:cNvGraphicFramePr>
          <p:nvPr/>
        </p:nvGraphicFramePr>
        <p:xfrm>
          <a:off x="548640" y="1097280"/>
          <a:ext cx="11091672" cy="3550914"/>
        </p:xfrm>
        <a:graphic>
          <a:graphicData uri="http://schemas.openxmlformats.org/drawingml/2006/table">
            <a:tbl>
              <a:tblPr firstRow="0" bandRow="0">
                <a:tableStyleId>{2D5ABB26-0587-4C30-8999-92F81FD0307C}</a:tableStyleId>
              </a:tblPr>
              <a:tblGrid>
                <a:gridCol w="365760"/>
                <a:gridCol w="2834640"/>
                <a:gridCol w="2834640"/>
                <a:gridCol w="2148840"/>
                <a:gridCol w="2907792"/>
              </a:tblGrid>
              <a:tr h="274320">
                <a:tc>
                  <a:txBody>
                    <a:bodyPr wrap="square"/>
                    <a:lstStyle/>
                    <a:p>
                      <a:pPr algn="l"/>
                      <a:r>
                        <a:rPr sz="1150" b="1" i="0">
                          <a:solidFill>
                            <a:srgbClr val="FAFBFC"/>
                          </a:solidFill>
                          <a:latin typeface="Calibri"/>
                        </a:rPr>
                        <a:t>#</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Source</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Identifier pinned</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Licence</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50" b="1" i="0">
                          <a:solidFill>
                            <a:srgbClr val="FAFBFC"/>
                          </a:solidFill>
                          <a:latin typeface="Calibri"/>
                        </a:rPr>
                        <a:t>Role in the thesis</a:t>
                      </a:r>
                    </a:p>
                  </a:txBody>
                  <a:tcPr marL="54864" marR="54864" marT="27432" marB="27432" anchor="ctr">
                    <a:lnL w="0">
                      <a:noFill/>
                    </a:lnL>
                    <a:lnR w="0">
                      <a:noFill/>
                    </a:lnR>
                    <a:lnT w="0">
                      <a:noFill/>
                    </a:lnT>
                    <a:lnB w="6350">
                      <a:solidFill>
                        <a:srgbClr val="DDE4E8"/>
                      </a:solidFill>
                    </a:lnB>
                    <a:solidFill>
                      <a:srgbClr val="15323F"/>
                    </a:solidFill>
                  </a:tcPr>
                </a:tc>
              </a:tr>
              <a:tr h="441959">
                <a:tc>
                  <a:txBody>
                    <a:bodyPr wrap="square"/>
                    <a:lstStyle/>
                    <a:p>
                      <a:pPr algn="l"/>
                      <a:r>
                        <a:rPr sz="1150" b="0" i="0">
                          <a:solidFill>
                            <a:srgbClr val="15323F"/>
                          </a:solidFill>
                          <a:latin typeface="Calibri"/>
                        </a:rPr>
                        <a:t>1</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Zhang et al. 2023: scanning + saturation mutagenesis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Mendeley Data 10.17632/32h94v2yv2.2 (v2), all 5 files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CC BY 4.0</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primary labels: measured mutation effects</a:t>
                      </a:r>
                    </a:p>
                  </a:txBody>
                  <a:tcPr marL="54864" marR="54864" marT="27432" marB="27432" anchor="ctr">
                    <a:lnL w="0">
                      <a:noFill/>
                    </a:lnL>
                    <a:lnR w="0">
                      <a:noFill/>
                    </a:lnR>
                    <a:lnT w="0">
                      <a:noFill/>
                    </a:lnT>
                    <a:lnB w="6350">
                      <a:solidFill>
                        <a:srgbClr val="DDE4E8"/>
                      </a:solidFill>
                    </a:lnB>
                    <a:solidFill>
                      <a:srgbClr val="FFFFFF"/>
                    </a:solidFill>
                  </a:tcPr>
                </a:tc>
              </a:tr>
              <a:tr h="617219">
                <a:tc>
                  <a:txBody>
                    <a:bodyPr wrap="square"/>
                    <a:lstStyle/>
                    <a:p>
                      <a:pPr algn="l"/>
                      <a:r>
                        <a:rPr sz="1150" b="0" i="0">
                          <a:solidFill>
                            <a:srgbClr val="15323F"/>
                          </a:solidFill>
                          <a:latin typeface="Calibri"/>
                        </a:rPr>
                        <a:t>2</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Zhang et al. 2023: GPS peptidome PSI table</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NCBI GEO GSE240610</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GEO terms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peptide-level context, author SVM comparison; application domain (116,702 degron tiles)</a:t>
                      </a:r>
                    </a:p>
                  </a:txBody>
                  <a:tcPr marL="54864" marR="54864" marT="27432" marB="27432" anchor="ctr">
                    <a:lnL w="0">
                      <a:noFill/>
                    </a:lnL>
                    <a:lnR w="0">
                      <a:noFill/>
                    </a:lnR>
                    <a:lnT w="0">
                      <a:noFill/>
                    </a:lnT>
                    <a:lnB w="6350">
                      <a:solidFill>
                        <a:srgbClr val="DDE4E8"/>
                      </a:solidFill>
                    </a:lnB>
                    <a:solidFill>
                      <a:srgbClr val="F4F7F8"/>
                    </a:solidFill>
                  </a:tcPr>
                </a:tc>
              </a:tr>
              <a:tr h="617219">
                <a:tc>
                  <a:txBody>
                    <a:bodyPr wrap="square"/>
                    <a:lstStyle/>
                    <a:p>
                      <a:pPr algn="l"/>
                      <a:r>
                        <a:rPr sz="1150" b="0" i="0">
                          <a:solidFill>
                            <a:srgbClr val="15323F"/>
                          </a:solidFill>
                          <a:latin typeface="Calibri"/>
                        </a:rPr>
                        <a:t>3</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Voutsinos et al. 2026: tile library + PAP model</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GitHub KULL-Centre/_2025_Voutsinos_degron_cytosol @ 9b3eafa6</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MIT (code + data in repo)</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baseline model + benchmark population</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150" b="0" i="0">
                          <a:solidFill>
                            <a:srgbClr val="15323F"/>
                          </a:solidFill>
                          <a:latin typeface="Calibri"/>
                        </a:rPr>
                        <a:t>4</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MaveDB: 26 score sets, 9 genes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API, URNs recorded</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CC0</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intact-protein transfer check</a:t>
                      </a:r>
                    </a:p>
                  </a:txBody>
                  <a:tcPr marL="54864" marR="54864" marT="27432" marB="27432" anchor="ctr">
                    <a:lnL w="0">
                      <a:noFill/>
                    </a:lnL>
                    <a:lnR w="0">
                      <a:noFill/>
                    </a:lnR>
                    <a:lnT w="0">
                      <a:noFill/>
                    </a:lnT>
                    <a:lnB w="6350">
                      <a:solidFill>
                        <a:srgbClr val="DDE4E8"/>
                      </a:solidFill>
                    </a:lnB>
                    <a:solidFill>
                      <a:srgbClr val="F4F7F8"/>
                    </a:solidFill>
                  </a:tcPr>
                </a:tc>
              </a:tr>
              <a:tr h="441959">
                <a:tc>
                  <a:txBody>
                    <a:bodyPr wrap="square"/>
                    <a:lstStyle/>
                    <a:p>
                      <a:pPr algn="l"/>
                      <a:r>
                        <a:rPr sz="1150" b="0" i="0">
                          <a:solidFill>
                            <a:srgbClr val="15323F"/>
                          </a:solidFill>
                          <a:latin typeface="Calibri"/>
                        </a:rPr>
                        <a:t>5</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Larsen et al. 2025: transcription-factor tiles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GitHub KULL-Centre/_2025_Larsen_… @ v1.0</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MIT in repo; coverage of the data file awaiting author reply</a:t>
                      </a:r>
                    </a:p>
                  </a:txBody>
                  <a:tcPr marL="54864" marR="54864" marT="27432" marB="27432" anchor="ctr">
                    <a:lnL w="0">
                      <a:noFill/>
                    </a:lnL>
                    <a:lnR w="0">
                      <a:noFill/>
                    </a:lnR>
                    <a:lnT w="0">
                      <a:noFill/>
                    </a:lnT>
                    <a:lnB w="6350">
                      <a:solidFill>
                        <a:srgbClr val="DDE4E8"/>
                      </a:solidFill>
                    </a:lnB>
                    <a:solidFill>
                      <a:srgbClr val="FBF1D3"/>
                    </a:solidFill>
                  </a:tcPr>
                </a:tc>
                <a:tc>
                  <a:txBody>
                    <a:bodyPr wrap="square"/>
                    <a:lstStyle/>
                    <a:p>
                      <a:pPr algn="l"/>
                      <a:r>
                        <a:rPr sz="1150" b="0" i="0">
                          <a:solidFill>
                            <a:srgbClr val="15323F"/>
                          </a:solidFill>
                          <a:latin typeface="Calibri"/>
                        </a:rPr>
                        <a:t>cross-assay / cross-compartment test at tile level</a:t>
                      </a:r>
                    </a:p>
                  </a:txBody>
                  <a:tcPr marL="54864" marR="54864" marT="27432" marB="27432" anchor="ctr">
                    <a:lnL w="0">
                      <a:noFill/>
                    </a:lnL>
                    <a:lnR w="0">
                      <a:noFill/>
                    </a:lnR>
                    <a:lnT w="0">
                      <a:noFill/>
                    </a:lnT>
                    <a:lnB w="6350">
                      <a:solidFill>
                        <a:srgbClr val="DDE4E8"/>
                      </a:solidFill>
                    </a:lnB>
                    <a:solidFill>
                      <a:srgbClr val="FFFFFF"/>
                    </a:solidFill>
                  </a:tcPr>
                </a:tc>
              </a:tr>
              <a:tr h="441959">
                <a:tc>
                  <a:txBody>
                    <a:bodyPr wrap="square"/>
                    <a:lstStyle/>
                    <a:p>
                      <a:pPr algn="l"/>
                      <a:r>
                        <a:rPr sz="1150" b="0" i="0">
                          <a:solidFill>
                            <a:srgbClr val="15323F"/>
                          </a:solidFill>
                          <a:latin typeface="Calibri"/>
                        </a:rPr>
                        <a:t>6</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UniProtKB/Swiss-Prot human 2026_03; AlphaFold DB v6 (8 structures)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REST, snapshot pinned</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CC BY 4.0</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50" b="0" i="0">
                          <a:solidFill>
                            <a:srgbClr val="15323F"/>
                          </a:solidFill>
                          <a:latin typeface="Calibri"/>
                        </a:rPr>
                        <a:t>wild-type sequences; structural context</a:t>
                      </a:r>
                    </a:p>
                  </a:txBody>
                  <a:tcPr marL="54864" marR="54864" marT="27432" marB="27432" anchor="ctr">
                    <a:lnL w="0">
                      <a:noFill/>
                    </a:lnL>
                    <a:lnR w="0">
                      <a:noFill/>
                    </a:lnR>
                    <a:lnT w="0">
                      <a:noFill/>
                    </a:lnT>
                    <a:lnB w="6350">
                      <a:solidFill>
                        <a:srgbClr val="DDE4E8"/>
                      </a:solidFill>
                    </a:lnB>
                    <a:solidFill>
                      <a:srgbClr val="F4F7F8"/>
                    </a:solidFill>
                  </a:tcPr>
                </a:tc>
              </a:tr>
              <a:tr h="441959">
                <a:tc>
                  <a:txBody>
                    <a:bodyPr wrap="square"/>
                    <a:lstStyle/>
                    <a:p>
                      <a:pPr algn="l"/>
                      <a:r>
                        <a:rPr sz="1150" b="0" i="0">
                          <a:solidFill>
                            <a:srgbClr val="15323F"/>
                          </a:solidFill>
                          <a:latin typeface="Calibri"/>
                        </a:rPr>
                        <a:t>7</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ClinVar variant_summary: 2.56 M missense variants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NCBI FTP, file of 12 Oct 2026, SHA-256 recorded</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50" b="0" i="0">
                          <a:solidFill>
                            <a:srgbClr val="15323F"/>
                          </a:solidFill>
                          <a:latin typeface="Calibri"/>
                        </a:rPr>
                        <a:t>attribution required (PMID 29165669); not for diagnostic use</a:t>
                      </a:r>
                    </a:p>
                  </a:txBody>
                  <a:tcPr marL="54864" marR="54864" marT="27432" marB="27432" anchor="ctr">
                    <a:lnL w="0">
                      <a:noFill/>
                    </a:lnL>
                    <a:lnR w="0">
                      <a:noFill/>
                    </a:lnR>
                    <a:lnT w="0">
                      <a:noFill/>
                    </a:lnT>
                    <a:lnB w="6350">
                      <a:solidFill>
                        <a:srgbClr val="DDE4E8"/>
                      </a:solidFill>
                    </a:lnB>
                    <a:solidFill>
                      <a:srgbClr val="FBF1D3"/>
                    </a:solidFill>
                  </a:tcPr>
                </a:tc>
                <a:tc>
                  <a:txBody>
                    <a:bodyPr wrap="square"/>
                    <a:lstStyle/>
                    <a:p>
                      <a:pPr algn="l"/>
                      <a:r>
                        <a:rPr sz="1150" b="0" i="0">
                          <a:solidFill>
                            <a:srgbClr val="15323F"/>
                          </a:solidFill>
                          <a:latin typeface="Calibri"/>
                        </a:rPr>
                        <a:t>motivation only: region-level enrichment (slide 6); not a validation target</a:t>
                      </a:r>
                    </a:p>
                  </a:txBody>
                  <a:tcPr marL="54864" marR="54864" marT="27432" marB="27432" anchor="ctr">
                    <a:lnL w="0">
                      <a:noFill/>
                    </a:lnL>
                    <a:lnR w="0">
                      <a:noFill/>
                    </a:lnR>
                    <a:lnT w="0">
                      <a:noFill/>
                    </a:lnT>
                    <a:lnB w="6350">
                      <a:solidFill>
                        <a:srgbClr val="DDE4E8"/>
                      </a:solidFill>
                    </a:lnB>
                    <a:solidFill>
                      <a:srgbClr val="FBF1D3"/>
                    </a:solidFill>
                  </a:tcPr>
                </a:tc>
              </a:tr>
            </a:tbl>
          </a:graphicData>
        </a:graphic>
      </p:graphicFrame>
      <p:sp>
        <p:nvSpPr>
          <p:cNvPr id="16" name="integrity"/>
          <p:cNvSpPr/>
          <p:nvPr/>
        </p:nvSpPr>
        <p:spPr>
          <a:xfrm>
            <a:off x="548640" y="4785360"/>
            <a:ext cx="11094415" cy="566928"/>
          </a:xfrm>
          <a:prstGeom prst="roundRect">
            <a:avLst>
              <a:gd name="adj" fmla="val 16129"/>
            </a:avLst>
          </a:prstGeom>
          <a:solidFill>
            <a:srgbClr val="D9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68580" bIns="68580"/>
          <a:lstStyle/>
          <a:p>
            <a:pPr algn="l"/>
            <a:r>
              <a:rPr sz="1200" b="1" i="0">
                <a:solidFill>
                  <a:srgbClr val="1F7A6F"/>
                </a:solidFill>
                <a:latin typeface="Calibri"/>
              </a:rPr>
              <a:t>Integrity: </a:t>
            </a:r>
            <a:r>
              <a:rPr sz="1200" b="0" i="0">
                <a:solidFill>
                  <a:srgbClr val="15323F"/>
                </a:solidFill>
                <a:latin typeface="Calibri"/>
              </a:rPr>
              <a:t>SHA-256 recorded for every file; the Mendeley set matches the publisher's checksums. Download dates, pinned revisions, per-file provenance and a reprocessing log live in the repository's data README.</a:t>
            </a:r>
          </a:p>
        </p:txBody>
      </p:sp>
      <p:sp>
        <p:nvSpPr>
          <p:cNvPr id="17" name="evidence label"/>
          <p:cNvSpPr txBox="1"/>
          <p:nvPr/>
        </p:nvSpPr>
        <p:spPr>
          <a:xfrm>
            <a:off x="548640" y="5471160"/>
            <a:ext cx="11094415" cy="310896"/>
          </a:xfrm>
          <a:prstGeom prst="rect">
            <a:avLst/>
          </a:prstGeom>
          <a:noFill/>
        </p:spPr>
        <p:txBody>
          <a:bodyPr wrap="square" lIns="0" rIns="0" tIns="0" bIns="0" anchor="t">
            <a:spAutoFit/>
          </a:bodyPr>
          <a:lstStyle/>
          <a:p>
            <a:pPr algn="l"/>
            <a:r>
              <a:rPr sz="1000" b="0" i="0">
                <a:solidFill>
                  <a:srgbClr val="5B7380"/>
                </a:solidFill>
                <a:latin typeface="Calibri"/>
              </a:rPr>
              <a:t>Licences verified per source on 13–15 Oct 2026. Paper licence and data licence can differ: Larsen et al. is CC BY-NC-ND as a preprint, while its tile-level data file is MIT in the authors' GitHub repository.</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Labels are rebuilt from raw counts, and the rebuild passes a validation gate</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19</a:t>
            </a:r>
          </a:p>
        </p:txBody>
      </p:sp>
      <p:sp>
        <p:nvSpPr>
          <p:cNvPr id="15" name="funnel tier 1"/>
          <p:cNvSpPr/>
          <p:nvPr/>
        </p:nvSpPr>
        <p:spPr>
          <a:xfrm>
            <a:off x="594359" y="1097280"/>
            <a:ext cx="3474720" cy="512064"/>
          </a:xfrm>
          <a:prstGeom prst="rect">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i="0">
                <a:solidFill>
                  <a:srgbClr val="FAFBFC"/>
                </a:solidFill>
                <a:latin typeface="Calibri"/>
              </a:rPr>
              <a:t>raw counts: 6 bins × 5 conditions</a:t>
            </a:r>
          </a:p>
        </p:txBody>
      </p:sp>
      <p:sp>
        <p:nvSpPr>
          <p:cNvPr id="16" name="criterion 1"/>
          <p:cNvSpPr txBox="1"/>
          <p:nvPr/>
        </p:nvSpPr>
        <p:spPr>
          <a:xfrm>
            <a:off x="4251960" y="1115568"/>
            <a:ext cx="2240280" cy="493776"/>
          </a:xfrm>
          <a:prstGeom prst="rect">
            <a:avLst/>
          </a:prstGeom>
          <a:noFill/>
        </p:spPr>
        <p:txBody>
          <a:bodyPr wrap="square" lIns="0" rIns="0" tIns="0" bIns="0" anchor="ctr">
            <a:spAutoFit/>
          </a:bodyPr>
          <a:lstStyle/>
          <a:p>
            <a:pPr algn="l"/>
            <a:r>
              <a:rPr sz="1000" b="1" i="0">
                <a:solidFill>
                  <a:srgbClr val="1F7A6F"/>
                </a:solidFill>
                <a:latin typeface="Calibri"/>
              </a:rPr>
              <a:t>● gate: rebuilt PSI vs the authors' table, max deviation 5.0 × 10⁻⁷</a:t>
            </a:r>
          </a:p>
        </p:txBody>
      </p:sp>
      <p:sp>
        <p:nvSpPr>
          <p:cNvPr id="17" name="funnel tier 2"/>
          <p:cNvSpPr/>
          <p:nvPr/>
        </p:nvSpPr>
        <p:spPr>
          <a:xfrm>
            <a:off x="594359" y="1737360"/>
            <a:ext cx="3474720" cy="512064"/>
          </a:xfrm>
          <a:prstGeom prst="rect">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i="0">
                <a:solidFill>
                  <a:srgbClr val="FAFBFC"/>
                </a:solidFill>
                <a:latin typeface="Calibri"/>
              </a:rPr>
              <a:t>PSI rebuilt for 5 conditions</a:t>
            </a:r>
          </a:p>
        </p:txBody>
      </p:sp>
      <p:sp>
        <p:nvSpPr>
          <p:cNvPr id="18" name="criterion 2"/>
          <p:cNvSpPr txBox="1"/>
          <p:nvPr/>
        </p:nvSpPr>
        <p:spPr>
          <a:xfrm>
            <a:off x="4251960" y="1755648"/>
            <a:ext cx="2240280" cy="493776"/>
          </a:xfrm>
          <a:prstGeom prst="rect">
            <a:avLst/>
          </a:prstGeom>
          <a:noFill/>
        </p:spPr>
        <p:txBody>
          <a:bodyPr wrap="square" lIns="0" rIns="0" tIns="0" bIns="0" anchor="ctr">
            <a:spAutoFit/>
          </a:bodyPr>
          <a:lstStyle/>
          <a:p>
            <a:pPr algn="l"/>
            <a:r>
              <a:rPr sz="1000" b="0" i="0">
                <a:solidFill>
                  <a:srgbClr val="5B7380"/>
                </a:solidFill>
                <a:latin typeface="Calibri"/>
              </a:rPr>
              <a:t>261,868 / 261,999 / 264,036 / 134,608 / 134,563 ids</a:t>
            </a:r>
          </a:p>
        </p:txBody>
      </p:sp>
      <p:sp>
        <p:nvSpPr>
          <p:cNvPr id="19" name="funnel tier 3"/>
          <p:cNvSpPr/>
          <p:nvPr/>
        </p:nvSpPr>
        <p:spPr>
          <a:xfrm>
            <a:off x="868679" y="2377439"/>
            <a:ext cx="2926080" cy="512064"/>
          </a:xfrm>
          <a:prstGeom prst="rect">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i="0">
                <a:solidFill>
                  <a:srgbClr val="FAFBFC"/>
                </a:solidFill>
                <a:latin typeface="Calibri"/>
              </a:rPr>
              <a:t>8,831 scanning peptides</a:t>
            </a:r>
          </a:p>
        </p:txBody>
      </p:sp>
      <p:sp>
        <p:nvSpPr>
          <p:cNvPr id="20" name="criterion 3"/>
          <p:cNvSpPr txBox="1"/>
          <p:nvPr/>
        </p:nvSpPr>
        <p:spPr>
          <a:xfrm>
            <a:off x="4251960" y="2395727"/>
            <a:ext cx="2240280" cy="493776"/>
          </a:xfrm>
          <a:prstGeom prst="rect">
            <a:avLst/>
          </a:prstGeom>
          <a:noFill/>
        </p:spPr>
        <p:txBody>
          <a:bodyPr wrap="square" lIns="0" rIns="0" tIns="0" bIns="0" anchor="ctr">
            <a:spAutoFit/>
          </a:bodyPr>
          <a:lstStyle/>
          <a:p>
            <a:pPr algn="l"/>
            <a:r>
              <a:rPr sz="1000" b="0" i="0">
                <a:solidFill>
                  <a:srgbClr val="5B7380"/>
                </a:solidFill>
                <a:latin typeface="Calibri"/>
              </a:rPr>
              <a:t>all scanning constructs</a:t>
            </a:r>
          </a:p>
        </p:txBody>
      </p:sp>
      <p:sp>
        <p:nvSpPr>
          <p:cNvPr id="21" name="funnel tier 4"/>
          <p:cNvSpPr/>
          <p:nvPr/>
        </p:nvSpPr>
        <p:spPr>
          <a:xfrm>
            <a:off x="1097279" y="3017520"/>
            <a:ext cx="2468880" cy="512064"/>
          </a:xfrm>
          <a:prstGeom prst="rect">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i="0">
                <a:solidFill>
                  <a:srgbClr val="FAFBFC"/>
                </a:solidFill>
                <a:latin typeface="Calibri"/>
              </a:rPr>
              <a:t>3,439 degrons</a:t>
            </a:r>
          </a:p>
        </p:txBody>
      </p:sp>
      <p:sp>
        <p:nvSpPr>
          <p:cNvPr id="22" name="criterion 4"/>
          <p:cNvSpPr txBox="1"/>
          <p:nvPr/>
        </p:nvSpPr>
        <p:spPr>
          <a:xfrm>
            <a:off x="4251960" y="3035808"/>
            <a:ext cx="2240280" cy="493776"/>
          </a:xfrm>
          <a:prstGeom prst="rect">
            <a:avLst/>
          </a:prstGeom>
          <a:noFill/>
        </p:spPr>
        <p:txBody>
          <a:bodyPr wrap="square" lIns="0" rIns="0" tIns="0" bIns="0" anchor="ctr">
            <a:spAutoFit/>
          </a:bodyPr>
          <a:lstStyle/>
          <a:p>
            <a:pPr algn="l"/>
            <a:r>
              <a:rPr sz="1000" b="0" i="0">
                <a:solidFill>
                  <a:srgbClr val="5B7380"/>
                </a:solidFill>
                <a:latin typeface="Calibri"/>
              </a:rPr>
              <a:t>PSI_WT ≤ 3.0</a:t>
            </a:r>
          </a:p>
        </p:txBody>
      </p:sp>
      <p:sp>
        <p:nvSpPr>
          <p:cNvPr id="23" name="funnel tier 5"/>
          <p:cNvSpPr/>
          <p:nvPr/>
        </p:nvSpPr>
        <p:spPr>
          <a:xfrm>
            <a:off x="1280160" y="3657600"/>
            <a:ext cx="2103120" cy="51206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i="0">
                <a:solidFill>
                  <a:srgbClr val="FAFBFC"/>
                </a:solidFill>
                <a:latin typeface="Calibri"/>
              </a:rPr>
              <a:t>2,624 with a footprint</a:t>
            </a:r>
          </a:p>
        </p:txBody>
      </p:sp>
      <p:sp>
        <p:nvSpPr>
          <p:cNvPr id="24" name="criterion 5"/>
          <p:cNvSpPr txBox="1"/>
          <p:nvPr/>
        </p:nvSpPr>
        <p:spPr>
          <a:xfrm>
            <a:off x="4251960" y="3675887"/>
            <a:ext cx="2240280" cy="493776"/>
          </a:xfrm>
          <a:prstGeom prst="rect">
            <a:avLst/>
          </a:prstGeom>
          <a:noFill/>
        </p:spPr>
        <p:txBody>
          <a:bodyPr wrap="square" lIns="0" rIns="0" tIns="0" bIns="0" anchor="ctr">
            <a:spAutoFit/>
          </a:bodyPr>
          <a:lstStyle/>
          <a:p>
            <a:pPr algn="l"/>
            <a:r>
              <a:rPr sz="1000" b="0" i="0">
                <a:solidFill>
                  <a:srgbClr val="5B7380"/>
                </a:solidFill>
                <a:latin typeface="Calibri"/>
              </a:rPr>
              <a:t>measured footprint present</a:t>
            </a:r>
          </a:p>
        </p:txBody>
      </p:sp>
      <p:sp>
        <p:nvSpPr>
          <p:cNvPr id="25" name="funnel tier 6"/>
          <p:cNvSpPr/>
          <p:nvPr/>
        </p:nvSpPr>
        <p:spPr>
          <a:xfrm>
            <a:off x="1440179" y="4297680"/>
            <a:ext cx="1783080" cy="512064"/>
          </a:xfrm>
          <a:prstGeom prst="rect">
            <a:avLst/>
          </a:prstGeom>
          <a:solidFill>
            <a:srgbClr val="7A5B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i="0">
                <a:solidFill>
                  <a:srgbClr val="FAFBFC"/>
                </a:solidFill>
                <a:latin typeface="Calibri"/>
              </a:rPr>
              <a:t>235 saturation matrices</a:t>
            </a:r>
          </a:p>
        </p:txBody>
      </p:sp>
      <p:sp>
        <p:nvSpPr>
          <p:cNvPr id="26" name="criterion 6"/>
          <p:cNvSpPr txBox="1"/>
          <p:nvPr/>
        </p:nvSpPr>
        <p:spPr>
          <a:xfrm>
            <a:off x="4251960" y="4315968"/>
            <a:ext cx="2240280" cy="493776"/>
          </a:xfrm>
          <a:prstGeom prst="rect">
            <a:avLst/>
          </a:prstGeom>
          <a:noFill/>
        </p:spPr>
        <p:txBody>
          <a:bodyPr wrap="square" lIns="0" rIns="0" tIns="0" bIns="0" anchor="ctr">
            <a:spAutoFit/>
          </a:bodyPr>
          <a:lstStyle/>
          <a:p>
            <a:pPr algn="l"/>
            <a:r>
              <a:rPr sz="1000" b="0" i="0">
                <a:solidFill>
                  <a:srgbClr val="5B7380"/>
                </a:solidFill>
                <a:latin typeface="Calibri"/>
              </a:rPr>
              <a:t>full 28×20 designs</a:t>
            </a:r>
          </a:p>
        </p:txBody>
      </p:sp>
      <p:sp>
        <p:nvSpPr>
          <p:cNvPr id="27" name="funnel tier 7"/>
          <p:cNvSpPr/>
          <p:nvPr/>
        </p:nvSpPr>
        <p:spPr>
          <a:xfrm>
            <a:off x="1577339" y="4937759"/>
            <a:ext cx="1508760" cy="51206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i="0">
                <a:solidFill>
                  <a:srgbClr val="FAFBFC"/>
                </a:solidFill>
                <a:latin typeface="Calibri"/>
              </a:rPr>
              <a:t>91 degron matrices</a:t>
            </a:r>
          </a:p>
        </p:txBody>
      </p:sp>
      <p:sp>
        <p:nvSpPr>
          <p:cNvPr id="28" name="criterion 7"/>
          <p:cNvSpPr txBox="1"/>
          <p:nvPr/>
        </p:nvSpPr>
        <p:spPr>
          <a:xfrm>
            <a:off x="4251960" y="4956047"/>
            <a:ext cx="2240280" cy="493776"/>
          </a:xfrm>
          <a:prstGeom prst="rect">
            <a:avLst/>
          </a:prstGeom>
          <a:noFill/>
        </p:spPr>
        <p:txBody>
          <a:bodyPr wrap="square" lIns="0" rIns="0" tIns="0" bIns="0" anchor="ctr">
            <a:spAutoFit/>
          </a:bodyPr>
          <a:lstStyle/>
          <a:p>
            <a:pPr algn="l"/>
            <a:r>
              <a:rPr sz="1000" b="0" i="0">
                <a:solidFill>
                  <a:srgbClr val="5B7380"/>
                </a:solidFill>
                <a:latin typeface="Calibri"/>
              </a:rPr>
              <a:t>PSI_WT ≤ 3.0</a:t>
            </a:r>
          </a:p>
        </p:txBody>
      </p:sp>
      <p:sp>
        <p:nvSpPr>
          <p:cNvPr id="29" name="three tiers"/>
          <p:cNvSpPr txBox="1"/>
          <p:nvPr/>
        </p:nvSpPr>
        <p:spPr>
          <a:xfrm>
            <a:off x="548640" y="5623560"/>
            <a:ext cx="5943600" cy="457200"/>
          </a:xfrm>
          <a:prstGeom prst="rect">
            <a:avLst/>
          </a:prstGeom>
          <a:noFill/>
        </p:spPr>
        <p:txBody>
          <a:bodyPr wrap="square" lIns="0" rIns="0" tIns="0" bIns="0" anchor="t">
            <a:spAutoFit/>
          </a:bodyPr>
          <a:lstStyle/>
          <a:p>
            <a:pPr algn="l"/>
            <a:r>
              <a:rPr sz="1100" b="1" i="0">
                <a:solidFill>
                  <a:srgbClr val="15323F"/>
                </a:solidFill>
                <a:latin typeface="Courier New"/>
              </a:rPr>
              <a:t>raw/</a:t>
            </a:r>
            <a:r>
              <a:rPr sz="1100" b="0" i="0">
                <a:solidFill>
                  <a:srgbClr val="15323F"/>
                </a:solidFill>
                <a:latin typeface="Calibri"/>
              </a:rPr>
              <a:t> (never edited, checksummed) → </a:t>
            </a:r>
            <a:r>
              <a:rPr sz="1100" b="1" i="0">
                <a:solidFill>
                  <a:srgbClr val="15323F"/>
                </a:solidFill>
                <a:latin typeface="Courier New"/>
              </a:rPr>
              <a:t>interim/</a:t>
            </a:r>
            <a:r>
              <a:rPr sz="1100" b="0" i="0">
                <a:solidFill>
                  <a:srgbClr val="15323F"/>
                </a:solidFill>
                <a:latin typeface="Calibri"/>
              </a:rPr>
              <a:t> → </a:t>
            </a:r>
            <a:r>
              <a:rPr sz="1100" b="1" i="0">
                <a:solidFill>
                  <a:srgbClr val="15323F"/>
                </a:solidFill>
                <a:latin typeface="Courier New"/>
              </a:rPr>
              <a:t>processed/</a:t>
            </a:r>
            <a:r>
              <a:rPr sz="1100" b="0" i="0">
                <a:solidFill>
                  <a:srgbClr val="15323F"/>
                </a:solidFill>
                <a:latin typeface="Calibri"/>
              </a:rPr>
              <a:t>: every derived file regenerable by a script</a:t>
            </a:r>
          </a:p>
        </p:txBody>
      </p:sp>
      <p:graphicFrame>
        <p:nvGraphicFramePr>
          <p:cNvPr id="30" name="rebuild steps"/>
          <p:cNvGraphicFramePr>
            <a:graphicFrameLocks noGrp="1"/>
          </p:cNvGraphicFramePr>
          <p:nvPr/>
        </p:nvGraphicFramePr>
        <p:xfrm>
          <a:off x="6766560" y="1097280"/>
          <a:ext cx="4873752" cy="1676400"/>
        </p:xfrm>
        <a:graphic>
          <a:graphicData uri="http://schemas.openxmlformats.org/drawingml/2006/table">
            <a:tbl>
              <a:tblPr firstRow="0" bandRow="0">
                <a:tableStyleId>{2D5ABB26-0587-4C30-8999-92F81FD0307C}</a:tableStyleId>
              </a:tblPr>
              <a:tblGrid>
                <a:gridCol w="548640"/>
                <a:gridCol w="4325112"/>
              </a:tblGrid>
              <a:tr h="274320">
                <a:tc>
                  <a:txBody>
                    <a:bodyPr wrap="square"/>
                    <a:lstStyle/>
                    <a:p>
                      <a:pPr algn="l"/>
                      <a:r>
                        <a:rPr sz="1100" b="1" i="0">
                          <a:solidFill>
                            <a:srgbClr val="FAFBFC"/>
                          </a:solidFill>
                          <a:latin typeface="Calibri"/>
                        </a:rPr>
                        <a:t>Step</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00" b="1" i="0">
                          <a:solidFill>
                            <a:srgbClr val="FAFBFC"/>
                          </a:solidFill>
                          <a:latin typeface="Calibri"/>
                        </a:rPr>
                        <a:t>What was done</a:t>
                      </a:r>
                    </a:p>
                  </a:txBody>
                  <a:tcPr marL="54864" marR="54864" marT="27432" marB="27432" anchor="ctr">
                    <a:lnL w="0">
                      <a:noFill/>
                    </a:lnL>
                    <a:lnR w="0">
                      <a:noFill/>
                    </a:lnR>
                    <a:lnT w="0">
                      <a:noFill/>
                    </a:lnT>
                    <a:lnB w="6350">
                      <a:solidFill>
                        <a:srgbClr val="DDE4E8"/>
                      </a:solidFill>
                    </a:lnB>
                    <a:solidFill>
                      <a:srgbClr val="15323F"/>
                    </a:solidFill>
                  </a:tcPr>
                </a:tc>
              </a:tr>
              <a:tr h="274320">
                <a:tc>
                  <a:txBody>
                    <a:bodyPr wrap="square"/>
                    <a:lstStyle/>
                    <a:p>
                      <a:pPr algn="l"/>
                      <a:r>
                        <a:rPr sz="1100" b="1" i="0">
                          <a:solidFill>
                            <a:srgbClr val="15323F"/>
                          </a:solidFill>
                          <a:latin typeface="Calibri"/>
                        </a:rPr>
                        <a:t>1</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Read per-bin raw counts: one file per bin per condition, 6 bins</a:t>
                      </a:r>
                    </a:p>
                  </a:txBody>
                  <a:tcPr marL="54864" marR="54864" marT="27432" marB="27432" anchor="ctr">
                    <a:lnL w="0">
                      <a:noFill/>
                    </a:lnL>
                    <a:lnR w="0">
                      <a:noFill/>
                    </a:lnR>
                    <a:lnT w="0">
                      <a:noFill/>
                    </a:lnT>
                    <a:lnB w="6350">
                      <a:solidFill>
                        <a:srgbClr val="DDE4E8"/>
                      </a:solidFill>
                    </a:lnB>
                    <a:solidFill>
                      <a:srgbClr val="FFFFFF"/>
                    </a:solidFill>
                  </a:tcPr>
                </a:tc>
              </a:tr>
              <a:tr h="426720">
                <a:tc>
                  <a:txBody>
                    <a:bodyPr wrap="square"/>
                    <a:lstStyle/>
                    <a:p>
                      <a:pPr algn="l"/>
                      <a:r>
                        <a:rPr sz="1100" b="1" i="0">
                          <a:solidFill>
                            <a:srgbClr val="15323F"/>
                          </a:solidFill>
                          <a:latin typeface="Calibri"/>
                        </a:rPr>
                        <a:t>2</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Normalise: nb_i = b_i × factor_i, factors per condition with bin 1 as reference</a:t>
                      </a:r>
                    </a:p>
                  </a:txBody>
                  <a:tcPr marL="54864" marR="54864" marT="27432" marB="27432" anchor="ctr">
                    <a:lnL w="0">
                      <a:noFill/>
                    </a:lnL>
                    <a:lnR w="0">
                      <a:noFill/>
                    </a:lnR>
                    <a:lnT w="0">
                      <a:noFill/>
                    </a:lnT>
                    <a:lnB w="6350">
                      <a:solidFill>
                        <a:srgbClr val="DDE4E8"/>
                      </a:solidFill>
                    </a:lnB>
                    <a:solidFill>
                      <a:srgbClr val="F4F7F8"/>
                    </a:solidFill>
                  </a:tcPr>
                </a:tc>
              </a:tr>
              <a:tr h="274320">
                <a:tc>
                  <a:txBody>
                    <a:bodyPr wrap="square"/>
                    <a:lstStyle/>
                    <a:p>
                      <a:pPr algn="l"/>
                      <a:r>
                        <a:rPr sz="1100" b="1" i="0">
                          <a:solidFill>
                            <a:srgbClr val="15323F"/>
                          </a:solidFill>
                          <a:latin typeface="Calibri"/>
                        </a:rPr>
                        <a:t>3</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Compute PSI = Σ i·nb_i / Σ nb_i for every construct</a:t>
                      </a:r>
                    </a:p>
                  </a:txBody>
                  <a:tcPr marL="54864" marR="54864" marT="27432" marB="27432" anchor="ctr">
                    <a:lnL w="0">
                      <a:noFill/>
                    </a:lnL>
                    <a:lnR w="0">
                      <a:noFill/>
                    </a:lnR>
                    <a:lnT w="0">
                      <a:noFill/>
                    </a:lnT>
                    <a:lnB w="6350">
                      <a:solidFill>
                        <a:srgbClr val="DDE4E8"/>
                      </a:solidFill>
                    </a:lnB>
                    <a:solidFill>
                      <a:srgbClr val="FFFFFF"/>
                    </a:solidFill>
                  </a:tcPr>
                </a:tc>
              </a:tr>
              <a:tr h="426720">
                <a:tc>
                  <a:txBody>
                    <a:bodyPr wrap="square"/>
                    <a:lstStyle/>
                    <a:p>
                      <a:pPr algn="l"/>
                      <a:r>
                        <a:rPr sz="1100" b="1" i="0">
                          <a:solidFill>
                            <a:srgbClr val="15323F"/>
                          </a:solidFill>
                          <a:latin typeface="Calibri"/>
                        </a:rPr>
                        <a:t>4</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Validation gate: compare the rebuilt Replicate-1 PSI with the authors' table</a:t>
                      </a:r>
                    </a:p>
                  </a:txBody>
                  <a:tcPr marL="54864" marR="54864" marT="27432" marB="27432" anchor="ctr">
                    <a:lnL w="0">
                      <a:noFill/>
                    </a:lnL>
                    <a:lnR w="0">
                      <a:noFill/>
                    </a:lnR>
                    <a:lnT w="0">
                      <a:noFill/>
                    </a:lnT>
                    <a:lnB w="6350">
                      <a:solidFill>
                        <a:srgbClr val="DDE4E8"/>
                      </a:solidFill>
                    </a:lnB>
                    <a:solidFill>
                      <a:srgbClr val="F4F7F8"/>
                    </a:solidFill>
                  </a:tcPr>
                </a:tc>
              </a:tr>
            </a:tbl>
          </a:graphicData>
        </a:graphic>
      </p:graphicFrame>
      <p:sp>
        <p:nvSpPr>
          <p:cNvPr id="31" name="card: Gate result"/>
          <p:cNvSpPr/>
          <p:nvPr/>
        </p:nvSpPr>
        <p:spPr>
          <a:xfrm>
            <a:off x="6766560" y="2910840"/>
            <a:ext cx="4873752" cy="1097280"/>
          </a:xfrm>
          <a:prstGeom prst="roundRect">
            <a:avLst>
              <a:gd name="adj" fmla="val 8333"/>
            </a:avLst>
          </a:prstGeom>
          <a:solidFill>
            <a:srgbClr val="D9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2" name="card text: Gate result"/>
          <p:cNvSpPr txBox="1"/>
          <p:nvPr/>
        </p:nvSpPr>
        <p:spPr>
          <a:xfrm>
            <a:off x="6903720" y="3002280"/>
            <a:ext cx="4599432" cy="960120"/>
          </a:xfrm>
          <a:prstGeom prst="rect">
            <a:avLst/>
          </a:prstGeom>
          <a:noFill/>
        </p:spPr>
        <p:txBody>
          <a:bodyPr wrap="square" lIns="0" rIns="0" tIns="0" bIns="0" anchor="t">
            <a:spAutoFit/>
          </a:bodyPr>
          <a:lstStyle/>
          <a:p>
            <a:pPr algn="l"/>
            <a:r>
              <a:rPr sz="1200" b="1" i="0">
                <a:solidFill>
                  <a:srgbClr val="1F7A6F"/>
                </a:solidFill>
                <a:latin typeface="Calibri"/>
              </a:rPr>
              <a:t>Gate result</a:t>
            </a:r>
          </a:p>
          <a:p>
            <a:pPr algn="l">
              <a:spcBef>
                <a:spcPts val="300"/>
              </a:spcBef>
            </a:pPr>
            <a:r>
              <a:rPr sz="1100" b="0" i="0">
                <a:solidFill>
                  <a:srgbClr val="15323F"/>
                </a:solidFill>
                <a:latin typeface="Calibri"/>
              </a:rPr>
              <a:t>Maximum deviation 5.0 × 10⁻⁷ across 261,865 values: the reconstruction is correct, so the same code can build conditions the authors published no PSI table for.</a:t>
            </a:r>
          </a:p>
        </p:txBody>
      </p:sp>
      <p:sp>
        <p:nvSpPr>
          <p:cNvPr id="33" name="card: Why it matters"/>
          <p:cNvSpPr/>
          <p:nvPr/>
        </p:nvSpPr>
        <p:spPr>
          <a:xfrm>
            <a:off x="6766560" y="4099560"/>
            <a:ext cx="4873752" cy="1005840"/>
          </a:xfrm>
          <a:prstGeom prst="roundRect">
            <a:avLst>
              <a:gd name="adj" fmla="val 9090"/>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4" name="card text: Why it matters"/>
          <p:cNvSpPr txBox="1"/>
          <p:nvPr/>
        </p:nvSpPr>
        <p:spPr>
          <a:xfrm>
            <a:off x="6903720" y="4190999"/>
            <a:ext cx="4599432" cy="868680"/>
          </a:xfrm>
          <a:prstGeom prst="rect">
            <a:avLst/>
          </a:prstGeom>
          <a:noFill/>
        </p:spPr>
        <p:txBody>
          <a:bodyPr wrap="square" lIns="0" rIns="0" tIns="0" bIns="0" anchor="t">
            <a:spAutoFit/>
          </a:bodyPr>
          <a:lstStyle/>
          <a:p>
            <a:pPr algn="l"/>
            <a:r>
              <a:rPr sz="1200" b="1" i="0">
                <a:solidFill>
                  <a:srgbClr val="386FA4"/>
                </a:solidFill>
                <a:latin typeface="Calibri"/>
              </a:rPr>
              <a:t>Why it matters</a:t>
            </a:r>
          </a:p>
          <a:p>
            <a:pPr algn="l">
              <a:spcBef>
                <a:spcPts val="300"/>
              </a:spcBef>
            </a:pPr>
            <a:r>
              <a:rPr sz="1100" b="0" i="0">
                <a:solidFill>
                  <a:srgbClr val="15323F"/>
                </a:solidFill>
                <a:latin typeface="Calibri"/>
              </a:rPr>
              <a:t>Only Replicate 1 was released. Rebuilding gives all five conditions, including the second replicate, which makes a measured noise ceiling computable at all.</a:t>
            </a:r>
          </a:p>
        </p:txBody>
      </p:sp>
      <p:sp>
        <p:nvSpPr>
          <p:cNvPr id="35" name="card: Also found and corre"/>
          <p:cNvSpPr/>
          <p:nvPr/>
        </p:nvSpPr>
        <p:spPr>
          <a:xfrm>
            <a:off x="6766560" y="5196840"/>
            <a:ext cx="4873752" cy="914400"/>
          </a:xfrm>
          <a:prstGeom prst="roundRect">
            <a:avLst>
              <a:gd name="adj" fmla="val 10000"/>
            </a:avLst>
          </a:prstGeom>
          <a:solidFill>
            <a:srgbClr val="FBF1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6" name="card text: Also found and corre"/>
          <p:cNvSpPr txBox="1"/>
          <p:nvPr/>
        </p:nvSpPr>
        <p:spPr>
          <a:xfrm>
            <a:off x="6903720" y="5288280"/>
            <a:ext cx="4599432" cy="777240"/>
          </a:xfrm>
          <a:prstGeom prst="rect">
            <a:avLst/>
          </a:prstGeom>
          <a:noFill/>
        </p:spPr>
        <p:txBody>
          <a:bodyPr wrap="square" lIns="0" rIns="0" tIns="0" bIns="0" anchor="t">
            <a:spAutoFit/>
          </a:bodyPr>
          <a:lstStyle/>
          <a:p>
            <a:pPr algn="l"/>
            <a:r>
              <a:rPr sz="1200" b="1" i="0">
                <a:solidFill>
                  <a:srgbClr val="8A6A12"/>
                </a:solidFill>
                <a:latin typeface="Calibri"/>
              </a:rPr>
              <a:t>Also found and corrected</a:t>
            </a:r>
          </a:p>
          <a:p>
            <a:pPr algn="l">
              <a:spcBef>
                <a:spcPts val="300"/>
              </a:spcBef>
            </a:pPr>
            <a:r>
              <a:rPr sz="1100" b="0" i="0">
                <a:solidFill>
                  <a:srgbClr val="15323F"/>
                </a:solidFill>
                <a:latin typeface="Calibri"/>
              </a:rPr>
              <a:t>Three constructs mis-scored in the authors' table due to a header error: two with Sum = 0 / PSI = NA despite reads, one with PSI off by 0.62.</a:t>
            </a:r>
          </a:p>
        </p:txBody>
      </p:sp>
      <p:sp>
        <p:nvSpPr>
          <p:cNvPr id="37" name="evidence label"/>
          <p:cNvSpPr txBox="1"/>
          <p:nvPr/>
        </p:nvSpPr>
        <p:spPr>
          <a:xfrm>
            <a:off x="548640" y="6126480"/>
            <a:ext cx="11094415" cy="310896"/>
          </a:xfrm>
          <a:prstGeom prst="rect">
            <a:avLst/>
          </a:prstGeom>
          <a:noFill/>
        </p:spPr>
        <p:txBody>
          <a:bodyPr wrap="square" lIns="0" rIns="0" tIns="0" bIns="0" anchor="t">
            <a:spAutoFit/>
          </a:bodyPr>
          <a:lstStyle/>
          <a:p>
            <a:pPr algn="l"/>
            <a:r>
              <a:rPr sz="1000" b="0" i="0">
                <a:solidFill>
                  <a:srgbClr val="5B7380"/>
                </a:solidFill>
                <a:latin typeface="Calibri"/>
              </a:rPr>
              <a:t>Own measurement. Rebuild command, per-condition normalisation factors and the validation JSON are in the repository.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500"/>
                                        <p:tgtEl>
                                          <p:spTgt spid="15"/>
                                        </p:tgtEl>
                                      </p:cBhvr>
                                    </p:animEffect>
                                  </p:childTnLst>
                                </p:cTn>
                              </p:par>
                              <p:par>
                                <p:cTn id="6" presetID="10" presetClass="entr" presetSubtype="0" fill="hold" nodeType="withEffect">
                                  <p:stCondLst>
                                    <p:cond delay="0"/>
                                  </p:stCondLst>
                                  <p:childTnLst>
                                    <p:set>
                                      <p:cBhvr>
                                        <p:cTn id="7" dur="1" fill="hold">
                                          <p:stCondLst>
                                            <p:cond delay="0"/>
                                          </p:stCondLst>
                                        </p:cTn>
                                        <p:tgtEl>
                                          <p:spTgt spid="16"/>
                                        </p:tgtEl>
                                        <p:attrNameLst>
                                          <p:attrName>style.visibility</p:attrName>
                                        </p:attrNameLst>
                                      </p:cBhvr>
                                      <p:to>
                                        <p:strVal val="visible"/>
                                      </p:to>
                                    </p:set>
                                    <p:animEffect transition="in" filter="fade">
                                      <p:cBhvr>
                                        <p:cTn id="8" dur="500"/>
                                        <p:tgtEl>
                                          <p:spTgt spid="16"/>
                                        </p:tgtEl>
                                      </p:cBhvr>
                                    </p:animEffect>
                                  </p:childTnLst>
                                </p:cTn>
                              </p:par>
                              <p:par>
                                <p:cTn id="9" presetID="10"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par>
                                <p:cTn id="12" presetID="10"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par>
                                <p:cTn id="34" presetID="10" presetClass="entr" presetSubtype="0"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par>
                                <p:cTn id="43" presetID="10"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par>
                                <p:cTn id="46" presetID="10" presetClass="entr" presetSubtype="0" fill="hold"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500" b="1">
                <a:solidFill>
                  <a:srgbClr val="15323F"/>
                </a:solidFill>
                <a:latin typeface="Calibri"/>
              </a:rPr>
              <a:t>Two label sets, two roles: scanning for scale, saturation for the full matrix</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20</a:t>
            </a:r>
          </a:p>
        </p:txBody>
      </p:sp>
      <p:graphicFrame>
        <p:nvGraphicFramePr>
          <p:cNvPr id="15" name="label sets"/>
          <p:cNvGraphicFramePr>
            <a:graphicFrameLocks noGrp="1"/>
          </p:cNvGraphicFramePr>
          <p:nvPr/>
        </p:nvGraphicFramePr>
        <p:xfrm>
          <a:off x="548640" y="1097280"/>
          <a:ext cx="6858000" cy="3154675"/>
        </p:xfrm>
        <a:graphic>
          <a:graphicData uri="http://schemas.openxmlformats.org/drawingml/2006/table">
            <a:tbl>
              <a:tblPr firstRow="0" bandRow="0">
                <a:tableStyleId>{2D5ABB26-0587-4C30-8999-92F81FD0307C}</a:tableStyleId>
              </a:tblPr>
              <a:tblGrid>
                <a:gridCol w="2103120"/>
                <a:gridCol w="2286000"/>
                <a:gridCol w="2468880"/>
              </a:tblGrid>
              <a:tr h="274320">
                <a:tc>
                  <a:txBody>
                    <a:bodyPr wrap="square"/>
                    <a:lstStyle/>
                    <a:p>
                      <a:pPr algn="l"/>
                      <a:r>
                        <a:rPr sz="1050" b="1" i="0">
                          <a:solidFill>
                            <a:srgbClr val="FAFBFC"/>
                          </a:solidFill>
                          <a:latin typeface="Calibri"/>
                        </a:rPr>
                        <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050" b="1" i="0">
                          <a:solidFill>
                            <a:srgbClr val="FAFBFC"/>
                          </a:solidFill>
                          <a:latin typeface="Calibri"/>
                        </a:rPr>
                        <a:t>Scanning set</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050" b="1" i="0">
                          <a:solidFill>
                            <a:srgbClr val="FAFBFC"/>
                          </a:solidFill>
                          <a:latin typeface="Calibri"/>
                        </a:rPr>
                        <a:t>Saturation set</a:t>
                      </a:r>
                    </a:p>
                  </a:txBody>
                  <a:tcPr marL="54864" marR="54864" marT="27432" marB="27432" anchor="ctr">
                    <a:lnL w="0">
                      <a:noFill/>
                    </a:lnL>
                    <a:lnR w="0">
                      <a:noFill/>
                    </a:lnR>
                    <a:lnT w="0">
                      <a:noFill/>
                    </a:lnT>
                    <a:lnB w="6350">
                      <a:solidFill>
                        <a:srgbClr val="DDE4E8"/>
                      </a:solidFill>
                    </a:lnB>
                    <a:solidFill>
                      <a:srgbClr val="15323F"/>
                    </a:solidFill>
                  </a:tcPr>
                </a:tc>
              </a:tr>
              <a:tr h="411479">
                <a:tc>
                  <a:txBody>
                    <a:bodyPr wrap="square"/>
                    <a:lstStyle/>
                    <a:p>
                      <a:pPr algn="l"/>
                      <a:r>
                        <a:rPr sz="1050" b="1" i="0">
                          <a:solidFill>
                            <a:srgbClr val="15323F"/>
                          </a:solidFill>
                          <a:latin typeface="Calibri"/>
                        </a:rPr>
                        <a:t>Design</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0" i="0">
                          <a:solidFill>
                            <a:srgbClr val="15323F"/>
                          </a:solidFill>
                          <a:latin typeface="Calibri"/>
                        </a:rPr>
                        <a:t>one substitution per position, almost all →R (20 distinct WT→mut pairs)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0" i="0">
                          <a:solidFill>
                            <a:srgbClr val="15323F"/>
                          </a:solidFill>
                          <a:latin typeface="Calibri"/>
                        </a:rPr>
                        <a:t>all 20 amino acids at each of 28 positions: a full matrix</a:t>
                      </a:r>
                    </a:p>
                  </a:txBody>
                  <a:tcPr marL="54864" marR="54864" marT="27432" marB="27432" anchor="ctr">
                    <a:lnL w="0">
                      <a:noFill/>
                    </a:lnL>
                    <a:lnR w="0">
                      <a:noFill/>
                    </a:lnR>
                    <a:lnT w="0">
                      <a:noFill/>
                    </a:lnT>
                    <a:lnB w="6350">
                      <a:solidFill>
                        <a:srgbClr val="DDE4E8"/>
                      </a:solidFill>
                    </a:lnB>
                    <a:solidFill>
                      <a:srgbClr val="FFFFFF"/>
                    </a:solidFill>
                  </a:tcPr>
                </a:tc>
              </a:tr>
              <a:tr h="411479">
                <a:tc>
                  <a:txBody>
                    <a:bodyPr wrap="square"/>
                    <a:lstStyle/>
                    <a:p>
                      <a:pPr algn="l"/>
                      <a:r>
                        <a:rPr sz="1050" b="1" i="0">
                          <a:solidFill>
                            <a:srgbClr val="15323F"/>
                          </a:solidFill>
                          <a:latin typeface="Calibri"/>
                        </a:rPr>
                        <a:t>Raw size</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0" i="0">
                          <a:solidFill>
                            <a:srgbClr val="15323F"/>
                          </a:solidFill>
                          <a:latin typeface="Calibri"/>
                        </a:rPr>
                        <a:t>≈ 262,000 constructs × 2 replicates, 9,590 peptides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0" i="0">
                          <a:solidFill>
                            <a:srgbClr val="15323F"/>
                          </a:solidFill>
                          <a:latin typeface="Calibri"/>
                        </a:rPr>
                        <a:t>134,608 / 134,563 constructs, 249 peptides</a:t>
                      </a:r>
                    </a:p>
                  </a:txBody>
                  <a:tcPr marL="54864" marR="54864" marT="27432" marB="27432" anchor="ctr">
                    <a:lnL w="0">
                      <a:noFill/>
                    </a:lnL>
                    <a:lnR w="0">
                      <a:noFill/>
                    </a:lnR>
                    <a:lnT w="0">
                      <a:noFill/>
                    </a:lnT>
                    <a:lnB w="6350">
                      <a:solidFill>
                        <a:srgbClr val="DDE4E8"/>
                      </a:solidFill>
                    </a:lnB>
                    <a:solidFill>
                      <a:srgbClr val="F4F7F8"/>
                    </a:solidFill>
                  </a:tcPr>
                </a:tc>
              </a:tr>
              <a:tr h="274320">
                <a:tc>
                  <a:txBody>
                    <a:bodyPr wrap="square"/>
                    <a:lstStyle/>
                    <a:p>
                      <a:pPr algn="l"/>
                      <a:r>
                        <a:rPr sz="1050" b="1" i="0">
                          <a:solidFill>
                            <a:srgbClr val="15323F"/>
                          </a:solidFill>
                          <a:latin typeface="Calibri"/>
                        </a:rPr>
                        <a:t>Degron peptides (PSI_WT ≤ 3.0)</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1" i="0">
                          <a:solidFill>
                            <a:srgbClr val="15323F"/>
                          </a:solidFill>
                          <a:latin typeface="Calibri"/>
                        </a:rPr>
                        <a:t>2,994</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1" i="0">
                          <a:solidFill>
                            <a:srgbClr val="15323F"/>
                          </a:solidFill>
                          <a:latin typeface="Calibri"/>
                        </a:rPr>
                        <a:t>91</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050" b="1" i="0">
                          <a:solidFill>
                            <a:srgbClr val="15323F"/>
                          </a:solidFill>
                          <a:latin typeface="Calibri"/>
                        </a:rPr>
                        <a:t>Protein clusters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1" i="0">
                          <a:solidFill>
                            <a:srgbClr val="15323F"/>
                          </a:solidFill>
                          <a:latin typeface="Calibri"/>
                        </a:rPr>
                        <a:t>1,985</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1" i="0">
                          <a:solidFill>
                            <a:srgbClr val="15323F"/>
                          </a:solidFill>
                          <a:latin typeface="Calibri"/>
                        </a:rPr>
                        <a:t>89</a:t>
                      </a:r>
                    </a:p>
                  </a:txBody>
                  <a:tcPr marL="54864" marR="54864" marT="27432" marB="27432" anchor="ctr">
                    <a:lnL w="0">
                      <a:noFill/>
                    </a:lnL>
                    <a:lnR w="0">
                      <a:noFill/>
                    </a:lnR>
                    <a:lnT w="0">
                      <a:noFill/>
                    </a:lnT>
                    <a:lnB w="6350">
                      <a:solidFill>
                        <a:srgbClr val="DDE4E8"/>
                      </a:solidFill>
                    </a:lnB>
                    <a:solidFill>
                      <a:srgbClr val="F4F7F8"/>
                    </a:solidFill>
                  </a:tcPr>
                </a:tc>
              </a:tr>
              <a:tr h="274320">
                <a:tc>
                  <a:txBody>
                    <a:bodyPr wrap="square"/>
                    <a:lstStyle/>
                    <a:p>
                      <a:pPr algn="l"/>
                      <a:r>
                        <a:rPr sz="1050" b="1" i="0">
                          <a:solidFill>
                            <a:srgbClr val="15323F"/>
                          </a:solidFill>
                          <a:latin typeface="Calibri"/>
                        </a:rPr>
                        <a:t>Scored cells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1" i="0">
                          <a:solidFill>
                            <a:srgbClr val="15323F"/>
                          </a:solidFill>
                          <a:latin typeface="Calibri"/>
                        </a:rPr>
                        <a:t>83,446</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1" i="0">
                          <a:solidFill>
                            <a:srgbClr val="15323F"/>
                          </a:solidFill>
                          <a:latin typeface="Calibri"/>
                        </a:rPr>
                        <a:t>47,847</a:t>
                      </a:r>
                    </a:p>
                  </a:txBody>
                  <a:tcPr marL="54864" marR="54864" marT="27432" marB="27432" anchor="ctr">
                    <a:lnL w="0">
                      <a:noFill/>
                    </a:lnL>
                    <a:lnR w="0">
                      <a:noFill/>
                    </a:lnR>
                    <a:lnT w="0">
                      <a:noFill/>
                    </a:lnT>
                    <a:lnB w="6350">
                      <a:solidFill>
                        <a:srgbClr val="DDE4E8"/>
                      </a:solidFill>
                    </a:lnB>
                    <a:solidFill>
                      <a:srgbClr val="FFFFFF"/>
                    </a:solidFill>
                  </a:tcPr>
                </a:tc>
              </a:tr>
              <a:tr h="411479">
                <a:tc>
                  <a:txBody>
                    <a:bodyPr wrap="square"/>
                    <a:lstStyle/>
                    <a:p>
                      <a:pPr algn="l"/>
                      <a:r>
                        <a:rPr sz="1050" b="1" i="0">
                          <a:solidFill>
                            <a:srgbClr val="15323F"/>
                          </a:solidFill>
                          <a:latin typeface="Calibri"/>
                        </a:rPr>
                        <a:t>Measurement ceiling (cell-level AUROC)</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1" i="0">
                          <a:solidFill>
                            <a:srgbClr val="15323F"/>
                          </a:solidFill>
                          <a:latin typeface="Calibri"/>
                        </a:rPr>
                        <a:t>0.9458</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1" i="0">
                          <a:solidFill>
                            <a:srgbClr val="15323F"/>
                          </a:solidFill>
                          <a:latin typeface="Calibri"/>
                        </a:rPr>
                        <a:t>0.9519</a:t>
                      </a:r>
                    </a:p>
                  </a:txBody>
                  <a:tcPr marL="54864" marR="54864" marT="27432" marB="27432" anchor="ctr">
                    <a:lnL w="0">
                      <a:noFill/>
                    </a:lnL>
                    <a:lnR w="0">
                      <a:noFill/>
                    </a:lnR>
                    <a:lnT w="0">
                      <a:noFill/>
                    </a:lnT>
                    <a:lnB w="6350">
                      <a:solidFill>
                        <a:srgbClr val="DDE4E8"/>
                      </a:solidFill>
                    </a:lnB>
                    <a:solidFill>
                      <a:srgbClr val="F4F7F8"/>
                    </a:solidFill>
                  </a:tcPr>
                </a:tc>
              </a:tr>
              <a:tr h="411479">
                <a:tc>
                  <a:txBody>
                    <a:bodyPr wrap="square"/>
                    <a:lstStyle/>
                    <a:p>
                      <a:pPr algn="l"/>
                      <a:r>
                        <a:rPr sz="1050" b="1" i="0">
                          <a:solidFill>
                            <a:srgbClr val="15323F"/>
                          </a:solidFill>
                          <a:latin typeface="Calibri"/>
                        </a:rPr>
                        <a:t>Replicate agreement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0" i="0">
                          <a:solidFill>
                            <a:srgbClr val="15323F"/>
                          </a:solidFill>
                          <a:latin typeface="Calibri"/>
                        </a:rPr>
                        <a:t>residue-set Jaccard 0.4965</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50" b="0" i="0">
                          <a:solidFill>
                            <a:srgbClr val="15323F"/>
                          </a:solidFill>
                          <a:latin typeface="Calibri"/>
                        </a:rPr>
                        <a:t>PSI 0.9544, ΔPSI 0.8335; noise 16.7% of variance</a:t>
                      </a:r>
                    </a:p>
                  </a:txBody>
                  <a:tcPr marL="54864" marR="54864" marT="27432" marB="27432" anchor="ctr">
                    <a:lnL w="0">
                      <a:noFill/>
                    </a:lnL>
                    <a:lnR w="0">
                      <a:noFill/>
                    </a:lnR>
                    <a:lnT w="0">
                      <a:noFill/>
                    </a:lnT>
                    <a:lnB w="6350">
                      <a:solidFill>
                        <a:srgbClr val="DDE4E8"/>
                      </a:solidFill>
                    </a:lnB>
                    <a:solidFill>
                      <a:srgbClr val="FFFFFF"/>
                    </a:solidFill>
                  </a:tcPr>
                </a:tc>
              </a:tr>
              <a:tr h="411479">
                <a:tc>
                  <a:txBody>
                    <a:bodyPr wrap="square"/>
                    <a:lstStyle/>
                    <a:p>
                      <a:pPr algn="l"/>
                      <a:r>
                        <a:rPr sz="1050" b="1" i="0">
                          <a:solidFill>
                            <a:srgbClr val="15323F"/>
                          </a:solidFill>
                          <a:latin typeface="Calibri"/>
                        </a:rPr>
                        <a:t>Role</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1" i="0">
                          <a:solidFill>
                            <a:srgbClr val="386FA4"/>
                          </a:solidFill>
                          <a:latin typeface="Calibri"/>
                        </a:rPr>
                        <a:t>sample size and the context axis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50" b="1" i="0">
                          <a:solidFill>
                            <a:srgbClr val="386FA4"/>
                          </a:solidFill>
                          <a:latin typeface="Calibri"/>
                        </a:rPr>
                        <a:t>the 19-substitution matrix, and confirmation across label sources</a:t>
                      </a:r>
                    </a:p>
                  </a:txBody>
                  <a:tcPr marL="54864" marR="54864" marT="27432" marB="27432" anchor="ctr">
                    <a:lnL w="0">
                      <a:noFill/>
                    </a:lnL>
                    <a:lnR w="0">
                      <a:noFill/>
                    </a:lnR>
                    <a:lnT w="0">
                      <a:noFill/>
                    </a:lnT>
                    <a:lnB w="6350">
                      <a:solidFill>
                        <a:srgbClr val="DDE4E8"/>
                      </a:solidFill>
                    </a:lnB>
                    <a:solidFill>
                      <a:srgbClr val="F4F7F8"/>
                    </a:solidFill>
                  </a:tcPr>
                </a:tc>
              </a:tr>
            </a:tbl>
          </a:graphicData>
        </a:graphic>
      </p:graphicFrame>
      <p:sp>
        <p:nvSpPr>
          <p:cNvPr id="16" name="records panel"/>
          <p:cNvSpPr/>
          <p:nvPr/>
        </p:nvSpPr>
        <p:spPr>
          <a:xfrm>
            <a:off x="7635240" y="1097280"/>
            <a:ext cx="4007815" cy="1600200"/>
          </a:xfrm>
          <a:prstGeom prst="roundRect">
            <a:avLst>
              <a:gd name="adj" fmla="val 5714"/>
            </a:avLst>
          </a:prstGeom>
          <a:solidFill>
            <a:srgbClr val="15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records"/>
          <p:cNvSpPr txBox="1"/>
          <p:nvPr/>
        </p:nvSpPr>
        <p:spPr>
          <a:xfrm>
            <a:off x="7772400" y="1161288"/>
            <a:ext cx="3733495" cy="1508760"/>
          </a:xfrm>
          <a:prstGeom prst="rect">
            <a:avLst/>
          </a:prstGeom>
          <a:noFill/>
        </p:spPr>
        <p:txBody>
          <a:bodyPr wrap="square" lIns="0" rIns="0" tIns="0" bIns="0" anchor="t">
            <a:spAutoFit/>
          </a:bodyPr>
          <a:lstStyle/>
          <a:p>
            <a:pPr algn="l"/>
            <a:r>
              <a:rPr sz="1050" b="1" i="0">
                <a:solidFill>
                  <a:srgbClr val="E9C46A"/>
                </a:solidFill>
                <a:latin typeface="Calibri"/>
              </a:rPr>
              <a:t>processed/psi-*.tsv: one row per construct</a:t>
            </a:r>
          </a:p>
          <a:p>
            <a:pPr algn="l">
              <a:spcBef>
                <a:spcPts val="300"/>
              </a:spcBef>
            </a:pPr>
            <a:r>
              <a:rPr sz="1000" b="0" i="0">
                <a:solidFill>
                  <a:srgbClr val="8FA3AD"/>
                </a:solidFill>
                <a:latin typeface="Courier New"/>
              </a:rPr>
              <a:t>id                            psi    sum</a:t>
            </a:r>
          </a:p>
          <a:p>
            <a:pPr algn="l">
              <a:spcBef>
                <a:spcPts val="200"/>
              </a:spcBef>
            </a:pPr>
            <a:r>
              <a:rPr sz="1000" b="0" i="0">
                <a:solidFill>
                  <a:srgbClr val="FAFBFC"/>
                </a:solidFill>
                <a:latin typeface="Courier New"/>
              </a:rPr>
              <a:t>A0A0B4J1Y8_IGLV9-49_1_mut24 1.884  364.9</a:t>
            </a:r>
          </a:p>
          <a:p>
            <a:pPr algn="l">
              <a:spcBef>
                <a:spcPts val="200"/>
              </a:spcBef>
            </a:pPr>
            <a:r>
              <a:rPr sz="1000" b="0" i="0">
                <a:solidFill>
                  <a:srgbClr val="FAFBFC"/>
                </a:solidFill>
                <a:latin typeface="Courier New"/>
              </a:rPr>
              <a:t>A0A0B4J1Y8_IGLV9-49_1_mut26 2.168  199.1</a:t>
            </a:r>
          </a:p>
          <a:p>
            <a:pPr algn="l">
              <a:spcBef>
                <a:spcPts val="200"/>
              </a:spcBef>
            </a:pPr>
            <a:r>
              <a:rPr sz="1000" b="0" i="0">
                <a:solidFill>
                  <a:srgbClr val="FAFBFC"/>
                </a:solidFill>
                <a:latin typeface="Courier New"/>
              </a:rPr>
              <a:t>A2RUQ5_C17orf102_2_mut10a   4.916  484.4</a:t>
            </a:r>
          </a:p>
          <a:p>
            <a:pPr algn="l">
              <a:spcBef>
                <a:spcPts val="300"/>
              </a:spcBef>
            </a:pPr>
            <a:r>
              <a:rPr sz="1000" b="0" i="0">
                <a:solidFill>
                  <a:srgbClr val="8FA3AD"/>
                </a:solidFill>
                <a:latin typeface="Calibri"/>
              </a:rPr>
              <a:t>psi: 1…6, low = degraded = strong degron</a:t>
            </a:r>
          </a:p>
        </p:txBody>
      </p:sp>
      <p:sp>
        <p:nvSpPr>
          <p:cNvPr id="18" name="split panel"/>
          <p:cNvSpPr/>
          <p:nvPr/>
        </p:nvSpPr>
        <p:spPr>
          <a:xfrm>
            <a:off x="7635240" y="2834640"/>
            <a:ext cx="4007815" cy="1828800"/>
          </a:xfrm>
          <a:prstGeom prst="roundRect">
            <a:avLst>
              <a:gd name="adj" fmla="val 5000"/>
            </a:avLst>
          </a:prstGeom>
          <a:solidFill>
            <a:srgbClr val="FFFFFF"/>
          </a:solidFill>
          <a:ln w="12700">
            <a:solidFill>
              <a:srgbClr val="DDE4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split title"/>
          <p:cNvSpPr txBox="1"/>
          <p:nvPr/>
        </p:nvSpPr>
        <p:spPr>
          <a:xfrm>
            <a:off x="7744967" y="2880360"/>
            <a:ext cx="3788359" cy="256032"/>
          </a:xfrm>
          <a:prstGeom prst="rect">
            <a:avLst/>
          </a:prstGeom>
          <a:noFill/>
        </p:spPr>
        <p:txBody>
          <a:bodyPr wrap="square" lIns="0" rIns="0" tIns="0" bIns="0" anchor="t">
            <a:spAutoFit/>
          </a:bodyPr>
          <a:lstStyle/>
          <a:p>
            <a:pPr algn="l"/>
            <a:r>
              <a:rPr sz="1150" b="1" i="0">
                <a:solidFill>
                  <a:srgbClr val="15323F"/>
                </a:solidFill>
                <a:latin typeface="Calibri"/>
              </a:rPr>
              <a:t>Split by protein cluster</a:t>
            </a:r>
          </a:p>
        </p:txBody>
      </p:sp>
      <p:sp>
        <p:nvSpPr>
          <p:cNvPr id="20" name="cluster 1"/>
          <p:cNvSpPr/>
          <p:nvPr/>
        </p:nvSpPr>
        <p:spPr>
          <a:xfrm>
            <a:off x="7818119" y="3246120"/>
            <a:ext cx="658368" cy="548640"/>
          </a:xfrm>
          <a:prstGeom prst="roundRect">
            <a:avLst>
              <a:gd name="adj" fmla="val 16666"/>
            </a:avLst>
          </a:prstGeom>
          <a:noFill/>
          <a:ln w="19050">
            <a:solidFill>
              <a:srgbClr val="386FA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peptide 1.1"/>
          <p:cNvSpPr/>
          <p:nvPr/>
        </p:nvSpPr>
        <p:spPr>
          <a:xfrm>
            <a:off x="7909559" y="3337560"/>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2" name="peptide 1.2"/>
          <p:cNvSpPr/>
          <p:nvPr/>
        </p:nvSpPr>
        <p:spPr>
          <a:xfrm>
            <a:off x="8165591" y="3337560"/>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3" name="peptide 1.3"/>
          <p:cNvSpPr/>
          <p:nvPr/>
        </p:nvSpPr>
        <p:spPr>
          <a:xfrm>
            <a:off x="7909559" y="3538728"/>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4" name="peptide 1.4"/>
          <p:cNvSpPr/>
          <p:nvPr/>
        </p:nvSpPr>
        <p:spPr>
          <a:xfrm>
            <a:off x="8165591" y="3538728"/>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5" name="cluster 2"/>
          <p:cNvSpPr/>
          <p:nvPr/>
        </p:nvSpPr>
        <p:spPr>
          <a:xfrm>
            <a:off x="8595360" y="3246120"/>
            <a:ext cx="658368" cy="548640"/>
          </a:xfrm>
          <a:prstGeom prst="roundRect">
            <a:avLst>
              <a:gd name="adj" fmla="val 16666"/>
            </a:avLst>
          </a:prstGeom>
          <a:noFill/>
          <a:ln w="19050">
            <a:solidFill>
              <a:srgbClr val="386FA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6" name="peptide 2.1"/>
          <p:cNvSpPr/>
          <p:nvPr/>
        </p:nvSpPr>
        <p:spPr>
          <a:xfrm>
            <a:off x="8686800" y="3337560"/>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7" name="peptide 2.2"/>
          <p:cNvSpPr/>
          <p:nvPr/>
        </p:nvSpPr>
        <p:spPr>
          <a:xfrm>
            <a:off x="8942832" y="3337560"/>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8" name="peptide 2.3"/>
          <p:cNvSpPr/>
          <p:nvPr/>
        </p:nvSpPr>
        <p:spPr>
          <a:xfrm>
            <a:off x="8686800" y="3538728"/>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9" name="peptide 2.4"/>
          <p:cNvSpPr/>
          <p:nvPr/>
        </p:nvSpPr>
        <p:spPr>
          <a:xfrm>
            <a:off x="8942832" y="3538728"/>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0" name="cluster 3"/>
          <p:cNvSpPr/>
          <p:nvPr/>
        </p:nvSpPr>
        <p:spPr>
          <a:xfrm>
            <a:off x="7818119" y="3931920"/>
            <a:ext cx="658368" cy="548640"/>
          </a:xfrm>
          <a:prstGeom prst="roundRect">
            <a:avLst>
              <a:gd name="adj" fmla="val 16666"/>
            </a:avLst>
          </a:prstGeom>
          <a:noFill/>
          <a:ln w="19050">
            <a:solidFill>
              <a:srgbClr val="386FA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1" name="peptide 3.1"/>
          <p:cNvSpPr/>
          <p:nvPr/>
        </p:nvSpPr>
        <p:spPr>
          <a:xfrm>
            <a:off x="7909559" y="4023359"/>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2" name="peptide 3.2"/>
          <p:cNvSpPr/>
          <p:nvPr/>
        </p:nvSpPr>
        <p:spPr>
          <a:xfrm>
            <a:off x="8165591" y="4023359"/>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3" name="peptide 3.3"/>
          <p:cNvSpPr/>
          <p:nvPr/>
        </p:nvSpPr>
        <p:spPr>
          <a:xfrm>
            <a:off x="7909559" y="4224527"/>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4" name="peptide 3.4"/>
          <p:cNvSpPr/>
          <p:nvPr/>
        </p:nvSpPr>
        <p:spPr>
          <a:xfrm>
            <a:off x="8165591" y="4224527"/>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5" name="cluster 4"/>
          <p:cNvSpPr/>
          <p:nvPr/>
        </p:nvSpPr>
        <p:spPr>
          <a:xfrm>
            <a:off x="8595360" y="3931920"/>
            <a:ext cx="658368" cy="548640"/>
          </a:xfrm>
          <a:prstGeom prst="roundRect">
            <a:avLst>
              <a:gd name="adj" fmla="val 16666"/>
            </a:avLst>
          </a:prstGeom>
          <a:noFill/>
          <a:ln w="19050">
            <a:solidFill>
              <a:srgbClr val="386FA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6" name="peptide 4.1"/>
          <p:cNvSpPr/>
          <p:nvPr/>
        </p:nvSpPr>
        <p:spPr>
          <a:xfrm>
            <a:off x="8686800" y="4023359"/>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7" name="peptide 4.2"/>
          <p:cNvSpPr/>
          <p:nvPr/>
        </p:nvSpPr>
        <p:spPr>
          <a:xfrm>
            <a:off x="8942832" y="4023359"/>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8" name="peptide 4.3"/>
          <p:cNvSpPr/>
          <p:nvPr/>
        </p:nvSpPr>
        <p:spPr>
          <a:xfrm>
            <a:off x="8686800" y="4224527"/>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9" name="peptide 4.4"/>
          <p:cNvSpPr/>
          <p:nvPr/>
        </p:nvSpPr>
        <p:spPr>
          <a:xfrm>
            <a:off x="8942832" y="4224527"/>
            <a:ext cx="155448" cy="155448"/>
          </a:xfrm>
          <a:prstGeom prst="ellipse">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0" name="cluster 5"/>
          <p:cNvSpPr/>
          <p:nvPr/>
        </p:nvSpPr>
        <p:spPr>
          <a:xfrm>
            <a:off x="9875520" y="3246120"/>
            <a:ext cx="658368" cy="548640"/>
          </a:xfrm>
          <a:prstGeom prst="roundRect">
            <a:avLst>
              <a:gd name="adj" fmla="val 16666"/>
            </a:avLst>
          </a:prstGeom>
          <a:noFill/>
          <a:ln w="19050">
            <a:solidFill>
              <a:srgbClr val="D149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1" name="peptide 5.1"/>
          <p:cNvSpPr/>
          <p:nvPr/>
        </p:nvSpPr>
        <p:spPr>
          <a:xfrm>
            <a:off x="9966960" y="3337560"/>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2" name="peptide 5.2"/>
          <p:cNvSpPr/>
          <p:nvPr/>
        </p:nvSpPr>
        <p:spPr>
          <a:xfrm>
            <a:off x="10222992" y="3337560"/>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3" name="peptide 5.3"/>
          <p:cNvSpPr/>
          <p:nvPr/>
        </p:nvSpPr>
        <p:spPr>
          <a:xfrm>
            <a:off x="9966960" y="3538728"/>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4" name="peptide 5.4"/>
          <p:cNvSpPr/>
          <p:nvPr/>
        </p:nvSpPr>
        <p:spPr>
          <a:xfrm>
            <a:off x="10222992" y="3538728"/>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5" name="cluster 6"/>
          <p:cNvSpPr/>
          <p:nvPr/>
        </p:nvSpPr>
        <p:spPr>
          <a:xfrm>
            <a:off x="9875520" y="3931920"/>
            <a:ext cx="658368" cy="548640"/>
          </a:xfrm>
          <a:prstGeom prst="roundRect">
            <a:avLst>
              <a:gd name="adj" fmla="val 16666"/>
            </a:avLst>
          </a:prstGeom>
          <a:noFill/>
          <a:ln w="19050">
            <a:solidFill>
              <a:srgbClr val="D149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6" name="peptide 6.1"/>
          <p:cNvSpPr/>
          <p:nvPr/>
        </p:nvSpPr>
        <p:spPr>
          <a:xfrm>
            <a:off x="9966960" y="4023359"/>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7" name="peptide 6.2"/>
          <p:cNvSpPr/>
          <p:nvPr/>
        </p:nvSpPr>
        <p:spPr>
          <a:xfrm>
            <a:off x="10222992" y="4023359"/>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8" name="peptide 6.3"/>
          <p:cNvSpPr/>
          <p:nvPr/>
        </p:nvSpPr>
        <p:spPr>
          <a:xfrm>
            <a:off x="9966960" y="4224527"/>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9" name="peptide 6.4"/>
          <p:cNvSpPr/>
          <p:nvPr/>
        </p:nvSpPr>
        <p:spPr>
          <a:xfrm>
            <a:off x="10222992" y="4224527"/>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cxnSp>
        <p:nvCxnSpPr>
          <p:cNvPr id="50" name="cut line"/>
          <p:cNvCxnSpPr/>
          <p:nvPr/>
        </p:nvCxnSpPr>
        <p:spPr>
          <a:xfrm>
            <a:off x="9555480" y="3154680"/>
            <a:ext cx="0" cy="1371600"/>
          </a:xfrm>
          <a:prstGeom prst="line">
            <a:avLst/>
          </a:prstGeom>
          <a:ln w="22225">
            <a:solidFill>
              <a:srgbClr val="15323F"/>
            </a:solidFill>
            <a:prstDash val="dash"/>
          </a:ln>
        </p:spPr>
        <p:style>
          <a:lnRef idx="2">
            <a:schemeClr val="accent1"/>
          </a:lnRef>
          <a:fillRef idx="0">
            <a:schemeClr val="accent1"/>
          </a:fillRef>
          <a:effectRef idx="1">
            <a:schemeClr val="accent1"/>
          </a:effectRef>
          <a:fontRef idx="minor">
            <a:schemeClr val="tx1"/>
          </a:fontRef>
        </p:style>
      </p:cxnSp>
      <p:sp>
        <p:nvSpPr>
          <p:cNvPr id="51" name="train label"/>
          <p:cNvSpPr txBox="1"/>
          <p:nvPr/>
        </p:nvSpPr>
        <p:spPr>
          <a:xfrm>
            <a:off x="7744967" y="4480560"/>
            <a:ext cx="1737360" cy="182880"/>
          </a:xfrm>
          <a:prstGeom prst="rect">
            <a:avLst/>
          </a:prstGeom>
          <a:noFill/>
        </p:spPr>
        <p:txBody>
          <a:bodyPr wrap="square" lIns="0" rIns="0" tIns="0" bIns="0" anchor="t">
            <a:spAutoFit/>
          </a:bodyPr>
          <a:lstStyle/>
          <a:p>
            <a:pPr algn="l"/>
            <a:r>
              <a:rPr sz="1000" b="1" i="0">
                <a:solidFill>
                  <a:srgbClr val="386FA4"/>
                </a:solidFill>
                <a:latin typeface="Calibri"/>
              </a:rPr>
              <a:t>train</a:t>
            </a:r>
          </a:p>
        </p:txBody>
      </p:sp>
      <p:sp>
        <p:nvSpPr>
          <p:cNvPr id="52" name="test label"/>
          <p:cNvSpPr txBox="1"/>
          <p:nvPr/>
        </p:nvSpPr>
        <p:spPr>
          <a:xfrm>
            <a:off x="9875520" y="4480560"/>
            <a:ext cx="1097280" cy="182880"/>
          </a:xfrm>
          <a:prstGeom prst="rect">
            <a:avLst/>
          </a:prstGeom>
          <a:noFill/>
        </p:spPr>
        <p:txBody>
          <a:bodyPr wrap="square" lIns="0" rIns="0" tIns="0" bIns="0" anchor="t">
            <a:spAutoFit/>
          </a:bodyPr>
          <a:lstStyle/>
          <a:p>
            <a:pPr algn="l"/>
            <a:r>
              <a:rPr sz="1000" b="1" i="0">
                <a:solidFill>
                  <a:srgbClr val="D1495B"/>
                </a:solidFill>
                <a:latin typeface="Calibri"/>
              </a:rPr>
              <a:t>test</a:t>
            </a:r>
          </a:p>
        </p:txBody>
      </p:sp>
      <p:sp>
        <p:nvSpPr>
          <p:cNvPr id="53" name="cut note"/>
          <p:cNvSpPr txBox="1"/>
          <p:nvPr/>
        </p:nvSpPr>
        <p:spPr>
          <a:xfrm>
            <a:off x="10561320" y="3200400"/>
            <a:ext cx="990295" cy="1371600"/>
          </a:xfrm>
          <a:prstGeom prst="rect">
            <a:avLst/>
          </a:prstGeom>
          <a:noFill/>
        </p:spPr>
        <p:txBody>
          <a:bodyPr wrap="square" lIns="0" rIns="0" tIns="0" bIns="0" anchor="t">
            <a:spAutoFit/>
          </a:bodyPr>
          <a:lstStyle/>
          <a:p>
            <a:pPr algn="l"/>
            <a:r>
              <a:rPr sz="1000" b="0" i="0">
                <a:solidFill>
                  <a:srgbClr val="5B7380"/>
                </a:solidFill>
                <a:latin typeface="Calibri"/>
              </a:rPr>
              <a:t>the cut runs around clusters, never through one</a:t>
            </a:r>
          </a:p>
        </p:txBody>
      </p:sp>
      <p:sp>
        <p:nvSpPr>
          <p:cNvPr id="54" name="card: Design consequence"/>
          <p:cNvSpPr/>
          <p:nvPr/>
        </p:nvSpPr>
        <p:spPr>
          <a:xfrm>
            <a:off x="548640" y="4389120"/>
            <a:ext cx="6858000" cy="1051560"/>
          </a:xfrm>
          <a:prstGeom prst="roundRect">
            <a:avLst>
              <a:gd name="adj" fmla="val 8695"/>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5" name="card text: Design consequence"/>
          <p:cNvSpPr txBox="1"/>
          <p:nvPr/>
        </p:nvSpPr>
        <p:spPr>
          <a:xfrm>
            <a:off x="685800" y="4480559"/>
            <a:ext cx="6583680" cy="914399"/>
          </a:xfrm>
          <a:prstGeom prst="rect">
            <a:avLst/>
          </a:prstGeom>
          <a:noFill/>
        </p:spPr>
        <p:txBody>
          <a:bodyPr wrap="square" lIns="0" rIns="0" tIns="0" bIns="0" anchor="t">
            <a:spAutoFit/>
          </a:bodyPr>
          <a:lstStyle/>
          <a:p>
            <a:pPr algn="l"/>
            <a:r>
              <a:rPr sz="1200" b="1" i="0">
                <a:solidFill>
                  <a:srgbClr val="386FA4"/>
                </a:solidFill>
                <a:latin typeface="Calibri"/>
              </a:rPr>
              <a:t>Design consequence</a:t>
            </a:r>
          </a:p>
          <a:p>
            <a:pPr algn="l">
              <a:spcBef>
                <a:spcPts val="200"/>
              </a:spcBef>
            </a:pPr>
            <a:r>
              <a:rPr sz="1100" b="0" i="0">
                <a:solidFill>
                  <a:srgbClr val="15323F"/>
                </a:solidFill>
                <a:latin typeface="Calibri"/>
              </a:rPr>
              <a:t>Learn the context axis on the scanning set, confirm the matrix on the saturation set. 61 of 89 saturation clusters also occur in the scanning set, so overlapping clusters are removed from training for every cross-source evaluation.</a:t>
            </a:r>
          </a:p>
        </p:txBody>
      </p:sp>
      <p:sp>
        <p:nvSpPr>
          <p:cNvPr id="56" name="split rules"/>
          <p:cNvSpPr txBox="1"/>
          <p:nvPr/>
        </p:nvSpPr>
        <p:spPr>
          <a:xfrm>
            <a:off x="7635240" y="4754880"/>
            <a:ext cx="4007815" cy="1325880"/>
          </a:xfrm>
          <a:prstGeom prst="rect">
            <a:avLst/>
          </a:prstGeom>
          <a:noFill/>
        </p:spPr>
        <p:txBody>
          <a:bodyPr wrap="square" lIns="0" rIns="0" tIns="0" bIns="0" anchor="t">
            <a:spAutoFit/>
          </a:bodyPr>
          <a:lstStyle/>
          <a:p>
            <a:pPr algn="l" marL="182880" indent="-182880">
              <a:spcBef>
                <a:spcPts val="100"/>
              </a:spcBef>
              <a:buClr>
                <a:srgbClr val="D1495B"/>
              </a:buClr>
              <a:buFont typeface="Arial"/>
              <a:buChar char="•"/>
            </a:pPr>
            <a:r>
              <a:rPr sz="1050" b="0" i="0">
                <a:solidFill>
                  <a:srgbClr val="15323F"/>
                </a:solidFill>
                <a:latin typeface="Calibri"/>
              </a:rPr>
              <a:t>MMseqs2, ≥30% identity, 80% coverage: 5,088 clusters over 6,573 proteins</a:t>
            </a:r>
          </a:p>
          <a:p>
            <a:pPr algn="l" marL="182880" indent="-182880">
              <a:spcBef>
                <a:spcPts val="100"/>
              </a:spcBef>
              <a:buClr>
                <a:srgbClr val="D1495B"/>
              </a:buClr>
              <a:buFont typeface="Arial"/>
              <a:buChar char="•"/>
            </a:pPr>
            <a:r>
              <a:rPr sz="1050" b="0" i="0">
                <a:solidFill>
                  <a:srgbClr val="15323F"/>
                </a:solidFill>
                <a:latin typeface="Calibri"/>
              </a:rPr>
              <a:t>labels are the mean of two replicates; every table reports the ceiling</a:t>
            </a:r>
          </a:p>
          <a:p>
            <a:pPr algn="l" marL="182880" indent="-182880">
              <a:spcBef>
                <a:spcPts val="100"/>
              </a:spcBef>
              <a:buClr>
                <a:srgbClr val="D1495B"/>
              </a:buClr>
              <a:buFont typeface="Arial"/>
              <a:buChar char="•"/>
            </a:pPr>
            <a:r>
              <a:rPr sz="1050" b="0" i="0">
                <a:solidFill>
                  <a:srgbClr val="15323F"/>
                </a:solidFill>
                <a:latin typeface="Calibri"/>
              </a:rPr>
              <a:t>130 peptides appear in both sets and go to the same side</a:t>
            </a:r>
          </a:p>
          <a:p>
            <a:pPr algn="l" marL="182880" indent="-182880">
              <a:spcBef>
                <a:spcPts val="100"/>
              </a:spcBef>
              <a:buClr>
                <a:srgbClr val="D1495B"/>
              </a:buClr>
              <a:buFont typeface="Arial"/>
              <a:buChar char="•"/>
            </a:pPr>
            <a:r>
              <a:rPr sz="1050" b="0" i="0">
                <a:solidFill>
                  <a:srgbClr val="15323F"/>
                </a:solidFill>
                <a:latin typeface="Calibri"/>
              </a:rPr>
              <a:t>BAG6-WT is a different condition, never pooled</a:t>
            </a:r>
          </a:p>
        </p:txBody>
      </p:sp>
      <p:sp>
        <p:nvSpPr>
          <p:cNvPr id="57" name="evidence label"/>
          <p:cNvSpPr txBox="1"/>
          <p:nvPr/>
        </p:nvSpPr>
        <p:spPr>
          <a:xfrm>
            <a:off x="548640" y="6126480"/>
            <a:ext cx="11094415" cy="310896"/>
          </a:xfrm>
          <a:prstGeom prst="rect">
            <a:avLst/>
          </a:prstGeom>
          <a:noFill/>
        </p:spPr>
        <p:txBody>
          <a:bodyPr wrap="square" lIns="0" rIns="0" tIns="0" bIns="0" anchor="t">
            <a:spAutoFit/>
          </a:bodyPr>
          <a:lstStyle/>
          <a:p>
            <a:pPr algn="l"/>
            <a:r>
              <a:rPr sz="1000" b="0" i="0">
                <a:solidFill>
                  <a:srgbClr val="5B7380"/>
                </a:solidFill>
                <a:latin typeface="Calibri"/>
              </a:rPr>
              <a:t>Own counts and measurements throughout. The protein cluster, not the peptide, is the unit of inference.</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Proposed approach: a numeric target and a weak-supervision question</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21</a:t>
            </a:r>
          </a:p>
        </p:txBody>
      </p:sp>
      <p:sp>
        <p:nvSpPr>
          <p:cNvPr id="15" name="workflow block 1"/>
          <p:cNvSpPr/>
          <p:nvPr/>
        </p:nvSpPr>
        <p:spPr>
          <a:xfrm>
            <a:off x="548640" y="1097280"/>
            <a:ext cx="2011680" cy="731520"/>
          </a:xfrm>
          <a:prstGeom prst="roundRect">
            <a:avLst>
              <a:gd name="adj" fmla="val 12500"/>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5323F"/>
                </a:solidFill>
                <a:latin typeface="Calibri"/>
              </a:rPr>
              <a:t>data sources + counts</a:t>
            </a:r>
          </a:p>
        </p:txBody>
      </p:sp>
      <p:sp>
        <p:nvSpPr>
          <p:cNvPr id="16" name="flow arrow 1"/>
          <p:cNvSpPr/>
          <p:nvPr/>
        </p:nvSpPr>
        <p:spPr>
          <a:xfrm>
            <a:off x="2578608" y="1371600"/>
            <a:ext cx="219456" cy="182880"/>
          </a:xfrm>
          <a:prstGeom prst="rightArrow">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workflow block 2"/>
          <p:cNvSpPr/>
          <p:nvPr/>
        </p:nvSpPr>
        <p:spPr>
          <a:xfrm>
            <a:off x="2816352" y="1097280"/>
            <a:ext cx="2011680" cy="731520"/>
          </a:xfrm>
          <a:prstGeom prst="roundRect">
            <a:avLst>
              <a:gd name="adj" fmla="val 12500"/>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5323F"/>
                </a:solidFill>
                <a:latin typeface="Calibri"/>
              </a:rPr>
              <a:t>filter, label, cluster split</a:t>
            </a:r>
          </a:p>
        </p:txBody>
      </p:sp>
      <p:sp>
        <p:nvSpPr>
          <p:cNvPr id="18" name="flow arrow 2"/>
          <p:cNvSpPr/>
          <p:nvPr/>
        </p:nvSpPr>
        <p:spPr>
          <a:xfrm>
            <a:off x="4846320" y="1371600"/>
            <a:ext cx="219456" cy="182880"/>
          </a:xfrm>
          <a:prstGeom prst="rightArrow">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workflow block 3"/>
          <p:cNvSpPr/>
          <p:nvPr/>
        </p:nvSpPr>
        <p:spPr>
          <a:xfrm>
            <a:off x="5084064" y="1097280"/>
            <a:ext cx="2011680" cy="731520"/>
          </a:xfrm>
          <a:prstGeom prst="roundRect">
            <a:avLst>
              <a:gd name="adj" fmla="val 12500"/>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5323F"/>
                </a:solidFill>
                <a:latin typeface="Calibri"/>
              </a:rPr>
              <a:t>representation</a:t>
            </a:r>
          </a:p>
        </p:txBody>
      </p:sp>
      <p:sp>
        <p:nvSpPr>
          <p:cNvPr id="20" name="flow arrow 3"/>
          <p:cNvSpPr/>
          <p:nvPr/>
        </p:nvSpPr>
        <p:spPr>
          <a:xfrm>
            <a:off x="7114031" y="1371600"/>
            <a:ext cx="219456" cy="182880"/>
          </a:xfrm>
          <a:prstGeom prst="rightArrow">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workflow block 4"/>
          <p:cNvSpPr/>
          <p:nvPr/>
        </p:nvSpPr>
        <p:spPr>
          <a:xfrm>
            <a:off x="7351775" y="1097280"/>
            <a:ext cx="2011680" cy="731520"/>
          </a:xfrm>
          <a:prstGeom prst="roundRect">
            <a:avLst>
              <a:gd name="adj" fmla="val 12500"/>
            </a:avLst>
          </a:prstGeom>
          <a:solidFill>
            <a:srgbClr val="FBF1D3"/>
          </a:solidFill>
          <a:ln w="12700">
            <a:solidFill>
              <a:srgbClr val="B08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5323F"/>
                </a:solidFill>
                <a:latin typeface="Calibri"/>
              </a:rPr>
              <a:t>model (3 variants)</a:t>
            </a:r>
          </a:p>
          <a:p>
            <a:pPr algn="ctr"/>
            <a:r>
              <a:rPr sz="1000" b="0" i="0">
                <a:solidFill>
                  <a:srgbClr val="8A6A12"/>
                </a:solidFill>
                <a:latin typeface="Calibri"/>
              </a:rPr>
              <a:t>[proposed]</a:t>
            </a:r>
          </a:p>
        </p:txBody>
      </p:sp>
      <p:sp>
        <p:nvSpPr>
          <p:cNvPr id="22" name="flow arrow 4"/>
          <p:cNvSpPr/>
          <p:nvPr/>
        </p:nvSpPr>
        <p:spPr>
          <a:xfrm>
            <a:off x="9381744" y="1371600"/>
            <a:ext cx="219456" cy="182880"/>
          </a:xfrm>
          <a:prstGeom prst="rightArrow">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3" name="workflow block 5"/>
          <p:cNvSpPr/>
          <p:nvPr/>
        </p:nvSpPr>
        <p:spPr>
          <a:xfrm>
            <a:off x="9619488" y="1097280"/>
            <a:ext cx="2011680" cy="731520"/>
          </a:xfrm>
          <a:prstGeom prst="roundRect">
            <a:avLst>
              <a:gd name="adj" fmla="val 12500"/>
            </a:avLst>
          </a:prstGeom>
          <a:solidFill>
            <a:srgbClr val="D9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5323F"/>
                </a:solidFill>
                <a:latin typeface="Calibri"/>
              </a:rPr>
              <a:t>evaluation + ceiling</a:t>
            </a:r>
          </a:p>
        </p:txBody>
      </p:sp>
      <p:sp>
        <p:nvSpPr>
          <p:cNvPr id="24" name="variant A"/>
          <p:cNvSpPr/>
          <p:nvPr/>
        </p:nvSpPr>
        <p:spPr>
          <a:xfrm>
            <a:off x="7443215" y="1901952"/>
            <a:ext cx="566928" cy="256032"/>
          </a:xfrm>
          <a:prstGeom prst="roundRect">
            <a:avLst>
              <a:gd name="adj" fmla="val 50000"/>
            </a:avLst>
          </a:prstGeom>
          <a:solidFill>
            <a:srgbClr val="FBF1D3"/>
          </a:solidFill>
          <a:ln w="12700">
            <a:solidFill>
              <a:srgbClr val="B08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5323F"/>
                </a:solidFill>
                <a:latin typeface="Calibri"/>
              </a:rPr>
              <a:t>A</a:t>
            </a:r>
          </a:p>
        </p:txBody>
      </p:sp>
      <p:sp>
        <p:nvSpPr>
          <p:cNvPr id="25" name="variant B"/>
          <p:cNvSpPr/>
          <p:nvPr/>
        </p:nvSpPr>
        <p:spPr>
          <a:xfrm>
            <a:off x="8083295" y="1901952"/>
            <a:ext cx="566928" cy="256032"/>
          </a:xfrm>
          <a:prstGeom prst="roundRect">
            <a:avLst>
              <a:gd name="adj" fmla="val 50000"/>
            </a:avLst>
          </a:prstGeom>
          <a:solidFill>
            <a:srgbClr val="FBF1D3"/>
          </a:solidFill>
          <a:ln w="12700">
            <a:solidFill>
              <a:srgbClr val="B08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5323F"/>
                </a:solidFill>
                <a:latin typeface="Calibri"/>
              </a:rPr>
              <a:t>B</a:t>
            </a:r>
          </a:p>
        </p:txBody>
      </p:sp>
      <p:sp>
        <p:nvSpPr>
          <p:cNvPr id="26" name="variant C"/>
          <p:cNvSpPr/>
          <p:nvPr/>
        </p:nvSpPr>
        <p:spPr>
          <a:xfrm>
            <a:off x="8723376" y="1901952"/>
            <a:ext cx="566928" cy="256032"/>
          </a:xfrm>
          <a:prstGeom prst="roundRect">
            <a:avLst>
              <a:gd name="adj" fmla="val 50000"/>
            </a:avLst>
          </a:prstGeom>
          <a:solidFill>
            <a:srgbClr val="FBF1D3"/>
          </a:solidFill>
          <a:ln w="12700">
            <a:solidFill>
              <a:srgbClr val="B08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5323F"/>
                </a:solidFill>
                <a:latin typeface="Calibri"/>
              </a:rPr>
              <a:t>C</a:t>
            </a:r>
          </a:p>
        </p:txBody>
      </p:sp>
      <p:graphicFrame>
        <p:nvGraphicFramePr>
          <p:cNvPr id="27" name="fixed"/>
          <p:cNvGraphicFramePr>
            <a:graphicFrameLocks noGrp="1"/>
          </p:cNvGraphicFramePr>
          <p:nvPr/>
        </p:nvGraphicFramePr>
        <p:xfrm>
          <a:off x="548640" y="2286000"/>
          <a:ext cx="5029200" cy="2956560"/>
        </p:xfrm>
        <a:graphic>
          <a:graphicData uri="http://schemas.openxmlformats.org/drawingml/2006/table">
            <a:tbl>
              <a:tblPr firstRow="0" bandRow="0">
                <a:tableStyleId>{2D5ABB26-0587-4C30-8999-92F81FD0307C}</a:tableStyleId>
              </a:tblPr>
              <a:tblGrid>
                <a:gridCol w="1508760"/>
                <a:gridCol w="3520440"/>
              </a:tblGrid>
              <a:tr h="274320">
                <a:tc>
                  <a:txBody>
                    <a:bodyPr wrap="square"/>
                    <a:lstStyle/>
                    <a:p>
                      <a:pPr algn="l"/>
                      <a:r>
                        <a:rPr sz="1100" b="1" i="0">
                          <a:solidFill>
                            <a:srgbClr val="FAFBFC"/>
                          </a:solidFill>
                          <a:latin typeface="Calibri"/>
                        </a:rPr>
                        <a:t>Fixed and measured</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00" b="1" i="0">
                          <a:solidFill>
                            <a:srgbClr val="FAFBFC"/>
                          </a:solidFill>
                          <a:latin typeface="Calibri"/>
                        </a:rPr>
                        <a:t>Decision</a:t>
                      </a:r>
                    </a:p>
                  </a:txBody>
                  <a:tcPr marL="54864" marR="54864" marT="27432" marB="27432" anchor="ctr">
                    <a:lnL w="0">
                      <a:noFill/>
                    </a:lnL>
                    <a:lnR w="0">
                      <a:noFill/>
                    </a:lnR>
                    <a:lnT w="0">
                      <a:noFill/>
                    </a:lnT>
                    <a:lnB w="6350">
                      <a:solidFill>
                        <a:srgbClr val="DDE4E8"/>
                      </a:solidFill>
                    </a:lnB>
                    <a:solidFill>
                      <a:srgbClr val="15323F"/>
                    </a:solidFill>
                  </a:tcPr>
                </a:tc>
              </a:tr>
              <a:tr h="274320">
                <a:tc>
                  <a:txBody>
                    <a:bodyPr wrap="square"/>
                    <a:lstStyle/>
                    <a:p>
                      <a:pPr algn="l"/>
                      <a:r>
                        <a:rPr sz="1100" b="1" i="0">
                          <a:solidFill>
                            <a:srgbClr val="15323F"/>
                          </a:solidFill>
                          <a:latin typeface="Calibri"/>
                        </a:rPr>
                        <a:t>Task</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residue-level effect: 28×20 matrix + per-position map</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100" b="1" i="0">
                          <a:solidFill>
                            <a:srgbClr val="15323F"/>
                          </a:solidFill>
                          <a:latin typeface="Calibri"/>
                        </a:rPr>
                        <a:t>Labels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measured ΔPSI, mean of two replicates; two sets, two roles</a:t>
                      </a:r>
                    </a:p>
                  </a:txBody>
                  <a:tcPr marL="54864" marR="54864" marT="27432" marB="27432" anchor="ctr">
                    <a:lnL w="0">
                      <a:noFill/>
                    </a:lnL>
                    <a:lnR w="0">
                      <a:noFill/>
                    </a:lnR>
                    <a:lnT w="0">
                      <a:noFill/>
                    </a:lnT>
                    <a:lnB w="6350">
                      <a:solidFill>
                        <a:srgbClr val="DDE4E8"/>
                      </a:solidFill>
                    </a:lnB>
                    <a:solidFill>
                      <a:srgbClr val="F4F7F8"/>
                    </a:solidFill>
                  </a:tcPr>
                </a:tc>
              </a:tr>
              <a:tr h="426720">
                <a:tc>
                  <a:txBody>
                    <a:bodyPr wrap="square"/>
                    <a:lstStyle/>
                    <a:p>
                      <a:pPr algn="l"/>
                      <a:r>
                        <a:rPr sz="1100" b="1" i="0">
                          <a:solidFill>
                            <a:srgbClr val="15323F"/>
                          </a:solidFill>
                          <a:latin typeface="Calibri"/>
                        </a:rPr>
                        <a:t>Primary metric</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cell-level AUROC (ceilings 0.9458 / 0.9519); secondary: position-level Spearman, precision@3</a:t>
                      </a:r>
                    </a:p>
                  </a:txBody>
                  <a:tcPr marL="54864" marR="54864" marT="27432" marB="27432" anchor="ctr">
                    <a:lnL w="0">
                      <a:noFill/>
                    </a:lnL>
                    <a:lnR w="0">
                      <a:noFill/>
                    </a:lnR>
                    <a:lnT w="0">
                      <a:noFill/>
                    </a:lnT>
                    <a:lnB w="6350">
                      <a:solidFill>
                        <a:srgbClr val="DDE4E8"/>
                      </a:solidFill>
                    </a:lnB>
                    <a:solidFill>
                      <a:srgbClr val="FFFFFF"/>
                    </a:solidFill>
                  </a:tcPr>
                </a:tc>
              </a:tr>
              <a:tr h="426720">
                <a:tc>
                  <a:txBody>
                    <a:bodyPr wrap="square"/>
                    <a:lstStyle/>
                    <a:p>
                      <a:pPr algn="l"/>
                      <a:r>
                        <a:rPr sz="1100" b="1" i="0">
                          <a:solidFill>
                            <a:srgbClr val="15323F"/>
                          </a:solidFill>
                          <a:latin typeface="Calibri"/>
                        </a:rPr>
                        <a:t>Split</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protein cluster, MMseqs2 ≥30% / 80%; overlapping clusters removed for cross-source tests</a:t>
                      </a:r>
                    </a:p>
                  </a:txBody>
                  <a:tcPr marL="54864" marR="54864" marT="27432" marB="27432" anchor="ctr">
                    <a:lnL w="0">
                      <a:noFill/>
                    </a:lnL>
                    <a:lnR w="0">
                      <a:noFill/>
                    </a:lnR>
                    <a:lnT w="0">
                      <a:noFill/>
                    </a:lnT>
                    <a:lnB w="6350">
                      <a:solidFill>
                        <a:srgbClr val="DDE4E8"/>
                      </a:solidFill>
                    </a:lnB>
                    <a:solidFill>
                      <a:srgbClr val="F4F7F8"/>
                    </a:solidFill>
                  </a:tcPr>
                </a:tc>
              </a:tr>
              <a:tr h="426720">
                <a:tc>
                  <a:txBody>
                    <a:bodyPr wrap="square"/>
                    <a:lstStyle/>
                    <a:p>
                      <a:pPr algn="l"/>
                      <a:r>
                        <a:rPr sz="1100" b="1" i="0">
                          <a:solidFill>
                            <a:srgbClr val="15323F"/>
                          </a:solidFill>
                          <a:latin typeface="Calibri"/>
                        </a:rPr>
                        <a:t>Baselines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composition-only 0.8393 · ΔPAP cnn2w1 0.7943 · ΔPAP cnn2w7 0.8357 · best model 0.8682 (scanning)</a:t>
                      </a:r>
                    </a:p>
                  </a:txBody>
                  <a:tcPr marL="54864" marR="54864" marT="27432" marB="27432" anchor="ctr">
                    <a:lnL w="0">
                      <a:noFill/>
                    </a:lnL>
                    <a:lnR w="0">
                      <a:noFill/>
                    </a:lnR>
                    <a:lnT w="0">
                      <a:noFill/>
                    </a:lnT>
                    <a:lnB w="6350">
                      <a:solidFill>
                        <a:srgbClr val="DDE4E8"/>
                      </a:solidFill>
                    </a:lnB>
                    <a:solidFill>
                      <a:srgbClr val="FFFFFF"/>
                    </a:solidFill>
                  </a:tcPr>
                </a:tc>
              </a:tr>
              <a:tr h="426720">
                <a:tc>
                  <a:txBody>
                    <a:bodyPr wrap="square"/>
                    <a:lstStyle/>
                    <a:p>
                      <a:pPr algn="l"/>
                      <a:r>
                        <a:rPr sz="1100" b="1" i="0">
                          <a:solidFill>
                            <a:srgbClr val="15323F"/>
                          </a:solidFill>
                          <a:latin typeface="Calibri"/>
                        </a:rPr>
                        <a:t>Detection threshold</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0.0123 (saturation, paired M3 − M0) · 0.0025–0.0036 (scanning)</a:t>
                      </a:r>
                    </a:p>
                  </a:txBody>
                  <a:tcPr marL="54864" marR="54864" marT="27432" marB="27432" anchor="ctr">
                    <a:lnL w="0">
                      <a:noFill/>
                    </a:lnL>
                    <a:lnR w="0">
                      <a:noFill/>
                    </a:lnR>
                    <a:lnT w="0">
                      <a:noFill/>
                    </a:lnT>
                    <a:lnB w="6350">
                      <a:solidFill>
                        <a:srgbClr val="DDE4E8"/>
                      </a:solidFill>
                    </a:lnB>
                    <a:solidFill>
                      <a:srgbClr val="F4F7F8"/>
                    </a:solidFill>
                  </a:tcPr>
                </a:tc>
              </a:tr>
              <a:tr h="426720">
                <a:tc>
                  <a:txBody>
                    <a:bodyPr wrap="square"/>
                    <a:lstStyle/>
                    <a:p>
                      <a:pPr algn="l"/>
                      <a:r>
                        <a:rPr sz="1100" b="1" i="0">
                          <a:solidFill>
                            <a:srgbClr val="15323F"/>
                          </a:solidFill>
                          <a:latin typeface="Calibri"/>
                        </a:rPr>
                        <a:t>Where information sits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±3 neighbourhood composition (80% of gain); absolute position ≈ 0</a:t>
                      </a:r>
                    </a:p>
                  </a:txBody>
                  <a:tcPr marL="54864" marR="54864" marT="27432" marB="27432" anchor="ctr">
                    <a:lnL w="0">
                      <a:noFill/>
                    </a:lnL>
                    <a:lnR w="0">
                      <a:noFill/>
                    </a:lnR>
                    <a:lnT w="0">
                      <a:noFill/>
                    </a:lnT>
                    <a:lnB w="6350">
                      <a:solidFill>
                        <a:srgbClr val="DDE4E8"/>
                      </a:solidFill>
                    </a:lnB>
                    <a:solidFill>
                      <a:srgbClr val="FFFFFF"/>
                    </a:solidFill>
                  </a:tcPr>
                </a:tc>
              </a:tr>
            </a:tbl>
          </a:graphicData>
        </a:graphic>
      </p:graphicFrame>
      <p:sp>
        <p:nvSpPr>
          <p:cNvPr id="28" name="target"/>
          <p:cNvSpPr/>
          <p:nvPr/>
        </p:nvSpPr>
        <p:spPr>
          <a:xfrm>
            <a:off x="5852160" y="2286000"/>
            <a:ext cx="5790895" cy="731520"/>
          </a:xfrm>
          <a:prstGeom prst="roundRect">
            <a:avLst>
              <a:gd name="adj" fmla="val 12500"/>
            </a:avLst>
          </a:prstGeom>
          <a:solidFill>
            <a:srgbClr val="F6DD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68580" bIns="68580"/>
          <a:lstStyle/>
          <a:p>
            <a:pPr algn="l"/>
            <a:r>
              <a:rPr sz="1200" b="1" i="0">
                <a:solidFill>
                  <a:srgbClr val="D1495B"/>
                </a:solidFill>
                <a:latin typeface="Calibri"/>
              </a:rPr>
              <a:t>Open, the architecture: </a:t>
            </a:r>
            <a:r>
              <a:rPr sz="1200" b="0" i="0">
                <a:solidFill>
                  <a:srgbClr val="15323F"/>
                </a:solidFill>
                <a:latin typeface="Calibri"/>
              </a:rPr>
              <a:t>beat 0.7693 cell-level AUROC on the substitution matrix. The current model is 0.0420 behind; the ceiling is 0.9519.</a:t>
            </a:r>
          </a:p>
        </p:txBody>
      </p:sp>
      <p:graphicFrame>
        <p:nvGraphicFramePr>
          <p:cNvPr id="29" name="variants"/>
          <p:cNvGraphicFramePr>
            <a:graphicFrameLocks noGrp="1"/>
          </p:cNvGraphicFramePr>
          <p:nvPr/>
        </p:nvGraphicFramePr>
        <p:xfrm>
          <a:off x="5852160" y="3108960"/>
          <a:ext cx="5790895" cy="1402080"/>
        </p:xfrm>
        <a:graphic>
          <a:graphicData uri="http://schemas.openxmlformats.org/drawingml/2006/table">
            <a:tbl>
              <a:tblPr firstRow="0" bandRow="0">
                <a:tableStyleId>{2D5ABB26-0587-4C30-8999-92F81FD0307C}</a:tableStyleId>
              </a:tblPr>
              <a:tblGrid>
                <a:gridCol w="640080"/>
                <a:gridCol w="4023360"/>
                <a:gridCol w="1127455"/>
              </a:tblGrid>
              <a:tr h="274320">
                <a:tc>
                  <a:txBody>
                    <a:bodyPr wrap="square"/>
                    <a:lstStyle/>
                    <a:p>
                      <a:pPr algn="l"/>
                      <a:r>
                        <a:rPr sz="1100" b="1" i="0">
                          <a:solidFill>
                            <a:srgbClr val="FAFBFC"/>
                          </a:solidFill>
                          <a:latin typeface="Calibri"/>
                        </a:rPr>
                        <a:t>Variant</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00" b="1" i="0">
                          <a:solidFill>
                            <a:srgbClr val="FAFBFC"/>
                          </a:solidFill>
                          <a:latin typeface="Calibri"/>
                        </a:rPr>
                        <a:t>Idea</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00" b="1" i="0">
                          <a:solidFill>
                            <a:srgbClr val="FAFBFC"/>
                          </a:solidFill>
                          <a:latin typeface="Calibri"/>
                        </a:rPr>
                        <a:t>Status</a:t>
                      </a:r>
                    </a:p>
                  </a:txBody>
                  <a:tcPr marL="54864" marR="54864" marT="27432" marB="27432" anchor="ctr">
                    <a:lnL w="0">
                      <a:noFill/>
                    </a:lnL>
                    <a:lnR w="0">
                      <a:noFill/>
                    </a:lnR>
                    <a:lnT w="0">
                      <a:noFill/>
                    </a:lnT>
                    <a:lnB w="6350">
                      <a:solidFill>
                        <a:srgbClr val="DDE4E8"/>
                      </a:solidFill>
                    </a:lnB>
                    <a:solidFill>
                      <a:srgbClr val="15323F"/>
                    </a:solidFill>
                  </a:tcPr>
                </a:tc>
              </a:tr>
              <a:tr h="426720">
                <a:tc>
                  <a:txBody>
                    <a:bodyPr wrap="square"/>
                    <a:lstStyle/>
                    <a:p>
                      <a:pPr algn="l"/>
                      <a:r>
                        <a:rPr sz="1100" b="1" i="0">
                          <a:solidFill>
                            <a:srgbClr val="15323F"/>
                          </a:solidFill>
                          <a:latin typeface="Calibri"/>
                        </a:rPr>
                        <a:t>A</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per-position head trained on cell-level labels: the standard choice, and the one to beat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to be run</a:t>
                      </a:r>
                    </a:p>
                  </a:txBody>
                  <a:tcPr marL="54864" marR="54864" marT="27432" marB="27432" anchor="ctr">
                    <a:lnL w="0">
                      <a:noFill/>
                    </a:lnL>
                    <a:lnR w="0">
                      <a:noFill/>
                    </a:lnR>
                    <a:lnT w="0">
                      <a:noFill/>
                    </a:lnT>
                    <a:lnB w="6350">
                      <a:solidFill>
                        <a:srgbClr val="DDE4E8"/>
                      </a:solidFill>
                    </a:lnB>
                    <a:solidFill>
                      <a:srgbClr val="FBF1D3"/>
                    </a:solidFill>
                  </a:tcPr>
                </a:tc>
              </a:tr>
              <a:tr h="426720">
                <a:tc>
                  <a:txBody>
                    <a:bodyPr wrap="square"/>
                    <a:lstStyle/>
                    <a:p>
                      <a:pPr algn="l"/>
                      <a:r>
                        <a:rPr sz="1100" b="1" i="0">
                          <a:solidFill>
                            <a:srgbClr val="15323F"/>
                          </a:solidFill>
                          <a:latin typeface="Calibri"/>
                        </a:rPr>
                        <a:t>B</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attention-MIL bridge: peptide as bag, ±3 windows as instances, pre-trained on the large bag-level sets (260k peptides, 212k tiles)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to be run</a:t>
                      </a:r>
                    </a:p>
                  </a:txBody>
                  <a:tcPr marL="54864" marR="54864" marT="27432" marB="27432" anchor="ctr">
                    <a:lnL w="0">
                      <a:noFill/>
                    </a:lnL>
                    <a:lnR w="0">
                      <a:noFill/>
                    </a:lnR>
                    <a:lnT w="0">
                      <a:noFill/>
                    </a:lnT>
                    <a:lnB w="6350">
                      <a:solidFill>
                        <a:srgbClr val="DDE4E8"/>
                      </a:solidFill>
                    </a:lnB>
                    <a:solidFill>
                      <a:srgbClr val="FBF1D3"/>
                    </a:solidFill>
                  </a:tcPr>
                </a:tc>
              </a:tr>
              <a:tr h="274320">
                <a:tc>
                  <a:txBody>
                    <a:bodyPr wrap="square"/>
                    <a:lstStyle/>
                    <a:p>
                      <a:pPr algn="l"/>
                      <a:r>
                        <a:rPr sz="1100" b="1" i="0">
                          <a:solidFill>
                            <a:srgbClr val="15323F"/>
                          </a:solidFill>
                          <a:latin typeface="Calibri"/>
                        </a:rPr>
                        <a:t>C</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hybrid: bag loss + cell loss with weight λ</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to be run</a:t>
                      </a:r>
                    </a:p>
                  </a:txBody>
                  <a:tcPr marL="54864" marR="54864" marT="27432" marB="27432" anchor="ctr">
                    <a:lnL w="0">
                      <a:noFill/>
                    </a:lnL>
                    <a:lnR w="0">
                      <a:noFill/>
                    </a:lnR>
                    <a:lnT w="0">
                      <a:noFill/>
                    </a:lnT>
                    <a:lnB w="6350">
                      <a:solidFill>
                        <a:srgbClr val="DDE4E8"/>
                      </a:solidFill>
                    </a:lnB>
                    <a:solidFill>
                      <a:srgbClr val="FBF1D3"/>
                    </a:solidFill>
                  </a:tcPr>
                </a:tc>
              </a:tr>
            </a:tbl>
          </a:graphicData>
        </a:graphic>
      </p:graphicFrame>
      <p:sp>
        <p:nvSpPr>
          <p:cNvPr id="30" name="novelty"/>
          <p:cNvSpPr txBox="1"/>
          <p:nvPr/>
        </p:nvSpPr>
        <p:spPr>
          <a:xfrm>
            <a:off x="5852160" y="4602480"/>
            <a:ext cx="5790895" cy="1600200"/>
          </a:xfrm>
          <a:prstGeom prst="rect">
            <a:avLst/>
          </a:prstGeom>
          <a:noFill/>
        </p:spPr>
        <p:txBody>
          <a:bodyPr wrap="square" lIns="0" rIns="0" tIns="0" bIns="0" anchor="t">
            <a:spAutoFit/>
          </a:bodyPr>
          <a:lstStyle/>
          <a:p>
            <a:pPr algn="l"/>
            <a:r>
              <a:rPr sz="1150" b="1" i="0">
                <a:solidFill>
                  <a:srgbClr val="386FA4"/>
                </a:solidFill>
                <a:latin typeface="Calibri"/>
              </a:rPr>
              <a:t>Novelty, at the level the evidence supports: a weak-supervision question.</a:t>
            </a:r>
          </a:p>
          <a:p>
            <a:pPr algn="l">
              <a:spcBef>
                <a:spcPts val="200"/>
              </a:spcBef>
            </a:pPr>
            <a:r>
              <a:rPr sz="1100" b="0" i="0">
                <a:solidFill>
                  <a:srgbClr val="15323F"/>
                </a:solidFill>
                <a:latin typeface="Calibri"/>
              </a:rPr>
              <a:t>Bag-level labels are abundant but do not identify positional parameters (28.9% of coefficients separable from zero); cell-level labels do (53.3%) but are fewer. A literature search on 15 Oct 2026 did not find an MIL/attention bridge reported for this; a negative answer is also a usable result. Attention-MIL on proteins, conditional modulation and accessibility features are established prior art, not claimed as new.</a:t>
            </a:r>
          </a:p>
        </p:txBody>
      </p:sp>
      <p:sp>
        <p:nvSpPr>
          <p:cNvPr id="31" name="evidence label"/>
          <p:cNvSpPr txBox="1"/>
          <p:nvPr/>
        </p:nvSpPr>
        <p:spPr>
          <a:xfrm>
            <a:off x="548640" y="6144768"/>
            <a:ext cx="11094415" cy="310896"/>
          </a:xfrm>
          <a:prstGeom prst="rect">
            <a:avLst/>
          </a:prstGeom>
          <a:noFill/>
        </p:spPr>
        <p:txBody>
          <a:bodyPr wrap="square" lIns="0" rIns="0" tIns="0" bIns="0" anchor="t">
            <a:spAutoFit/>
          </a:bodyPr>
          <a:lstStyle/>
          <a:p>
            <a:pPr algn="l"/>
            <a:r>
              <a:rPr sz="1000" b="0" i="0">
                <a:solidFill>
                  <a:srgbClr val="5B7380"/>
                </a:solidFill>
                <a:latin typeface="Calibri"/>
              </a:rPr>
              <a:t>○ proposed, no measurement yet. Representation choice (PLM vs one-hot) is part of the same experiment grid. Own diagram, proposed, not yet validated.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500"/>
                                        <p:tgtEl>
                                          <p:spTgt spid="15"/>
                                        </p:tgtEl>
                                      </p:cBhvr>
                                    </p:animEffect>
                                  </p:childTnLst>
                                </p:cTn>
                              </p:par>
                              <p:par>
                                <p:cTn id="6" presetID="10" presetClass="entr" presetSubtype="0" fill="hold"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5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500" b="1">
                <a:solidFill>
                  <a:srgbClr val="15323F"/>
                </a:solidFill>
                <a:latin typeface="Calibri"/>
              </a:rPr>
              <a:t>Evaluation plan: one controlled comparison per row, four already measured</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22</a:t>
            </a:r>
          </a:p>
        </p:txBody>
      </p:sp>
      <p:graphicFrame>
        <p:nvGraphicFramePr>
          <p:cNvPr id="15" name="evaluation plan"/>
          <p:cNvGraphicFramePr>
            <a:graphicFrameLocks noGrp="1"/>
          </p:cNvGraphicFramePr>
          <p:nvPr/>
        </p:nvGraphicFramePr>
        <p:xfrm>
          <a:off x="548640" y="1097280"/>
          <a:ext cx="9006840" cy="3230880"/>
        </p:xfrm>
        <a:graphic>
          <a:graphicData uri="http://schemas.openxmlformats.org/drawingml/2006/table">
            <a:tbl>
              <a:tblPr firstRow="0" bandRow="0">
                <a:tableStyleId>{2D5ABB26-0587-4C30-8999-92F81FD0307C}</a:tableStyleId>
              </a:tblPr>
              <a:tblGrid>
                <a:gridCol w="3154680"/>
                <a:gridCol w="2057400"/>
                <a:gridCol w="1828800"/>
                <a:gridCol w="1965960"/>
              </a:tblGrid>
              <a:tr h="274320">
                <a:tc>
                  <a:txBody>
                    <a:bodyPr wrap="square"/>
                    <a:lstStyle/>
                    <a:p>
                      <a:pPr algn="l"/>
                      <a:r>
                        <a:rPr sz="1100" b="1" i="0">
                          <a:solidFill>
                            <a:srgbClr val="FAFBFC"/>
                          </a:solidFill>
                          <a:latin typeface="Calibri"/>
                        </a:rPr>
                        <a:t>Question</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00" b="1" i="0">
                          <a:solidFill>
                            <a:srgbClr val="FAFBFC"/>
                          </a:solidFill>
                          <a:latin typeface="Calibri"/>
                        </a:rPr>
                        <a:t>Held fixed</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00" b="1" i="0">
                          <a:solidFill>
                            <a:srgbClr val="FAFBFC"/>
                          </a:solidFill>
                          <a:latin typeface="Calibri"/>
                        </a:rPr>
                        <a:t>Metric</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100" b="1" i="0">
                          <a:solidFill>
                            <a:srgbClr val="FAFBFC"/>
                          </a:solidFill>
                          <a:latin typeface="Calibri"/>
                        </a:rPr>
                        <a:t>Status</a:t>
                      </a:r>
                    </a:p>
                  </a:txBody>
                  <a:tcPr marL="54864" marR="54864" marT="27432" marB="27432" anchor="ctr">
                    <a:lnL w="0">
                      <a:noFill/>
                    </a:lnL>
                    <a:lnR w="0">
                      <a:noFill/>
                    </a:lnR>
                    <a:lnT w="0">
                      <a:noFill/>
                    </a:lnT>
                    <a:lnB w="6350">
                      <a:solidFill>
                        <a:srgbClr val="DDE4E8"/>
                      </a:solidFill>
                    </a:lnB>
                    <a:solidFill>
                      <a:srgbClr val="15323F"/>
                    </a:solidFill>
                  </a:tcPr>
                </a:tc>
              </a:tr>
              <a:tr h="426720">
                <a:tc>
                  <a:txBody>
                    <a:bodyPr wrap="square"/>
                    <a:lstStyle/>
                    <a:p>
                      <a:pPr algn="l"/>
                      <a:r>
                        <a:rPr sz="1100" b="0" i="0">
                          <a:solidFill>
                            <a:srgbClr val="15323F"/>
                          </a:solidFill>
                          <a:latin typeface="Calibri"/>
                        </a:rPr>
                        <a:t>Does a residue-level model beat the composition baseline?</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split, labels, window</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cell-level AUROC</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 +0.0289, CI [0.0264, 0.0313]</a:t>
                      </a:r>
                    </a:p>
                  </a:txBody>
                  <a:tcPr marL="54864" marR="54864" marT="27432" marB="27432" anchor="ctr">
                    <a:lnL w="0">
                      <a:noFill/>
                    </a:lnL>
                    <a:lnR w="0">
                      <a:noFill/>
                    </a:lnR>
                    <a:lnT w="0">
                      <a:noFill/>
                    </a:lnT>
                    <a:lnB w="6350">
                      <a:solidFill>
                        <a:srgbClr val="DDE4E8"/>
                      </a:solidFill>
                    </a:lnB>
                    <a:solidFill>
                      <a:srgbClr val="D9EFEC"/>
                    </a:solidFill>
                  </a:tcPr>
                </a:tc>
              </a:tr>
              <a:tr h="426720">
                <a:tc>
                  <a:txBody>
                    <a:bodyPr wrap="square"/>
                    <a:lstStyle/>
                    <a:p>
                      <a:pPr algn="l"/>
                      <a:r>
                        <a:rPr sz="1100" b="0" i="0">
                          <a:solidFill>
                            <a:srgbClr val="15323F"/>
                          </a:solidFill>
                          <a:latin typeface="Calibri"/>
                        </a:rPr>
                        <a:t>Does it beat the closest published control (ΔPAP)?</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same test clusters, paired</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paired difference + bootstrap CI</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 +0.0300 (scanning) · ○ −0.0420 (matrix)</a:t>
                      </a:r>
                    </a:p>
                  </a:txBody>
                  <a:tcPr marL="54864" marR="54864" marT="27432" marB="27432" anchor="ctr">
                    <a:lnL w="0">
                      <a:noFill/>
                    </a:lnL>
                    <a:lnR w="0">
                      <a:noFill/>
                    </a:lnR>
                    <a:lnT w="0">
                      <a:noFill/>
                    </a:lnT>
                    <a:lnB w="6350">
                      <a:solidFill>
                        <a:srgbClr val="DDE4E8"/>
                      </a:solidFill>
                    </a:lnB>
                    <a:solidFill>
                      <a:srgbClr val="D9EFEC"/>
                    </a:solidFill>
                  </a:tcPr>
                </a:tc>
              </a:tr>
              <a:tr h="426720">
                <a:tc>
                  <a:txBody>
                    <a:bodyPr wrap="square"/>
                    <a:lstStyle/>
                    <a:p>
                      <a:pPr algn="l"/>
                      <a:r>
                        <a:rPr sz="1100" b="0" i="0">
                          <a:solidFill>
                            <a:srgbClr val="15323F"/>
                          </a:solidFill>
                          <a:latin typeface="Calibri"/>
                        </a:rPr>
                        <a:t>At which scale does the information sit?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one feature block changed at a time</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same split, same metric</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 decomposed (slide 14)</a:t>
                      </a:r>
                    </a:p>
                  </a:txBody>
                  <a:tcPr marL="54864" marR="54864" marT="27432" marB="27432" anchor="ctr">
                    <a:lnL w="0">
                      <a:noFill/>
                    </a:lnL>
                    <a:lnR w="0">
                      <a:noFill/>
                    </a:lnR>
                    <a:lnT w="0">
                      <a:noFill/>
                    </a:lnT>
                    <a:lnB w="6350">
                      <a:solidFill>
                        <a:srgbClr val="DDE4E8"/>
                      </a:solidFill>
                    </a:lnB>
                    <a:solidFill>
                      <a:srgbClr val="D9EFEC"/>
                    </a:solidFill>
                  </a:tcPr>
                </a:tc>
              </a:tr>
              <a:tr h="426720">
                <a:tc>
                  <a:txBody>
                    <a:bodyPr wrap="square"/>
                    <a:lstStyle/>
                    <a:p>
                      <a:pPr algn="l"/>
                      <a:r>
                        <a:rPr sz="1100" b="0" i="0">
                          <a:solidFill>
                            <a:srgbClr val="15323F"/>
                          </a:solidFill>
                          <a:latin typeface="Calibri"/>
                        </a:rPr>
                        <a:t>Are context weights stable across bootstraps?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sign agreement, |μ|/SD</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 53.3% separable, sign agreement 0.90</a:t>
                      </a:r>
                    </a:p>
                  </a:txBody>
                  <a:tcPr marL="54864" marR="54864" marT="27432" marB="27432" anchor="ctr">
                    <a:lnL w="0">
                      <a:noFill/>
                    </a:lnL>
                    <a:lnR w="0">
                      <a:noFill/>
                    </a:lnR>
                    <a:lnT w="0">
                      <a:noFill/>
                    </a:lnT>
                    <a:lnB w="6350">
                      <a:solidFill>
                        <a:srgbClr val="DDE4E8"/>
                      </a:solidFill>
                    </a:lnB>
                    <a:solidFill>
                      <a:srgbClr val="D9EFEC"/>
                    </a:solidFill>
                  </a:tcPr>
                </a:tc>
              </a:tr>
              <a:tr h="426720">
                <a:tc>
                  <a:txBody>
                    <a:bodyPr wrap="square"/>
                    <a:lstStyle/>
                    <a:p>
                      <a:pPr algn="l"/>
                      <a:r>
                        <a:rPr sz="1100" b="0" i="0">
                          <a:solidFill>
                            <a:srgbClr val="15323F"/>
                          </a:solidFill>
                          <a:latin typeface="Calibri"/>
                        </a:rPr>
                        <a:t>Does the MIL bridge recover residue information from bag-level labels?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window, loss, budget, seeds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bag metric and localisation metric</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 not measured</a:t>
                      </a:r>
                    </a:p>
                  </a:txBody>
                  <a:tcPr marL="54864" marR="54864" marT="27432" marB="27432" anchor="ctr">
                    <a:lnL w="0">
                      <a:noFill/>
                    </a:lnL>
                    <a:lnR w="0">
                      <a:noFill/>
                    </a:lnR>
                    <a:lnT w="0">
                      <a:noFill/>
                    </a:lnT>
                    <a:lnB w="6350">
                      <a:solidFill>
                        <a:srgbClr val="DDE4E8"/>
                      </a:solidFill>
                    </a:lnB>
                    <a:solidFill>
                      <a:srgbClr val="FBF1D3"/>
                    </a:solidFill>
                  </a:tcPr>
                </a:tc>
              </a:tr>
              <a:tr h="274320">
                <a:tc>
                  <a:txBody>
                    <a:bodyPr wrap="square"/>
                    <a:lstStyle/>
                    <a:p>
                      <a:pPr algn="l"/>
                      <a:r>
                        <a:rPr sz="1100" b="0" i="0">
                          <a:solidFill>
                            <a:srgbClr val="15323F"/>
                          </a:solidFill>
                          <a:latin typeface="Calibri"/>
                        </a:rPr>
                        <a:t>Does representation or architecture drive the gain?</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representation × model grid</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same split, same metric</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 not measured</a:t>
                      </a:r>
                    </a:p>
                  </a:txBody>
                  <a:tcPr marL="54864" marR="54864" marT="27432" marB="27432" anchor="ctr">
                    <a:lnL w="0">
                      <a:noFill/>
                    </a:lnL>
                    <a:lnR w="0">
                      <a:noFill/>
                    </a:lnR>
                    <a:lnT w="0">
                      <a:noFill/>
                    </a:lnT>
                    <a:lnB w="6350">
                      <a:solidFill>
                        <a:srgbClr val="DDE4E8"/>
                      </a:solidFill>
                    </a:lnB>
                    <a:solidFill>
                      <a:srgbClr val="FBF1D3"/>
                    </a:solidFill>
                  </a:tcPr>
                </a:tc>
              </a:tr>
              <a:tr h="274320">
                <a:tc>
                  <a:txBody>
                    <a:bodyPr wrap="square"/>
                    <a:lstStyle/>
                    <a:p>
                      <a:pPr algn="l"/>
                      <a:r>
                        <a:rPr sz="1100" b="0" i="0">
                          <a:solidFill>
                            <a:srgbClr val="15323F"/>
                          </a:solidFill>
                          <a:latin typeface="Calibri"/>
                        </a:rPr>
                        <a:t>Does it beat Degformer under a cluster split?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its checkpoint re-run on our split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same metrics</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100" b="0" i="0">
                          <a:solidFill>
                            <a:srgbClr val="15323F"/>
                          </a:solidFill>
                          <a:latin typeface="Calibri"/>
                        </a:rPr>
                        <a:t>○ not measured</a:t>
                      </a:r>
                    </a:p>
                  </a:txBody>
                  <a:tcPr marL="54864" marR="54864" marT="27432" marB="27432" anchor="ctr">
                    <a:lnL w="0">
                      <a:noFill/>
                    </a:lnL>
                    <a:lnR w="0">
                      <a:noFill/>
                    </a:lnR>
                    <a:lnT w="0">
                      <a:noFill/>
                    </a:lnT>
                    <a:lnB w="6350">
                      <a:solidFill>
                        <a:srgbClr val="DDE4E8"/>
                      </a:solidFill>
                    </a:lnB>
                    <a:solidFill>
                      <a:srgbClr val="FBF1D3"/>
                    </a:solidFill>
                  </a:tcPr>
                </a:tc>
              </a:tr>
              <a:tr h="274320">
                <a:tc>
                  <a:txBody>
                    <a:bodyPr wrap="square"/>
                    <a:lstStyle/>
                    <a:p>
                      <a:pPr algn="l"/>
                      <a:r>
                        <a:rPr sz="1100" b="0" i="0">
                          <a:solidFill>
                            <a:srgbClr val="15323F"/>
                          </a:solidFill>
                          <a:latin typeface="Calibri"/>
                        </a:rPr>
                        <a:t>Where does the model fail?</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per-group sample counts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error analysis by group</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100" b="0" i="0">
                          <a:solidFill>
                            <a:srgbClr val="15323F"/>
                          </a:solidFill>
                          <a:latin typeface="Calibri"/>
                        </a:rPr>
                        <a:t>○ not measured</a:t>
                      </a:r>
                    </a:p>
                  </a:txBody>
                  <a:tcPr marL="54864" marR="54864" marT="27432" marB="27432" anchor="ctr">
                    <a:lnL w="0">
                      <a:noFill/>
                    </a:lnL>
                    <a:lnR w="0">
                      <a:noFill/>
                    </a:lnR>
                    <a:lnT w="0">
                      <a:noFill/>
                    </a:lnT>
                    <a:lnB w="6350">
                      <a:solidFill>
                        <a:srgbClr val="DDE4E8"/>
                      </a:solidFill>
                    </a:lnB>
                    <a:solidFill>
                      <a:srgbClr val="FBF1D3"/>
                    </a:solidFill>
                  </a:tcPr>
                </a:tc>
              </a:tr>
            </a:tbl>
          </a:graphicData>
        </a:graphic>
      </p:graphicFrame>
      <p:sp>
        <p:nvSpPr>
          <p:cNvPr id="16" name="commitments"/>
          <p:cNvSpPr txBox="1"/>
          <p:nvPr/>
        </p:nvSpPr>
        <p:spPr>
          <a:xfrm>
            <a:off x="548640" y="4465320"/>
            <a:ext cx="9006840" cy="914400"/>
          </a:xfrm>
          <a:prstGeom prst="rect">
            <a:avLst/>
          </a:prstGeom>
          <a:noFill/>
        </p:spPr>
        <p:txBody>
          <a:bodyPr wrap="square" lIns="0" rIns="0" tIns="0" bIns="0" anchor="t">
            <a:spAutoFit/>
          </a:bodyPr>
          <a:lstStyle/>
          <a:p>
            <a:pPr algn="l"/>
            <a:r>
              <a:rPr sz="1100" b="1" i="0">
                <a:solidFill>
                  <a:srgbClr val="15323F"/>
                </a:solidFill>
                <a:latin typeface="Calibri"/>
              </a:rPr>
              <a:t>Committed in advance: </a:t>
            </a:r>
            <a:r>
              <a:rPr sz="1100" b="0" i="0">
                <a:solidFill>
                  <a:srgbClr val="15323F"/>
                </a:solidFill>
                <a:latin typeface="Calibri"/>
              </a:rPr>
              <a:t>thresholds are computed before ablations (0.0123 for the paired M3 − M0 comparison on the saturation set; 0.0025–0.0036 on scanning); a result below threshold is reported as indistinguishable, not as a win. Bootstrap is at protein-cluster level, paired by peptide.</a:t>
            </a:r>
          </a:p>
          <a:p>
            <a:pPr algn="l">
              <a:spcBef>
                <a:spcPts val="400"/>
              </a:spcBef>
            </a:pPr>
            <a:r>
              <a:rPr sz="1100" b="0" i="0">
                <a:solidFill>
                  <a:srgbClr val="15323F"/>
                </a:solidFill>
                <a:latin typeface="Calibri"/>
              </a:rPr>
              <a:t>Every results table prints the measured ceiling next to the model number and reports each metric separately, because the model ranking reverses between cell-level and position-level scoring (ceiling convention after LeBlanc et al. 2026).</a:t>
            </a:r>
          </a:p>
        </p:txBody>
      </p:sp>
      <p:sp>
        <p:nvSpPr>
          <p:cNvPr id="17" name="grid title"/>
          <p:cNvSpPr txBox="1"/>
          <p:nvPr/>
        </p:nvSpPr>
        <p:spPr>
          <a:xfrm>
            <a:off x="9601200" y="1051560"/>
            <a:ext cx="2103120" cy="274320"/>
          </a:xfrm>
          <a:prstGeom prst="rect">
            <a:avLst/>
          </a:prstGeom>
          <a:noFill/>
        </p:spPr>
        <p:txBody>
          <a:bodyPr wrap="square" lIns="0" rIns="0" tIns="0" bIns="0" anchor="t">
            <a:spAutoFit/>
          </a:bodyPr>
          <a:lstStyle/>
          <a:p>
            <a:pPr algn="l"/>
            <a:r>
              <a:rPr sz="1200" b="1" i="0">
                <a:solidFill>
                  <a:srgbClr val="15323F"/>
                </a:solidFill>
                <a:latin typeface="Calibri"/>
              </a:rPr>
              <a:t>Experiment grid</a:t>
            </a:r>
          </a:p>
        </p:txBody>
      </p:sp>
      <p:sp>
        <p:nvSpPr>
          <p:cNvPr id="18" name="col 1"/>
          <p:cNvSpPr txBox="1"/>
          <p:nvPr/>
        </p:nvSpPr>
        <p:spPr>
          <a:xfrm>
            <a:off x="10652759" y="1417320"/>
            <a:ext cx="457200" cy="274320"/>
          </a:xfrm>
          <a:prstGeom prst="rect">
            <a:avLst/>
          </a:prstGeom>
          <a:noFill/>
        </p:spPr>
        <p:txBody>
          <a:bodyPr wrap="square" lIns="0" rIns="0" tIns="0" bIns="0" anchor="t">
            <a:spAutoFit/>
          </a:bodyPr>
          <a:lstStyle/>
          <a:p>
            <a:pPr algn="ctr"/>
            <a:r>
              <a:rPr sz="1000" b="0" i="0">
                <a:solidFill>
                  <a:srgbClr val="15323F"/>
                </a:solidFill>
                <a:latin typeface="Calibri"/>
              </a:rPr>
              <a:t>one-hot</a:t>
            </a:r>
          </a:p>
        </p:txBody>
      </p:sp>
      <p:sp>
        <p:nvSpPr>
          <p:cNvPr id="19" name="col 2"/>
          <p:cNvSpPr txBox="1"/>
          <p:nvPr/>
        </p:nvSpPr>
        <p:spPr>
          <a:xfrm>
            <a:off x="11155680" y="1417320"/>
            <a:ext cx="457200" cy="274320"/>
          </a:xfrm>
          <a:prstGeom prst="rect">
            <a:avLst/>
          </a:prstGeom>
          <a:noFill/>
        </p:spPr>
        <p:txBody>
          <a:bodyPr wrap="square" lIns="0" rIns="0" tIns="0" bIns="0" anchor="t">
            <a:spAutoFit/>
          </a:bodyPr>
          <a:lstStyle/>
          <a:p>
            <a:pPr algn="ctr"/>
            <a:r>
              <a:rPr sz="1000" b="0" i="0">
                <a:solidFill>
                  <a:srgbClr val="15323F"/>
                </a:solidFill>
                <a:latin typeface="Calibri"/>
              </a:rPr>
              <a:t>PLM</a:t>
            </a:r>
          </a:p>
        </p:txBody>
      </p:sp>
      <p:sp>
        <p:nvSpPr>
          <p:cNvPr id="20" name="row composition"/>
          <p:cNvSpPr txBox="1"/>
          <p:nvPr/>
        </p:nvSpPr>
        <p:spPr>
          <a:xfrm>
            <a:off x="9601200" y="1874520"/>
            <a:ext cx="1005840" cy="274320"/>
          </a:xfrm>
          <a:prstGeom prst="rect">
            <a:avLst/>
          </a:prstGeom>
          <a:noFill/>
        </p:spPr>
        <p:txBody>
          <a:bodyPr wrap="square" lIns="0" rIns="0" tIns="0" bIns="0" anchor="t">
            <a:spAutoFit/>
          </a:bodyPr>
          <a:lstStyle/>
          <a:p>
            <a:pPr algn="r"/>
            <a:r>
              <a:rPr sz="1000" b="0" i="0">
                <a:solidFill>
                  <a:srgbClr val="15323F"/>
                </a:solidFill>
                <a:latin typeface="Calibri"/>
              </a:rPr>
              <a:t>composition</a:t>
            </a:r>
          </a:p>
        </p:txBody>
      </p:sp>
      <p:sp>
        <p:nvSpPr>
          <p:cNvPr id="21" name="grid cell composition 0"/>
          <p:cNvSpPr/>
          <p:nvPr/>
        </p:nvSpPr>
        <p:spPr>
          <a:xfrm>
            <a:off x="10652759" y="1764792"/>
            <a:ext cx="457200" cy="457200"/>
          </a:xfrm>
          <a:prstGeom prst="rect">
            <a:avLst/>
          </a:prstGeom>
          <a:solidFill>
            <a:srgbClr val="D9EFEC"/>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1F7A6F"/>
                </a:solidFill>
                <a:latin typeface="Calibri"/>
              </a:rPr>
              <a:t>●</a:t>
            </a:r>
          </a:p>
        </p:txBody>
      </p:sp>
      <p:sp>
        <p:nvSpPr>
          <p:cNvPr id="22" name="grid cell composition 1"/>
          <p:cNvSpPr/>
          <p:nvPr/>
        </p:nvSpPr>
        <p:spPr>
          <a:xfrm>
            <a:off x="11155680" y="1764792"/>
            <a:ext cx="457200" cy="457200"/>
          </a:xfrm>
          <a:prstGeom prst="rect">
            <a:avLst/>
          </a:prstGeom>
          <a:solidFill>
            <a:srgbClr val="FBF1D3"/>
          </a:solidFill>
          <a:ln w="12700">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8A6A12"/>
                </a:solidFill>
                <a:latin typeface="Calibri"/>
              </a:rPr>
              <a:t>—</a:t>
            </a:r>
          </a:p>
        </p:txBody>
      </p:sp>
      <p:sp>
        <p:nvSpPr>
          <p:cNvPr id="23" name="row per-position"/>
          <p:cNvSpPr txBox="1"/>
          <p:nvPr/>
        </p:nvSpPr>
        <p:spPr>
          <a:xfrm>
            <a:off x="9601200" y="2404872"/>
            <a:ext cx="1005840" cy="274320"/>
          </a:xfrm>
          <a:prstGeom prst="rect">
            <a:avLst/>
          </a:prstGeom>
          <a:noFill/>
        </p:spPr>
        <p:txBody>
          <a:bodyPr wrap="square" lIns="0" rIns="0" tIns="0" bIns="0" anchor="t">
            <a:spAutoFit/>
          </a:bodyPr>
          <a:lstStyle/>
          <a:p>
            <a:pPr algn="r"/>
            <a:r>
              <a:rPr sz="1000" b="0" i="0">
                <a:solidFill>
                  <a:srgbClr val="15323F"/>
                </a:solidFill>
                <a:latin typeface="Calibri"/>
              </a:rPr>
              <a:t>per-position</a:t>
            </a:r>
          </a:p>
        </p:txBody>
      </p:sp>
      <p:sp>
        <p:nvSpPr>
          <p:cNvPr id="24" name="grid cell per-position 0"/>
          <p:cNvSpPr/>
          <p:nvPr/>
        </p:nvSpPr>
        <p:spPr>
          <a:xfrm>
            <a:off x="10652759" y="2295144"/>
            <a:ext cx="457200" cy="457200"/>
          </a:xfrm>
          <a:prstGeom prst="rect">
            <a:avLst/>
          </a:prstGeom>
          <a:solidFill>
            <a:srgbClr val="FBF1D3"/>
          </a:solidFill>
          <a:ln w="12700">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8A6A12"/>
                </a:solidFill>
                <a:latin typeface="Calibri"/>
              </a:rPr>
              <a:t>—</a:t>
            </a:r>
          </a:p>
        </p:txBody>
      </p:sp>
      <p:sp>
        <p:nvSpPr>
          <p:cNvPr id="25" name="grid cell per-position 1"/>
          <p:cNvSpPr/>
          <p:nvPr/>
        </p:nvSpPr>
        <p:spPr>
          <a:xfrm>
            <a:off x="11155680" y="2295144"/>
            <a:ext cx="457200" cy="457200"/>
          </a:xfrm>
          <a:prstGeom prst="rect">
            <a:avLst/>
          </a:prstGeom>
          <a:solidFill>
            <a:srgbClr val="FBF1D3"/>
          </a:solidFill>
          <a:ln w="12700">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8A6A12"/>
                </a:solidFill>
                <a:latin typeface="Calibri"/>
              </a:rPr>
              <a:t>—</a:t>
            </a:r>
          </a:p>
        </p:txBody>
      </p:sp>
      <p:sp>
        <p:nvSpPr>
          <p:cNvPr id="26" name="row MIL bridge"/>
          <p:cNvSpPr txBox="1"/>
          <p:nvPr/>
        </p:nvSpPr>
        <p:spPr>
          <a:xfrm>
            <a:off x="9601200" y="2935224"/>
            <a:ext cx="1005840" cy="274320"/>
          </a:xfrm>
          <a:prstGeom prst="rect">
            <a:avLst/>
          </a:prstGeom>
          <a:noFill/>
        </p:spPr>
        <p:txBody>
          <a:bodyPr wrap="square" lIns="0" rIns="0" tIns="0" bIns="0" anchor="t">
            <a:spAutoFit/>
          </a:bodyPr>
          <a:lstStyle/>
          <a:p>
            <a:pPr algn="r"/>
            <a:r>
              <a:rPr sz="1000" b="0" i="0">
                <a:solidFill>
                  <a:srgbClr val="15323F"/>
                </a:solidFill>
                <a:latin typeface="Calibri"/>
              </a:rPr>
              <a:t>MIL bridge</a:t>
            </a:r>
          </a:p>
        </p:txBody>
      </p:sp>
      <p:sp>
        <p:nvSpPr>
          <p:cNvPr id="27" name="grid cell MIL bridge 0"/>
          <p:cNvSpPr/>
          <p:nvPr/>
        </p:nvSpPr>
        <p:spPr>
          <a:xfrm>
            <a:off x="10652759" y="2825496"/>
            <a:ext cx="457200" cy="457200"/>
          </a:xfrm>
          <a:prstGeom prst="rect">
            <a:avLst/>
          </a:prstGeom>
          <a:solidFill>
            <a:srgbClr val="FBF1D3"/>
          </a:solidFill>
          <a:ln w="12700">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8A6A12"/>
                </a:solidFill>
                <a:latin typeface="Calibri"/>
              </a:rPr>
              <a:t>—</a:t>
            </a:r>
          </a:p>
        </p:txBody>
      </p:sp>
      <p:sp>
        <p:nvSpPr>
          <p:cNvPr id="28" name="grid cell MIL bridge 1"/>
          <p:cNvSpPr/>
          <p:nvPr/>
        </p:nvSpPr>
        <p:spPr>
          <a:xfrm>
            <a:off x="11155680" y="2825496"/>
            <a:ext cx="457200" cy="457200"/>
          </a:xfrm>
          <a:prstGeom prst="rect">
            <a:avLst/>
          </a:prstGeom>
          <a:solidFill>
            <a:srgbClr val="FBF1D3"/>
          </a:solidFill>
          <a:ln w="12700">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8A6A12"/>
                </a:solidFill>
                <a:latin typeface="Calibri"/>
              </a:rPr>
              <a:t>—</a:t>
            </a:r>
          </a:p>
        </p:txBody>
      </p:sp>
      <p:sp>
        <p:nvSpPr>
          <p:cNvPr id="29" name="row hybrid"/>
          <p:cNvSpPr txBox="1"/>
          <p:nvPr/>
        </p:nvSpPr>
        <p:spPr>
          <a:xfrm>
            <a:off x="9601200" y="3465576"/>
            <a:ext cx="1005840" cy="274320"/>
          </a:xfrm>
          <a:prstGeom prst="rect">
            <a:avLst/>
          </a:prstGeom>
          <a:noFill/>
        </p:spPr>
        <p:txBody>
          <a:bodyPr wrap="square" lIns="0" rIns="0" tIns="0" bIns="0" anchor="t">
            <a:spAutoFit/>
          </a:bodyPr>
          <a:lstStyle/>
          <a:p>
            <a:pPr algn="r"/>
            <a:r>
              <a:rPr sz="1000" b="0" i="0">
                <a:solidFill>
                  <a:srgbClr val="15323F"/>
                </a:solidFill>
                <a:latin typeface="Calibri"/>
              </a:rPr>
              <a:t>hybrid</a:t>
            </a:r>
          </a:p>
        </p:txBody>
      </p:sp>
      <p:sp>
        <p:nvSpPr>
          <p:cNvPr id="30" name="grid cell hybrid 0"/>
          <p:cNvSpPr/>
          <p:nvPr/>
        </p:nvSpPr>
        <p:spPr>
          <a:xfrm>
            <a:off x="10652759" y="3355848"/>
            <a:ext cx="457200" cy="457200"/>
          </a:xfrm>
          <a:prstGeom prst="rect">
            <a:avLst/>
          </a:prstGeom>
          <a:solidFill>
            <a:srgbClr val="FBF1D3"/>
          </a:solidFill>
          <a:ln w="12700">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8A6A12"/>
                </a:solidFill>
                <a:latin typeface="Calibri"/>
              </a:rPr>
              <a:t>—</a:t>
            </a:r>
          </a:p>
        </p:txBody>
      </p:sp>
      <p:sp>
        <p:nvSpPr>
          <p:cNvPr id="31" name="grid cell hybrid 1"/>
          <p:cNvSpPr/>
          <p:nvPr/>
        </p:nvSpPr>
        <p:spPr>
          <a:xfrm>
            <a:off x="11155680" y="3355848"/>
            <a:ext cx="457200" cy="457200"/>
          </a:xfrm>
          <a:prstGeom prst="rect">
            <a:avLst/>
          </a:prstGeom>
          <a:solidFill>
            <a:srgbClr val="FBF1D3"/>
          </a:solidFill>
          <a:ln w="12700">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8A6A12"/>
                </a:solidFill>
                <a:latin typeface="Calibri"/>
              </a:rPr>
              <a:t>—</a:t>
            </a:r>
          </a:p>
        </p:txBody>
      </p:sp>
      <p:sp>
        <p:nvSpPr>
          <p:cNvPr id="32" name="grid caption"/>
          <p:cNvSpPr txBox="1"/>
          <p:nvPr/>
        </p:nvSpPr>
        <p:spPr>
          <a:xfrm>
            <a:off x="9601200" y="3794760"/>
            <a:ext cx="2057400" cy="914400"/>
          </a:xfrm>
          <a:prstGeom prst="rect">
            <a:avLst/>
          </a:prstGeom>
          <a:noFill/>
        </p:spPr>
        <p:txBody>
          <a:bodyPr wrap="square" lIns="0" rIns="0" tIns="0" bIns="0" anchor="t">
            <a:spAutoFit/>
          </a:bodyPr>
          <a:lstStyle/>
          <a:p>
            <a:pPr algn="l"/>
            <a:r>
              <a:rPr sz="1000" b="0" i="0">
                <a:solidFill>
                  <a:srgbClr val="5B7380"/>
                </a:solidFill>
                <a:latin typeface="Calibri"/>
              </a:rPr>
              <a:t>model × representation: teal = baseline measured, amber = not yet run</a:t>
            </a:r>
          </a:p>
        </p:txBody>
      </p:sp>
      <p:sp>
        <p:nvSpPr>
          <p:cNvPr id="33" name="evidence label"/>
          <p:cNvSpPr txBox="1"/>
          <p:nvPr/>
        </p:nvSpPr>
        <p:spPr>
          <a:xfrm>
            <a:off x="548640" y="6144768"/>
            <a:ext cx="11094415" cy="310896"/>
          </a:xfrm>
          <a:prstGeom prst="rect">
            <a:avLst/>
          </a:prstGeom>
          <a:noFill/>
        </p:spPr>
        <p:txBody>
          <a:bodyPr wrap="square" lIns="0" rIns="0" tIns="0" bIns="0" anchor="t">
            <a:spAutoFit/>
          </a:bodyPr>
          <a:lstStyle/>
          <a:p>
            <a:pPr algn="l"/>
            <a:r>
              <a:rPr sz="1000" b="0" i="0">
                <a:solidFill>
                  <a:srgbClr val="5B7380"/>
                </a:solidFill>
                <a:latin typeface="Calibri"/>
              </a:rPr>
              <a:t>● measured, with result files · ○ planned, no number yet.</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The software deliverable: residue-level predictions with measured uncertainty</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23</a:t>
            </a:r>
          </a:p>
        </p:txBody>
      </p:sp>
      <p:sp>
        <p:nvSpPr>
          <p:cNvPr id="15" name="stat head"/>
          <p:cNvSpPr txBox="1"/>
          <p:nvPr/>
        </p:nvSpPr>
        <p:spPr>
          <a:xfrm>
            <a:off x="548640" y="1024128"/>
            <a:ext cx="4754880" cy="274320"/>
          </a:xfrm>
          <a:prstGeom prst="rect">
            <a:avLst/>
          </a:prstGeom>
          <a:noFill/>
        </p:spPr>
        <p:txBody>
          <a:bodyPr wrap="square" lIns="0" rIns="0" tIns="0" bIns="0" anchor="t">
            <a:spAutoFit/>
          </a:bodyPr>
          <a:lstStyle/>
          <a:p>
            <a:pPr algn="l"/>
            <a:r>
              <a:rPr sz="1250" b="1" i="0">
                <a:solidFill>
                  <a:srgbClr val="386FA4"/>
                </a:solidFill>
                <a:latin typeface="Calibri"/>
              </a:rPr>
              <a:t>The bottleneck is measurement noise, not accuracy alone</a:t>
            </a:r>
          </a:p>
        </p:txBody>
      </p:sp>
      <p:sp>
        <p:nvSpPr>
          <p:cNvPr id="16" name="stat 1"/>
          <p:cNvSpPr/>
          <p:nvPr/>
        </p:nvSpPr>
        <p:spPr>
          <a:xfrm>
            <a:off x="548640" y="1371600"/>
            <a:ext cx="1536192" cy="1051560"/>
          </a:xfrm>
          <a:prstGeom prst="roundRect">
            <a:avLst>
              <a:gd name="adj" fmla="val 8695"/>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15323F"/>
                </a:solidFill>
                <a:latin typeface="Calibri"/>
              </a:rPr>
              <a:t>75.9%</a:t>
            </a:r>
          </a:p>
          <a:p>
            <a:pPr algn="ctr"/>
            <a:r>
              <a:rPr sz="1000" b="0" i="0">
                <a:solidFill>
                  <a:srgbClr val="5B7380"/>
                </a:solidFill>
                <a:latin typeface="Calibri"/>
              </a:rPr>
              <a:t>of the residual after a composition oracle is measurement noise</a:t>
            </a:r>
          </a:p>
        </p:txBody>
      </p:sp>
      <p:sp>
        <p:nvSpPr>
          <p:cNvPr id="17" name="stat 2"/>
          <p:cNvSpPr/>
          <p:nvPr/>
        </p:nvSpPr>
        <p:spPr>
          <a:xfrm>
            <a:off x="2157984" y="1371600"/>
            <a:ext cx="1536192" cy="1051560"/>
          </a:xfrm>
          <a:prstGeom prst="roundRect">
            <a:avLst>
              <a:gd name="adj" fmla="val 8695"/>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15323F"/>
                </a:solidFill>
                <a:latin typeface="Calibri"/>
              </a:rPr>
              <a:t>0.4965</a:t>
            </a:r>
          </a:p>
          <a:p>
            <a:pPr algn="ctr"/>
            <a:r>
              <a:rPr sz="1000" b="0" i="0">
                <a:solidFill>
                  <a:srgbClr val="5B7380"/>
                </a:solidFill>
                <a:latin typeface="Calibri"/>
              </a:rPr>
              <a:t>Jaccard of footprint residues between replicates</a:t>
            </a:r>
          </a:p>
        </p:txBody>
      </p:sp>
      <p:sp>
        <p:nvSpPr>
          <p:cNvPr id="18" name="stat 3"/>
          <p:cNvSpPr/>
          <p:nvPr/>
        </p:nvSpPr>
        <p:spPr>
          <a:xfrm>
            <a:off x="3767328" y="1371600"/>
            <a:ext cx="1536192" cy="1051560"/>
          </a:xfrm>
          <a:prstGeom prst="roundRect">
            <a:avLst>
              <a:gd name="adj" fmla="val 8695"/>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15323F"/>
                </a:solidFill>
                <a:latin typeface="Calibri"/>
              </a:rPr>
              <a:t>0.9458 · 0.9519</a:t>
            </a:r>
          </a:p>
          <a:p>
            <a:pPr algn="ctr"/>
            <a:r>
              <a:rPr sz="1000" b="0" i="0">
                <a:solidFill>
                  <a:srgbClr val="5B7380"/>
                </a:solidFill>
                <a:latin typeface="Calibri"/>
              </a:rPr>
              <a:t>measurement ceilings</a:t>
            </a:r>
          </a:p>
        </p:txBody>
      </p:sp>
      <p:sp>
        <p:nvSpPr>
          <p:cNvPr id="19" name="so what"/>
          <p:cNvSpPr txBox="1"/>
          <p:nvPr/>
        </p:nvSpPr>
        <p:spPr>
          <a:xfrm>
            <a:off x="548640" y="2514600"/>
            <a:ext cx="4754880" cy="685800"/>
          </a:xfrm>
          <a:prstGeom prst="rect">
            <a:avLst/>
          </a:prstGeom>
          <a:noFill/>
        </p:spPr>
        <p:txBody>
          <a:bodyPr wrap="square" lIns="0" rIns="0" tIns="0" bIns="0" anchor="t">
            <a:spAutoFit/>
          </a:bodyPr>
          <a:lstStyle/>
          <a:p>
            <a:pPr algn="l"/>
            <a:r>
              <a:rPr sz="1100" b="0" i="0">
                <a:solidFill>
                  <a:srgbClr val="15323F"/>
                </a:solidFill>
                <a:latin typeface="Calibri"/>
              </a:rPr>
              <a:t>A tool that returns one confident answer misrepresents the data. The useful output is a prediction with its uncertainty, stated against what the assay can resolve.</a:t>
            </a:r>
          </a:p>
        </p:txBody>
      </p:sp>
      <p:sp>
        <p:nvSpPr>
          <p:cNvPr id="20" name="flow panel"/>
          <p:cNvSpPr/>
          <p:nvPr/>
        </p:nvSpPr>
        <p:spPr>
          <a:xfrm>
            <a:off x="5577840" y="1024128"/>
            <a:ext cx="6065215" cy="2103120"/>
          </a:xfrm>
          <a:prstGeom prst="roundRect">
            <a:avLst>
              <a:gd name="adj" fmla="val 4347"/>
            </a:avLst>
          </a:prstGeom>
          <a:solidFill>
            <a:srgbClr val="FFFBEF"/>
          </a:solidFill>
          <a:ln w="12700">
            <a:solidFill>
              <a:srgbClr val="B08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flow tag"/>
          <p:cNvSpPr txBox="1"/>
          <p:nvPr/>
        </p:nvSpPr>
        <p:spPr>
          <a:xfrm>
            <a:off x="5715000" y="1069848"/>
            <a:ext cx="2743200" cy="228600"/>
          </a:xfrm>
          <a:prstGeom prst="rect">
            <a:avLst/>
          </a:prstGeom>
          <a:noFill/>
        </p:spPr>
        <p:txBody>
          <a:bodyPr wrap="square" lIns="0" rIns="0" tIns="0" bIns="0" anchor="t">
            <a:spAutoFit/>
          </a:bodyPr>
          <a:lstStyle/>
          <a:p>
            <a:pPr algn="l"/>
            <a:r>
              <a:rPr sz="1000" b="1" i="0">
                <a:solidFill>
                  <a:srgbClr val="8A6A12"/>
                </a:solidFill>
                <a:latin typeface="Calibri"/>
              </a:rPr>
              <a:t>[proposed, not built]</a:t>
            </a:r>
          </a:p>
        </p:txBody>
      </p:sp>
      <p:sp>
        <p:nvSpPr>
          <p:cNvPr id="22" name="query"/>
          <p:cNvSpPr/>
          <p:nvPr/>
        </p:nvSpPr>
        <p:spPr>
          <a:xfrm>
            <a:off x="5715000" y="1691640"/>
            <a:ext cx="1371600" cy="777240"/>
          </a:xfrm>
          <a:prstGeom prst="roundRect">
            <a:avLst>
              <a:gd name="adj" fmla="val 11764"/>
            </a:avLst>
          </a:prstGeom>
          <a:solidFill>
            <a:srgbClr val="FFFFFF"/>
          </a:solidFill>
          <a:ln w="12700">
            <a:solidFill>
              <a:srgbClr val="8FA3A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15323F"/>
                </a:solidFill>
                <a:latin typeface="Calibri"/>
              </a:rPr>
              <a:t>query</a:t>
            </a:r>
          </a:p>
          <a:p>
            <a:pPr algn="ctr"/>
            <a:r>
              <a:rPr sz="1000" b="0" i="0">
                <a:solidFill>
                  <a:srgbClr val="5B7380"/>
                </a:solidFill>
                <a:latin typeface="Calibri"/>
              </a:rPr>
              <a:t>sequence + optional mutation</a:t>
            </a:r>
          </a:p>
        </p:txBody>
      </p:sp>
      <p:sp>
        <p:nvSpPr>
          <p:cNvPr id="23" name="flow arrow 1"/>
          <p:cNvSpPr/>
          <p:nvPr/>
        </p:nvSpPr>
        <p:spPr>
          <a:xfrm>
            <a:off x="7132320" y="1984248"/>
            <a:ext cx="228600" cy="182880"/>
          </a:xfrm>
          <a:prstGeom prst="rightArrow">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4" name="model"/>
          <p:cNvSpPr/>
          <p:nvPr/>
        </p:nvSpPr>
        <p:spPr>
          <a:xfrm>
            <a:off x="7406640" y="1691640"/>
            <a:ext cx="1005840" cy="777240"/>
          </a:xfrm>
          <a:prstGeom prst="roundRect">
            <a:avLst>
              <a:gd name="adj" fmla="val 11764"/>
            </a:avLst>
          </a:prstGeom>
          <a:solidFill>
            <a:srgbClr val="386F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i="0">
                <a:solidFill>
                  <a:srgbClr val="FAFBFC"/>
                </a:solidFill>
                <a:latin typeface="Calibri"/>
              </a:rPr>
              <a:t>model</a:t>
            </a:r>
          </a:p>
        </p:txBody>
      </p:sp>
      <p:sp>
        <p:nvSpPr>
          <p:cNvPr id="25" name="flow arrow 2"/>
          <p:cNvSpPr/>
          <p:nvPr/>
        </p:nvSpPr>
        <p:spPr>
          <a:xfrm>
            <a:off x="8458200" y="1984248"/>
            <a:ext cx="228600" cy="182880"/>
          </a:xfrm>
          <a:prstGeom prst="rightArrow">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6" name="outputs"/>
          <p:cNvSpPr/>
          <p:nvPr/>
        </p:nvSpPr>
        <p:spPr>
          <a:xfrm>
            <a:off x="8732520" y="1554480"/>
            <a:ext cx="2651760" cy="1051560"/>
          </a:xfrm>
          <a:prstGeom prst="roundRect">
            <a:avLst>
              <a:gd name="adj" fmla="val 8695"/>
            </a:avLst>
          </a:prstGeom>
          <a:solidFill>
            <a:srgbClr val="FFFFFF"/>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15323F"/>
                </a:solidFill>
                <a:latin typeface="Calibri"/>
              </a:rPr>
              <a:t>28 × 20 ΔPSI heatmap with per-cell uncertainty</a:t>
            </a:r>
          </a:p>
          <a:p>
            <a:pPr algn="ctr"/>
            <a:r>
              <a:rPr sz="1000" b="0" i="0">
                <a:solidFill>
                  <a:srgbClr val="5B7380"/>
                </a:solidFill>
                <a:latin typeface="Calibri"/>
              </a:rPr>
              <a:t>+ per-position bar, next to the measurement ceiling</a:t>
            </a:r>
          </a:p>
        </p:txBody>
      </p:sp>
      <p:sp>
        <p:nvSpPr>
          <p:cNvPr id="27" name="flag OOD"/>
          <p:cNvSpPr/>
          <p:nvPr/>
        </p:nvSpPr>
        <p:spPr>
          <a:xfrm>
            <a:off x="8732520" y="1234440"/>
            <a:ext cx="841248" cy="237744"/>
          </a:xfrm>
          <a:prstGeom prst="roundRect">
            <a:avLst>
              <a:gd name="adj" fmla="val 50000"/>
            </a:avLst>
          </a:prstGeom>
          <a:solidFill>
            <a:srgbClr val="FBF1D3"/>
          </a:solidFill>
          <a:ln w="12700">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5323F"/>
                </a:solidFill>
                <a:latin typeface="Calibri"/>
              </a:rPr>
              <a:t>OOD</a:t>
            </a:r>
          </a:p>
        </p:txBody>
      </p:sp>
      <p:sp>
        <p:nvSpPr>
          <p:cNvPr id="28" name="flag compartment"/>
          <p:cNvSpPr/>
          <p:nvPr/>
        </p:nvSpPr>
        <p:spPr>
          <a:xfrm>
            <a:off x="9646920" y="1234440"/>
            <a:ext cx="841248" cy="237744"/>
          </a:xfrm>
          <a:prstGeom prst="roundRect">
            <a:avLst>
              <a:gd name="adj" fmla="val 50000"/>
            </a:avLst>
          </a:prstGeom>
          <a:solidFill>
            <a:srgbClr val="FBF1D3"/>
          </a:solidFill>
          <a:ln w="12700">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5323F"/>
                </a:solidFill>
                <a:latin typeface="Calibri"/>
              </a:rPr>
              <a:t>compartment</a:t>
            </a:r>
          </a:p>
        </p:txBody>
      </p:sp>
      <p:sp>
        <p:nvSpPr>
          <p:cNvPr id="29" name="flag provenance"/>
          <p:cNvSpPr/>
          <p:nvPr/>
        </p:nvSpPr>
        <p:spPr>
          <a:xfrm>
            <a:off x="10561320" y="1234440"/>
            <a:ext cx="841248" cy="237744"/>
          </a:xfrm>
          <a:prstGeom prst="roundRect">
            <a:avLst>
              <a:gd name="adj" fmla="val 50000"/>
            </a:avLst>
          </a:prstGeom>
          <a:solidFill>
            <a:srgbClr val="FBF1D3"/>
          </a:solidFill>
          <a:ln w="12700">
            <a:solidFill>
              <a:srgbClr val="B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5323F"/>
                </a:solidFill>
                <a:latin typeface="Calibri"/>
              </a:rPr>
              <a:t>provenance</a:t>
            </a:r>
          </a:p>
        </p:txBody>
      </p:sp>
      <p:graphicFrame>
        <p:nvGraphicFramePr>
          <p:cNvPr id="30" name="features"/>
          <p:cNvGraphicFramePr>
            <a:graphicFrameLocks noGrp="1"/>
          </p:cNvGraphicFramePr>
          <p:nvPr/>
        </p:nvGraphicFramePr>
        <p:xfrm>
          <a:off x="548640" y="3291840"/>
          <a:ext cx="4892040" cy="2194560"/>
        </p:xfrm>
        <a:graphic>
          <a:graphicData uri="http://schemas.openxmlformats.org/drawingml/2006/table">
            <a:tbl>
              <a:tblPr firstRow="0" bandRow="0">
                <a:tableStyleId>{2D5ABB26-0587-4C30-8999-92F81FD0307C}</a:tableStyleId>
              </a:tblPr>
              <a:tblGrid>
                <a:gridCol w="1691640"/>
                <a:gridCol w="3200400"/>
              </a:tblGrid>
              <a:tr h="274320">
                <a:tc>
                  <a:txBody>
                    <a:bodyPr wrap="square"/>
                    <a:lstStyle/>
                    <a:p>
                      <a:pPr algn="l"/>
                      <a:r>
                        <a:rPr sz="1000" b="1" i="0">
                          <a:solidFill>
                            <a:srgbClr val="FAFBFC"/>
                          </a:solidFill>
                          <a:latin typeface="Calibri"/>
                        </a:rPr>
                        <a:t>Feature</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000" b="1" i="0">
                          <a:solidFill>
                            <a:srgbClr val="FAFBFC"/>
                          </a:solidFill>
                          <a:latin typeface="Calibri"/>
                        </a:rPr>
                        <a:t>Detail</a:t>
                      </a:r>
                    </a:p>
                  </a:txBody>
                  <a:tcPr marL="54864" marR="54864" marT="27432" marB="27432" anchor="ctr">
                    <a:lnL w="0">
                      <a:noFill/>
                    </a:lnL>
                    <a:lnR w="0">
                      <a:noFill/>
                    </a:lnR>
                    <a:lnT w="0">
                      <a:noFill/>
                    </a:lnT>
                    <a:lnB w="6350">
                      <a:solidFill>
                        <a:srgbClr val="DDE4E8"/>
                      </a:solidFill>
                    </a:lnB>
                    <a:solidFill>
                      <a:srgbClr val="15323F"/>
                    </a:solidFill>
                  </a:tcPr>
                </a:tc>
              </a:tr>
              <a:tr h="274320">
                <a:tc>
                  <a:txBody>
                    <a:bodyPr wrap="square"/>
                    <a:lstStyle/>
                    <a:p>
                      <a:pPr algn="l"/>
                      <a:r>
                        <a:rPr sz="1000" b="1" i="0">
                          <a:solidFill>
                            <a:srgbClr val="15323F"/>
                          </a:solidFill>
                          <a:latin typeface="Calibri"/>
                        </a:rPr>
                        <a:t>28 × 20 ΔPSI + map</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00" b="0" i="0">
                          <a:solidFill>
                            <a:srgbClr val="15323F"/>
                          </a:solidFill>
                          <a:latin typeface="Calibri"/>
                        </a:rPr>
                        <a:t>for any 28-residue peptide or protein window</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000" b="1" i="0">
                          <a:solidFill>
                            <a:srgbClr val="15323F"/>
                          </a:solidFill>
                          <a:latin typeface="Calibri"/>
                        </a:rPr>
                        <a:t>Per-cell uncertainty</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00" b="0" i="0">
                          <a:solidFill>
                            <a:srgbClr val="15323F"/>
                          </a:solidFill>
                          <a:latin typeface="Calibri"/>
                        </a:rPr>
                        <a:t>calibrated, reported next to the measured ceiling</a:t>
                      </a:r>
                    </a:p>
                  </a:txBody>
                  <a:tcPr marL="54864" marR="54864" marT="27432" marB="27432" anchor="ctr">
                    <a:lnL w="0">
                      <a:noFill/>
                    </a:lnL>
                    <a:lnR w="0">
                      <a:noFill/>
                    </a:lnR>
                    <a:lnT w="0">
                      <a:noFill/>
                    </a:lnT>
                    <a:lnB w="6350">
                      <a:solidFill>
                        <a:srgbClr val="DDE4E8"/>
                      </a:solidFill>
                    </a:lnB>
                    <a:solidFill>
                      <a:srgbClr val="F4F7F8"/>
                    </a:solidFill>
                  </a:tcPr>
                </a:tc>
              </a:tr>
              <a:tr h="274320">
                <a:tc>
                  <a:txBody>
                    <a:bodyPr wrap="square"/>
                    <a:lstStyle/>
                    <a:p>
                      <a:pPr algn="l"/>
                      <a:r>
                        <a:rPr sz="1000" b="1" i="0">
                          <a:solidFill>
                            <a:srgbClr val="15323F"/>
                          </a:solidFill>
                          <a:latin typeface="Calibri"/>
                        </a:rPr>
                        <a:t>Arbitrary mutation</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00" b="0" i="0">
                          <a:solidFill>
                            <a:srgbClr val="15323F"/>
                          </a:solidFill>
                          <a:latin typeface="Calibri"/>
                        </a:rPr>
                        <a:t>user-specified substitution, not a precomputed table</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000" b="1" i="0">
                          <a:solidFill>
                            <a:srgbClr val="15323F"/>
                          </a:solidFill>
                          <a:latin typeface="Calibri"/>
                        </a:rPr>
                        <a:t>API</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00" b="0" i="0">
                          <a:solidFill>
                            <a:srgbClr val="15323F"/>
                          </a:solidFill>
                          <a:latin typeface="Calibri"/>
                        </a:rPr>
                        <a:t>programmatic access beside the web interface</a:t>
                      </a:r>
                    </a:p>
                  </a:txBody>
                  <a:tcPr marL="54864" marR="54864" marT="27432" marB="27432" anchor="ctr">
                    <a:lnL w="0">
                      <a:noFill/>
                    </a:lnL>
                    <a:lnR w="0">
                      <a:noFill/>
                    </a:lnR>
                    <a:lnT w="0">
                      <a:noFill/>
                    </a:lnT>
                    <a:lnB w="6350">
                      <a:solidFill>
                        <a:srgbClr val="DDE4E8"/>
                      </a:solidFill>
                    </a:lnB>
                    <a:solidFill>
                      <a:srgbClr val="F4F7F8"/>
                    </a:solidFill>
                  </a:tcPr>
                </a:tc>
              </a:tr>
              <a:tr h="274320">
                <a:tc>
                  <a:txBody>
                    <a:bodyPr wrap="square"/>
                    <a:lstStyle/>
                    <a:p>
                      <a:pPr algn="l"/>
                      <a:r>
                        <a:rPr sz="1000" b="1" i="0">
                          <a:solidFill>
                            <a:srgbClr val="15323F"/>
                          </a:solidFill>
                          <a:latin typeface="Calibri"/>
                        </a:rPr>
                        <a:t>Out-of-distribution flag</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00" b="0" i="0">
                          <a:solidFill>
                            <a:srgbClr val="15323F"/>
                          </a:solidFill>
                          <a:latin typeface="Calibri"/>
                        </a:rPr>
                        <a:t>warns for a protein cluster unseen in training</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000" b="1" i="0">
                          <a:solidFill>
                            <a:srgbClr val="15323F"/>
                          </a:solidFill>
                          <a:latin typeface="Calibri"/>
                        </a:rPr>
                        <a:t>Compartment flag</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00" b="0" i="0">
                          <a:solidFill>
                            <a:srgbClr val="15323F"/>
                          </a:solidFill>
                          <a:latin typeface="Calibri"/>
                        </a:rPr>
                        <a:t>labels are cytosolic; nuclear or secreted contexts flagged</a:t>
                      </a:r>
                    </a:p>
                  </a:txBody>
                  <a:tcPr marL="54864" marR="54864" marT="27432" marB="27432" anchor="ctr">
                    <a:lnL w="0">
                      <a:noFill/>
                    </a:lnL>
                    <a:lnR w="0">
                      <a:noFill/>
                    </a:lnR>
                    <a:lnT w="0">
                      <a:noFill/>
                    </a:lnT>
                    <a:lnB w="6350">
                      <a:solidFill>
                        <a:srgbClr val="DDE4E8"/>
                      </a:solidFill>
                    </a:lnB>
                    <a:solidFill>
                      <a:srgbClr val="F4F7F8"/>
                    </a:solidFill>
                  </a:tcPr>
                </a:tc>
              </a:tr>
              <a:tr h="274320">
                <a:tc>
                  <a:txBody>
                    <a:bodyPr wrap="square"/>
                    <a:lstStyle/>
                    <a:p>
                      <a:pPr algn="l"/>
                      <a:r>
                        <a:rPr sz="1000" b="1" i="0">
                          <a:solidFill>
                            <a:srgbClr val="15323F"/>
                          </a:solidFill>
                          <a:latin typeface="Calibri"/>
                        </a:rPr>
                        <a:t>Label provenance</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00" b="0" i="0">
                          <a:solidFill>
                            <a:srgbClr val="15323F"/>
                          </a:solidFill>
                          <a:latin typeface="Calibri"/>
                        </a:rPr>
                        <a:t>each measured cell shown with source and replicate values</a:t>
                      </a:r>
                    </a:p>
                  </a:txBody>
                  <a:tcPr marL="54864" marR="54864" marT="27432" marB="27432" anchor="ctr">
                    <a:lnL w="0">
                      <a:noFill/>
                    </a:lnL>
                    <a:lnR w="0">
                      <a:noFill/>
                    </a:lnR>
                    <a:lnT w="0">
                      <a:noFill/>
                    </a:lnT>
                    <a:lnB w="6350">
                      <a:solidFill>
                        <a:srgbClr val="DDE4E8"/>
                      </a:solidFill>
                    </a:lnB>
                    <a:solidFill>
                      <a:srgbClr val="FFFFFF"/>
                    </a:solidFill>
                  </a:tcPr>
                </a:tc>
              </a:tr>
            </a:tbl>
          </a:graphicData>
        </a:graphic>
      </p:graphicFrame>
      <p:graphicFrame>
        <p:nvGraphicFramePr>
          <p:cNvPr id="31" name="comparison"/>
          <p:cNvGraphicFramePr>
            <a:graphicFrameLocks noGrp="1"/>
          </p:cNvGraphicFramePr>
          <p:nvPr/>
        </p:nvGraphicFramePr>
        <p:xfrm>
          <a:off x="5577840" y="3291840"/>
          <a:ext cx="6062472" cy="2042160"/>
        </p:xfrm>
        <a:graphic>
          <a:graphicData uri="http://schemas.openxmlformats.org/drawingml/2006/table">
            <a:tbl>
              <a:tblPr firstRow="0" bandRow="0">
                <a:tableStyleId>{2D5ABB26-0587-4C30-8999-92F81FD0307C}</a:tableStyleId>
              </a:tblPr>
              <a:tblGrid>
                <a:gridCol w="1280160"/>
                <a:gridCol w="960120"/>
                <a:gridCol w="457200"/>
                <a:gridCol w="1051560"/>
                <a:gridCol w="1234440"/>
                <a:gridCol w="1078992"/>
              </a:tblGrid>
              <a:tr h="396240">
                <a:tc>
                  <a:txBody>
                    <a:bodyPr wrap="square"/>
                    <a:lstStyle/>
                    <a:p>
                      <a:pPr algn="l"/>
                      <a:r>
                        <a:rPr sz="1000" b="1" i="0">
                          <a:solidFill>
                            <a:srgbClr val="FAFBFC"/>
                          </a:solidFill>
                          <a:latin typeface="Calibri"/>
                        </a:rPr>
                        <a:t>Tool</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000" b="1" i="0">
                          <a:solidFill>
                            <a:srgbClr val="FAFBFC"/>
                          </a:solidFill>
                          <a:latin typeface="Calibri"/>
                        </a:rPr>
                        <a:t>Output unit</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ctr"/>
                      <a:r>
                        <a:rPr sz="1000" b="1" i="0">
                          <a:solidFill>
                            <a:srgbClr val="FAFBFC"/>
                          </a:solidFill>
                          <a:latin typeface="Calibri"/>
                        </a:rPr>
                        <a:t>API</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ctr"/>
                      <a:r>
                        <a:rPr sz="1000" b="1" i="0">
                          <a:solidFill>
                            <a:srgbClr val="FAFBFC"/>
                          </a:solidFill>
                          <a:latin typeface="Calibri"/>
                        </a:rPr>
                        <a:t>Any mutation on the web</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ctr"/>
                      <a:r>
                        <a:rPr sz="1000" b="1" i="0">
                          <a:solidFill>
                            <a:srgbClr val="FAFBFC"/>
                          </a:solidFill>
                          <a:latin typeface="Calibri"/>
                        </a:rPr>
                        <a:t>Uncertainty vs measured ceiling</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ctr"/>
                      <a:r>
                        <a:rPr sz="1000" b="1" i="0">
                          <a:solidFill>
                            <a:srgbClr val="FAFBFC"/>
                          </a:solidFill>
                          <a:latin typeface="Calibri"/>
                        </a:rPr>
                        <a:t>Provenance · compartment flag</a:t>
                      </a:r>
                    </a:p>
                  </a:txBody>
                  <a:tcPr marL="54864" marR="54864" marT="27432" marB="27432" anchor="ctr">
                    <a:lnL w="0">
                      <a:noFill/>
                    </a:lnL>
                    <a:lnR w="0">
                      <a:noFill/>
                    </a:lnR>
                    <a:lnT w="0">
                      <a:noFill/>
                    </a:lnT>
                    <a:lnB w="6350">
                      <a:solidFill>
                        <a:srgbClr val="DDE4E8"/>
                      </a:solidFill>
                    </a:lnB>
                    <a:solidFill>
                      <a:srgbClr val="15323F"/>
                    </a:solidFill>
                  </a:tcPr>
                </a:tc>
              </a:tr>
              <a:tr h="274320">
                <a:tc>
                  <a:txBody>
                    <a:bodyPr wrap="square"/>
                    <a:lstStyle/>
                    <a:p>
                      <a:pPr algn="l"/>
                      <a:r>
                        <a:rPr sz="1000" b="1" i="0">
                          <a:solidFill>
                            <a:srgbClr val="15323F"/>
                          </a:solidFill>
                          <a:latin typeface="Calibri"/>
                        </a:rPr>
                        <a:t>DEGRONOPEDIA</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00" b="0" i="0">
                          <a:solidFill>
                            <a:srgbClr val="15323F"/>
                          </a:solidFill>
                          <a:latin typeface="Calibri"/>
                        </a:rPr>
                        <a:t>motif</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000" b="1" i="0">
                          <a:solidFill>
                            <a:srgbClr val="15323F"/>
                          </a:solidFill>
                          <a:latin typeface="Calibri"/>
                        </a:rPr>
                        <a:t>MetaDegron</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00" b="0" i="0">
                          <a:solidFill>
                            <a:srgbClr val="15323F"/>
                          </a:solidFill>
                          <a:latin typeface="Calibri"/>
                        </a:rPr>
                        <a:t>peptide</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4F7F8"/>
                    </a:solidFill>
                  </a:tcPr>
                </a:tc>
              </a:tr>
              <a:tr h="274320">
                <a:tc>
                  <a:txBody>
                    <a:bodyPr wrap="square"/>
                    <a:lstStyle/>
                    <a:p>
                      <a:pPr algn="l"/>
                      <a:r>
                        <a:rPr sz="1000" b="1" i="0">
                          <a:solidFill>
                            <a:srgbClr val="15323F"/>
                          </a:solidFill>
                          <a:latin typeface="Calibri"/>
                        </a:rPr>
                        <a:t>PAP Colab</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00" b="0" i="0">
                          <a:solidFill>
                            <a:srgbClr val="15323F"/>
                          </a:solidFill>
                          <a:latin typeface="Calibri"/>
                        </a:rPr>
                        <a:t>tile</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000" b="1" i="0">
                          <a:solidFill>
                            <a:srgbClr val="15323F"/>
                          </a:solidFill>
                          <a:latin typeface="Calibri"/>
                        </a:rPr>
                        <a:t>Zhang SVM</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000" b="0" i="0">
                          <a:solidFill>
                            <a:srgbClr val="15323F"/>
                          </a:solidFill>
                          <a:latin typeface="Calibri"/>
                        </a:rPr>
                        <a:t>peptide</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4F7F8"/>
                    </a:solidFill>
                  </a:tcPr>
                </a:tc>
              </a:tr>
              <a:tr h="274320">
                <a:tc>
                  <a:txBody>
                    <a:bodyPr wrap="square"/>
                    <a:lstStyle/>
                    <a:p>
                      <a:pPr algn="l"/>
                      <a:r>
                        <a:rPr sz="1000" b="1" i="0">
                          <a:solidFill>
                            <a:srgbClr val="15323F"/>
                          </a:solidFill>
                          <a:latin typeface="Calibri"/>
                        </a:rPr>
                        <a:t>Degformer</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000" b="0" i="0">
                          <a:solidFill>
                            <a:srgbClr val="15323F"/>
                          </a:solidFill>
                          <a:latin typeface="Calibri"/>
                        </a:rPr>
                        <a:t>28×20</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ctr"/>
                      <a:r>
                        <a:rPr sz="1000" b="0" i="0">
                          <a:solidFill>
                            <a:srgbClr val="15323F"/>
                          </a:solidFill>
                          <a:latin typeface="Calibri"/>
                        </a:rPr>
                        <a:t>–</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000" b="1" i="0">
                          <a:solidFill>
                            <a:srgbClr val="D1495B"/>
                          </a:solidFill>
                          <a:latin typeface="Calibri"/>
                        </a:rPr>
                        <a:t>This service</a:t>
                      </a:r>
                    </a:p>
                  </a:txBody>
                  <a:tcPr marL="54864" marR="54864" marT="27432" marB="27432" anchor="ctr">
                    <a:lnL w="0">
                      <a:noFill/>
                    </a:lnL>
                    <a:lnR w="0">
                      <a:noFill/>
                    </a:lnR>
                    <a:lnT w="0">
                      <a:noFill/>
                    </a:lnT>
                    <a:lnB w="6350">
                      <a:solidFill>
                        <a:srgbClr val="DDE4E8"/>
                      </a:solidFill>
                    </a:lnB>
                    <a:solidFill>
                      <a:srgbClr val="F6DDE1"/>
                    </a:solidFill>
                  </a:tcPr>
                </a:tc>
                <a:tc>
                  <a:txBody>
                    <a:bodyPr wrap="square"/>
                    <a:lstStyle/>
                    <a:p>
                      <a:pPr algn="l"/>
                      <a:r>
                        <a:rPr sz="1000" b="1" i="0">
                          <a:solidFill>
                            <a:srgbClr val="15323F"/>
                          </a:solidFill>
                          <a:latin typeface="Calibri"/>
                        </a:rPr>
                        <a:t>28×20 + map</a:t>
                      </a:r>
                    </a:p>
                  </a:txBody>
                  <a:tcPr marL="54864" marR="54864" marT="27432" marB="27432" anchor="ctr">
                    <a:lnL w="0">
                      <a:noFill/>
                    </a:lnL>
                    <a:lnR w="0">
                      <a:noFill/>
                    </a:lnR>
                    <a:lnT w="0">
                      <a:noFill/>
                    </a:lnT>
                    <a:lnB w="6350">
                      <a:solidFill>
                        <a:srgbClr val="DDE4E8"/>
                      </a:solidFill>
                    </a:lnB>
                    <a:solidFill>
                      <a:srgbClr val="F6DDE1"/>
                    </a:solidFill>
                  </a:tcPr>
                </a:tc>
                <a:tc>
                  <a:txBody>
                    <a:bodyPr wrap="square"/>
                    <a:lstStyle/>
                    <a:p>
                      <a:pPr algn="ctr"/>
                      <a:r>
                        <a:rPr sz="1000" b="1" i="0">
                          <a:solidFill>
                            <a:srgbClr val="1F7A6F"/>
                          </a:solidFill>
                          <a:latin typeface="Calibri"/>
                        </a:rPr>
                        <a:t>●</a:t>
                      </a:r>
                    </a:p>
                  </a:txBody>
                  <a:tcPr marL="54864" marR="54864" marT="27432" marB="27432" anchor="ctr">
                    <a:lnL w="0">
                      <a:noFill/>
                    </a:lnL>
                    <a:lnR w="0">
                      <a:noFill/>
                    </a:lnR>
                    <a:lnT w="0">
                      <a:noFill/>
                    </a:lnT>
                    <a:lnB w="6350">
                      <a:solidFill>
                        <a:srgbClr val="DDE4E8"/>
                      </a:solidFill>
                    </a:lnB>
                    <a:solidFill>
                      <a:srgbClr val="F6DDE1"/>
                    </a:solidFill>
                  </a:tcPr>
                </a:tc>
                <a:tc>
                  <a:txBody>
                    <a:bodyPr wrap="square"/>
                    <a:lstStyle/>
                    <a:p>
                      <a:pPr algn="ctr"/>
                      <a:r>
                        <a:rPr sz="1000" b="1" i="0">
                          <a:solidFill>
                            <a:srgbClr val="1F7A6F"/>
                          </a:solidFill>
                          <a:latin typeface="Calibri"/>
                        </a:rPr>
                        <a:t>●</a:t>
                      </a:r>
                    </a:p>
                  </a:txBody>
                  <a:tcPr marL="54864" marR="54864" marT="27432" marB="27432" anchor="ctr">
                    <a:lnL w="0">
                      <a:noFill/>
                    </a:lnL>
                    <a:lnR w="0">
                      <a:noFill/>
                    </a:lnR>
                    <a:lnT w="0">
                      <a:noFill/>
                    </a:lnT>
                    <a:lnB w="6350">
                      <a:solidFill>
                        <a:srgbClr val="DDE4E8"/>
                      </a:solidFill>
                    </a:lnB>
                    <a:solidFill>
                      <a:srgbClr val="F6DDE1"/>
                    </a:solidFill>
                  </a:tcPr>
                </a:tc>
                <a:tc>
                  <a:txBody>
                    <a:bodyPr wrap="square"/>
                    <a:lstStyle/>
                    <a:p>
                      <a:pPr algn="ctr"/>
                      <a:r>
                        <a:rPr sz="1000" b="1" i="0">
                          <a:solidFill>
                            <a:srgbClr val="1F7A6F"/>
                          </a:solidFill>
                          <a:latin typeface="Calibri"/>
                        </a:rPr>
                        <a:t>●</a:t>
                      </a:r>
                    </a:p>
                  </a:txBody>
                  <a:tcPr marL="54864" marR="54864" marT="27432" marB="27432" anchor="ctr">
                    <a:lnL w="0">
                      <a:noFill/>
                    </a:lnL>
                    <a:lnR w="0">
                      <a:noFill/>
                    </a:lnR>
                    <a:lnT w="0">
                      <a:noFill/>
                    </a:lnT>
                    <a:lnB w="6350">
                      <a:solidFill>
                        <a:srgbClr val="DDE4E8"/>
                      </a:solidFill>
                    </a:lnB>
                    <a:solidFill>
                      <a:srgbClr val="F6DDE1"/>
                    </a:solidFill>
                  </a:tcPr>
                </a:tc>
                <a:tc>
                  <a:txBody>
                    <a:bodyPr wrap="square"/>
                    <a:lstStyle/>
                    <a:p>
                      <a:pPr algn="ctr"/>
                      <a:r>
                        <a:rPr sz="1000" b="1" i="0">
                          <a:solidFill>
                            <a:srgbClr val="1F7A6F"/>
                          </a:solidFill>
                          <a:latin typeface="Calibri"/>
                        </a:rPr>
                        <a:t>●</a:t>
                      </a:r>
                    </a:p>
                  </a:txBody>
                  <a:tcPr marL="54864" marR="54864" marT="27432" marB="27432" anchor="ctr">
                    <a:lnL w="0">
                      <a:noFill/>
                    </a:lnL>
                    <a:lnR w="0">
                      <a:noFill/>
                    </a:lnR>
                    <a:lnT w="0">
                      <a:noFill/>
                    </a:lnT>
                    <a:lnB w="6350">
                      <a:solidFill>
                        <a:srgbClr val="DDE4E8"/>
                      </a:solidFill>
                    </a:lnB>
                    <a:solidFill>
                      <a:srgbClr val="F6DDE1"/>
                    </a:solidFill>
                  </a:tcPr>
                </a:tc>
              </a:tr>
            </a:tbl>
          </a:graphicData>
        </a:graphic>
      </p:graphicFrame>
      <p:sp>
        <p:nvSpPr>
          <p:cNvPr id="32" name="evidence label"/>
          <p:cNvSpPr txBox="1"/>
          <p:nvPr/>
        </p:nvSpPr>
        <p:spPr>
          <a:xfrm>
            <a:off x="548640" y="6016752"/>
            <a:ext cx="11094415" cy="310896"/>
          </a:xfrm>
          <a:prstGeom prst="rect">
            <a:avLst/>
          </a:prstGeom>
          <a:noFill/>
        </p:spPr>
        <p:txBody>
          <a:bodyPr wrap="square" lIns="0" rIns="0" tIns="0" bIns="0" anchor="t">
            <a:spAutoFit/>
          </a:bodyPr>
          <a:lstStyle/>
          <a:p>
            <a:pPr algn="l"/>
            <a:r>
              <a:rPr sz="1000" b="0" i="0">
                <a:solidFill>
                  <a:srgbClr val="5B7380"/>
                </a:solidFill>
                <a:latin typeface="Calibri"/>
              </a:rPr>
              <a:t>○ designed, not built. Comparison as checked on 14–15 Oct 2026 from each tool's paper, page or source; Degformer has no publication. Any ClinVar annotation shown carries ClinVar's attribution and its “not for direct diagnostic use” notice.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500"/>
                                        <p:tgtEl>
                                          <p:spTgt spid="22"/>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wrap="square" anchor="t" lIns="0" rIns="0" tIns="0" bIns="0"/>
          <a:lstStyle/>
          <a:p>
            <a:pPr algn="l"/>
            <a:r>
              <a:rPr sz="2500" b="1">
                <a:solidFill>
                  <a:srgbClr val="15323F"/>
                </a:solidFill>
                <a:latin typeface="Calibri"/>
              </a:rPr>
              <a:t>The evaluation harness makes the comparisons a command, and most future queries lie outside training clusters</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24</a:t>
            </a:r>
          </a:p>
        </p:txBody>
      </p:sp>
      <p:sp>
        <p:nvSpPr>
          <p:cNvPr id="15" name="harness head"/>
          <p:cNvSpPr txBox="1"/>
          <p:nvPr/>
        </p:nvSpPr>
        <p:spPr>
          <a:xfrm>
            <a:off x="548640" y="1325880"/>
            <a:ext cx="5669280" cy="274320"/>
          </a:xfrm>
          <a:prstGeom prst="rect">
            <a:avLst/>
          </a:prstGeom>
          <a:noFill/>
        </p:spPr>
        <p:txBody>
          <a:bodyPr wrap="square" lIns="0" rIns="0" tIns="0" bIns="0" anchor="t">
            <a:spAutoFit/>
          </a:bodyPr>
          <a:lstStyle/>
          <a:p>
            <a:pPr algn="l"/>
            <a:r>
              <a:rPr sz="1300" b="1" i="0">
                <a:solidFill>
                  <a:srgbClr val="386FA4"/>
                </a:solidFill>
                <a:latin typeface="Calibri"/>
              </a:rPr>
              <a:t>Evaluation harness: the method chapter, made re-runnable</a:t>
            </a:r>
          </a:p>
        </p:txBody>
      </p:sp>
      <p:sp>
        <p:nvSpPr>
          <p:cNvPr id="16" name="loader 1"/>
          <p:cNvSpPr/>
          <p:nvPr/>
        </p:nvSpPr>
        <p:spPr>
          <a:xfrm>
            <a:off x="548640" y="1737360"/>
            <a:ext cx="2377440" cy="438912"/>
          </a:xfrm>
          <a:prstGeom prst="roundRect">
            <a:avLst>
              <a:gd name="adj" fmla="val 20833"/>
            </a:avLst>
          </a:prstGeom>
          <a:solidFill>
            <a:srgbClr val="DCE7F2"/>
          </a:solidFill>
          <a:ln w="12700">
            <a:solidFill>
              <a:srgbClr val="386FA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i="0">
                <a:solidFill>
                  <a:srgbClr val="15323F"/>
                </a:solidFill>
                <a:latin typeface="Calibri"/>
              </a:rPr>
              <a:t>composition baseline</a:t>
            </a:r>
          </a:p>
        </p:txBody>
      </p:sp>
      <p:sp>
        <p:nvSpPr>
          <p:cNvPr id="17" name="loader 2"/>
          <p:cNvSpPr/>
          <p:nvPr/>
        </p:nvSpPr>
        <p:spPr>
          <a:xfrm>
            <a:off x="548640" y="2267712"/>
            <a:ext cx="2377440" cy="438912"/>
          </a:xfrm>
          <a:prstGeom prst="roundRect">
            <a:avLst>
              <a:gd name="adj" fmla="val 20833"/>
            </a:avLst>
          </a:prstGeom>
          <a:solidFill>
            <a:srgbClr val="DCE7F2"/>
          </a:solidFill>
          <a:ln w="12700">
            <a:solidFill>
              <a:srgbClr val="386FA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i="0">
                <a:solidFill>
                  <a:srgbClr val="15323F"/>
                </a:solidFill>
                <a:latin typeface="Calibri"/>
              </a:rPr>
              <a:t>ΔPAP (cnn2w1, cnn2w7)</a:t>
            </a:r>
          </a:p>
        </p:txBody>
      </p:sp>
      <p:sp>
        <p:nvSpPr>
          <p:cNvPr id="18" name="loader 3"/>
          <p:cNvSpPr/>
          <p:nvPr/>
        </p:nvSpPr>
        <p:spPr>
          <a:xfrm>
            <a:off x="548640" y="2798063"/>
            <a:ext cx="2377440" cy="438912"/>
          </a:xfrm>
          <a:prstGeom prst="roundRect">
            <a:avLst>
              <a:gd name="adj" fmla="val 20833"/>
            </a:avLst>
          </a:prstGeom>
          <a:solidFill>
            <a:srgbClr val="DCE7F2"/>
          </a:solidFill>
          <a:ln w="12700">
            <a:solidFill>
              <a:srgbClr val="386FA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i="0">
                <a:solidFill>
                  <a:srgbClr val="15323F"/>
                </a:solidFill>
                <a:latin typeface="Calibri"/>
              </a:rPr>
              <a:t>Degformer checkpoint (isolated)</a:t>
            </a:r>
          </a:p>
        </p:txBody>
      </p:sp>
      <p:sp>
        <p:nvSpPr>
          <p:cNvPr id="19" name="loader 4"/>
          <p:cNvSpPr/>
          <p:nvPr/>
        </p:nvSpPr>
        <p:spPr>
          <a:xfrm>
            <a:off x="548640" y="3328415"/>
            <a:ext cx="2377440" cy="438912"/>
          </a:xfrm>
          <a:prstGeom prst="roundRect">
            <a:avLst>
              <a:gd name="adj" fmla="val 20833"/>
            </a:avLst>
          </a:prstGeom>
          <a:solidFill>
            <a:srgbClr val="DCE7F2"/>
          </a:solidFill>
          <a:ln w="12700">
            <a:solidFill>
              <a:srgbClr val="386FA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i="0">
                <a:solidFill>
                  <a:srgbClr val="15323F"/>
                </a:solidFill>
                <a:latin typeface="Calibri"/>
              </a:rPr>
              <a:t>the thesis model</a:t>
            </a:r>
          </a:p>
        </p:txBody>
      </p:sp>
      <p:sp>
        <p:nvSpPr>
          <p:cNvPr id="20" name="split gate"/>
          <p:cNvSpPr/>
          <p:nvPr/>
        </p:nvSpPr>
        <p:spPr>
          <a:xfrm>
            <a:off x="3154680" y="1737360"/>
            <a:ext cx="457200" cy="2029968"/>
          </a:xfrm>
          <a:prstGeom prst="roundRect">
            <a:avLst>
              <a:gd name="adj" fmla="val 20000"/>
            </a:avLst>
          </a:prstGeom>
          <a:solidFill>
            <a:srgbClr val="15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gate label"/>
          <p:cNvSpPr txBox="1"/>
          <p:nvPr/>
        </p:nvSpPr>
        <p:spPr>
          <a:xfrm>
            <a:off x="3063240" y="3813048"/>
            <a:ext cx="640080" cy="457200"/>
          </a:xfrm>
          <a:prstGeom prst="rect">
            <a:avLst/>
          </a:prstGeom>
          <a:noFill/>
        </p:spPr>
        <p:txBody>
          <a:bodyPr wrap="square" lIns="0" rIns="0" tIns="0" bIns="0" anchor="t">
            <a:spAutoFit/>
          </a:bodyPr>
          <a:lstStyle/>
          <a:p>
            <a:pPr algn="ctr"/>
            <a:r>
              <a:rPr sz="1000" b="1" i="0">
                <a:solidFill>
                  <a:srgbClr val="15323F"/>
                </a:solidFill>
                <a:latin typeface="Calibri"/>
              </a:rPr>
              <a:t>same</a:t>
            </a:r>
          </a:p>
          <a:p>
            <a:pPr algn="ctr"/>
            <a:r>
              <a:rPr sz="1000" b="1" i="0">
                <a:solidFill>
                  <a:srgbClr val="15323F"/>
                </a:solidFill>
                <a:latin typeface="Calibri"/>
              </a:rPr>
              <a:t>split</a:t>
            </a:r>
          </a:p>
        </p:txBody>
      </p:sp>
      <p:sp>
        <p:nvSpPr>
          <p:cNvPr id="22" name="report"/>
          <p:cNvSpPr/>
          <p:nvPr/>
        </p:nvSpPr>
        <p:spPr>
          <a:xfrm>
            <a:off x="3886200" y="2148840"/>
            <a:ext cx="2331720" cy="1188720"/>
          </a:xfrm>
          <a:prstGeom prst="roundRect">
            <a:avLst>
              <a:gd name="adj" fmla="val 7692"/>
            </a:avLst>
          </a:prstGeom>
          <a:solidFill>
            <a:srgbClr val="D9EFEC"/>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1F7A6F"/>
                </a:solidFill>
                <a:latin typeface="Calibri"/>
              </a:rPr>
              <a:t>one report</a:t>
            </a:r>
          </a:p>
          <a:p>
            <a:pPr algn="ctr"/>
            <a:r>
              <a:rPr sz="1050" b="0" i="0">
                <a:solidFill>
                  <a:srgbClr val="15323F"/>
                </a:solidFill>
                <a:latin typeface="Calibri"/>
              </a:rPr>
              <a:t>Δ, CI, ceiling, MDE printed next to every number</a:t>
            </a:r>
          </a:p>
        </p:txBody>
      </p:sp>
      <p:sp>
        <p:nvSpPr>
          <p:cNvPr id="23" name="to report"/>
          <p:cNvSpPr/>
          <p:nvPr/>
        </p:nvSpPr>
        <p:spPr>
          <a:xfrm>
            <a:off x="3648456" y="2651760"/>
            <a:ext cx="201168" cy="182880"/>
          </a:xfrm>
          <a:prstGeom prst="rightArrow">
            <a:avLst/>
          </a:prstGeom>
          <a:solidFill>
            <a:srgbClr val="8FA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4" name="harness points"/>
          <p:cNvSpPr txBox="1"/>
          <p:nvPr/>
        </p:nvSpPr>
        <p:spPr>
          <a:xfrm>
            <a:off x="548640" y="4343400"/>
            <a:ext cx="5669280" cy="1554480"/>
          </a:xfrm>
          <a:prstGeom prst="rect">
            <a:avLst/>
          </a:prstGeom>
          <a:noFill/>
        </p:spPr>
        <p:txBody>
          <a:bodyPr wrap="square" lIns="0" rIns="0" tIns="0" bIns="0" anchor="t">
            <a:spAutoFit/>
          </a:bodyPr>
          <a:lstStyle/>
          <a:p>
            <a:pPr algn="l" marL="182880" indent="-182880">
              <a:spcBef>
                <a:spcPts val="400"/>
              </a:spcBef>
              <a:buClr>
                <a:srgbClr val="D1495B"/>
              </a:buClr>
              <a:buFont typeface="Arial"/>
              <a:buChar char="•"/>
            </a:pPr>
            <a:r>
              <a:rPr sz="1150" b="0" i="0">
                <a:solidFill>
                  <a:srgbClr val="15323F"/>
                </a:solidFill>
                <a:latin typeface="Calibri"/>
              </a:rPr>
              <a:t>One split for all: protein clusters, MMseqs2 ≥30% / 80%; overlapping clusters removed for cross-source tests</a:t>
            </a:r>
          </a:p>
          <a:p>
            <a:pPr algn="l" marL="182880" indent="-182880">
              <a:spcBef>
                <a:spcPts val="400"/>
              </a:spcBef>
              <a:buClr>
                <a:srgbClr val="D1495B"/>
              </a:buClr>
              <a:buFont typeface="Arial"/>
              <a:buChar char="•"/>
            </a:pPr>
            <a:r>
              <a:rPr sz="1150" b="0" i="0">
                <a:solidFill>
                  <a:srgbClr val="15323F"/>
                </a:solidFill>
                <a:latin typeface="Calibri"/>
              </a:rPr>
              <a:t>Fixed seeds, config files and result JSON: every number traceable to a file</a:t>
            </a:r>
          </a:p>
          <a:p>
            <a:pPr algn="l">
              <a:spcBef>
                <a:spcPts val="600"/>
              </a:spcBef>
            </a:pPr>
            <a:r>
              <a:rPr sz="1150" b="1" i="0">
                <a:solidFill>
                  <a:srgbClr val="15323F"/>
                </a:solidFill>
                <a:latin typeface="Calibri"/>
              </a:rPr>
              <a:t>→ The comparisons on slides 17 and 22 become a command anyone can re-run, not a table to trust.</a:t>
            </a:r>
          </a:p>
        </p:txBody>
      </p:sp>
      <p:sp>
        <p:nvSpPr>
          <p:cNvPr id="25" name="domain head"/>
          <p:cNvSpPr txBox="1"/>
          <p:nvPr/>
        </p:nvSpPr>
        <p:spPr>
          <a:xfrm>
            <a:off x="6720840" y="1325880"/>
            <a:ext cx="4922215" cy="274320"/>
          </a:xfrm>
          <a:prstGeom prst="rect">
            <a:avLst/>
          </a:prstGeom>
          <a:noFill/>
        </p:spPr>
        <p:txBody>
          <a:bodyPr wrap="square" lIns="0" rIns="0" tIns="0" bIns="0" anchor="t">
            <a:spAutoFit/>
          </a:bodyPr>
          <a:lstStyle/>
          <a:p>
            <a:pPr algn="l"/>
            <a:r>
              <a:rPr sz="1300" b="1" i="0">
                <a:solidFill>
                  <a:srgbClr val="386FA4"/>
                </a:solidFill>
                <a:latin typeface="Calibri"/>
              </a:rPr>
              <a:t>Application domain: what the service will be asked about</a:t>
            </a:r>
          </a:p>
        </p:txBody>
      </p:sp>
      <p:sp>
        <p:nvSpPr>
          <p:cNvPr id="26" name="seen clusters"/>
          <p:cNvSpPr/>
          <p:nvPr/>
        </p:nvSpPr>
        <p:spPr>
          <a:xfrm>
            <a:off x="6720840" y="1737360"/>
            <a:ext cx="625121" cy="4572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7" name="unseen clusters"/>
          <p:cNvSpPr/>
          <p:nvPr/>
        </p:nvSpPr>
        <p:spPr>
          <a:xfrm>
            <a:off x="7345961" y="1737360"/>
            <a:ext cx="4297093" cy="457200"/>
          </a:xfrm>
          <a:prstGeom prst="rect">
            <a:avLst/>
          </a:prstGeom>
          <a:solidFill>
            <a:srgbClr val="E4B5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15323F"/>
                </a:solidFill>
                <a:latin typeface="Calibri"/>
              </a:rPr>
              <a:t>unseen clusters  87.3%</a:t>
            </a:r>
          </a:p>
        </p:txBody>
      </p:sp>
      <p:sp>
        <p:nvSpPr>
          <p:cNvPr id="28" name="bar caption"/>
          <p:cNvSpPr txBox="1"/>
          <p:nvPr/>
        </p:nvSpPr>
        <p:spPr>
          <a:xfrm>
            <a:off x="6720840" y="2240280"/>
            <a:ext cx="4922215" cy="457200"/>
          </a:xfrm>
          <a:prstGeom prst="rect">
            <a:avLst/>
          </a:prstGeom>
          <a:noFill/>
        </p:spPr>
        <p:txBody>
          <a:bodyPr wrap="square" lIns="0" rIns="0" tIns="0" bIns="0" anchor="t">
            <a:spAutoFit/>
          </a:bodyPr>
          <a:lstStyle/>
          <a:p>
            <a:pPr algn="l"/>
            <a:r>
              <a:rPr sz="1100" b="1" i="0">
                <a:solidFill>
                  <a:srgbClr val="1F7A6F"/>
                </a:solidFill>
                <a:latin typeface="Calibri"/>
              </a:rPr>
              <a:t>seen 12.7%</a:t>
            </a:r>
            <a:r>
              <a:rPr sz="1100" b="0" i="0">
                <a:solidFill>
                  <a:srgbClr val="15323F"/>
                </a:solidFill>
                <a:latin typeface="Calibri"/>
              </a:rPr>
              <a:t>   of 116,702 degron tiles in the GPS peptidome (PSI ≤ 3.0)</a:t>
            </a:r>
          </a:p>
        </p:txBody>
      </p:sp>
      <p:graphicFrame>
        <p:nvGraphicFramePr>
          <p:cNvPr id="29" name="domain counts"/>
          <p:cNvGraphicFramePr>
            <a:graphicFrameLocks noGrp="1"/>
          </p:cNvGraphicFramePr>
          <p:nvPr/>
        </p:nvGraphicFramePr>
        <p:xfrm>
          <a:off x="6720840" y="2788920"/>
          <a:ext cx="4922215" cy="1371600"/>
        </p:xfrm>
        <a:graphic>
          <a:graphicData uri="http://schemas.openxmlformats.org/drawingml/2006/table">
            <a:tbl>
              <a:tblPr firstRow="0" bandRow="0">
                <a:tableStyleId>{2D5ABB26-0587-4C30-8999-92F81FD0307C}</a:tableStyleId>
              </a:tblPr>
              <a:tblGrid>
                <a:gridCol w="3824935"/>
                <a:gridCol w="1097280"/>
              </a:tblGrid>
              <a:tr h="274320">
                <a:tc>
                  <a:txBody>
                    <a:bodyPr wrap="square"/>
                    <a:lstStyle/>
                    <a:p>
                      <a:pPr algn="l"/>
                      <a:r>
                        <a:rPr sz="1100" b="1" i="0">
                          <a:solidFill>
                            <a:srgbClr val="FAFBFC"/>
                          </a:solidFill>
                          <a:latin typeface="Calibri"/>
                        </a:rPr>
                        <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r"/>
                      <a:r>
                        <a:rPr sz="1100" b="1" i="0">
                          <a:solidFill>
                            <a:srgbClr val="FAFBFC"/>
                          </a:solidFill>
                          <a:latin typeface="Calibri"/>
                        </a:rPr>
                        <a:t>Count</a:t>
                      </a:r>
                    </a:p>
                  </a:txBody>
                  <a:tcPr marL="54864" marR="54864" marT="27432" marB="27432" anchor="ctr">
                    <a:lnL w="0">
                      <a:noFill/>
                    </a:lnL>
                    <a:lnR w="0">
                      <a:noFill/>
                    </a:lnR>
                    <a:lnT w="0">
                      <a:noFill/>
                    </a:lnT>
                    <a:lnB w="6350">
                      <a:solidFill>
                        <a:srgbClr val="DDE4E8"/>
                      </a:solidFill>
                    </a:lnB>
                    <a:solidFill>
                      <a:srgbClr val="15323F"/>
                    </a:solidFill>
                  </a:tcPr>
                </a:tc>
              </a:tr>
              <a:tr h="274320">
                <a:tc>
                  <a:txBody>
                    <a:bodyPr wrap="square"/>
                    <a:lstStyle/>
                    <a:p>
                      <a:pPr algn="l"/>
                      <a:r>
                        <a:rPr sz="1100" b="0" i="0">
                          <a:solidFill>
                            <a:srgbClr val="15323F"/>
                          </a:solidFill>
                          <a:latin typeface="Calibri"/>
                        </a:rPr>
                        <a:t>Degron tiles in the GPS peptidome (PSI ≤ 3.0)</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r"/>
                      <a:r>
                        <a:rPr sz="1100" b="0" i="0">
                          <a:solidFill>
                            <a:srgbClr val="15323F"/>
                          </a:solidFill>
                          <a:latin typeface="Calibri"/>
                        </a:rPr>
                        <a:t>116,702</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100" b="0" i="0">
                          <a:solidFill>
                            <a:srgbClr val="15323F"/>
                          </a:solidFill>
                          <a:latin typeface="Calibri"/>
                        </a:rPr>
                        <a:t>…on proteins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r"/>
                      <a:r>
                        <a:rPr sz="1100" b="0" i="0">
                          <a:solidFill>
                            <a:srgbClr val="15323F"/>
                          </a:solidFill>
                          <a:latin typeface="Calibri"/>
                        </a:rPr>
                        <a:t>17,287</a:t>
                      </a:r>
                    </a:p>
                  </a:txBody>
                  <a:tcPr marL="54864" marR="54864" marT="27432" marB="27432" anchor="ctr">
                    <a:lnL w="0">
                      <a:noFill/>
                    </a:lnL>
                    <a:lnR w="0">
                      <a:noFill/>
                    </a:lnR>
                    <a:lnT w="0">
                      <a:noFill/>
                    </a:lnT>
                    <a:lnB w="6350">
                      <a:solidFill>
                        <a:srgbClr val="DDE4E8"/>
                      </a:solidFill>
                    </a:lnB>
                    <a:solidFill>
                      <a:srgbClr val="F4F7F8"/>
                    </a:solidFill>
                  </a:tcPr>
                </a:tc>
              </a:tr>
              <a:tr h="274320">
                <a:tc>
                  <a:txBody>
                    <a:bodyPr wrap="square"/>
                    <a:lstStyle/>
                    <a:p>
                      <a:pPr algn="l"/>
                      <a:r>
                        <a:rPr sz="1100" b="0" i="0">
                          <a:solidFill>
                            <a:srgbClr val="15323F"/>
                          </a:solidFill>
                          <a:latin typeface="Calibri"/>
                        </a:rPr>
                        <a:t>…in protein clusters unseen in training</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r"/>
                      <a:r>
                        <a:rPr sz="1100" b="0" i="0">
                          <a:solidFill>
                            <a:srgbClr val="15323F"/>
                          </a:solidFill>
                          <a:latin typeface="Calibri"/>
                        </a:rPr>
                        <a:t>87.3%</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100" b="0" i="0">
                          <a:solidFill>
                            <a:srgbClr val="15323F"/>
                          </a:solidFill>
                          <a:latin typeface="Calibri"/>
                        </a:rPr>
                        <a:t>ClinVar variants of uncertain significance inside those regions</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r"/>
                      <a:r>
                        <a:rPr sz="1100" b="0" i="0">
                          <a:solidFill>
                            <a:srgbClr val="15323F"/>
                          </a:solidFill>
                          <a:latin typeface="Calibri"/>
                        </a:rPr>
                        <a:t>530,412</a:t>
                      </a:r>
                    </a:p>
                  </a:txBody>
                  <a:tcPr marL="54864" marR="54864" marT="27432" marB="27432" anchor="ctr">
                    <a:lnL w="0">
                      <a:noFill/>
                    </a:lnL>
                    <a:lnR w="0">
                      <a:noFill/>
                    </a:lnR>
                    <a:lnT w="0">
                      <a:noFill/>
                    </a:lnT>
                    <a:lnB w="6350">
                      <a:solidFill>
                        <a:srgbClr val="DDE4E8"/>
                      </a:solidFill>
                    </a:lnB>
                    <a:solidFill>
                      <a:srgbClr val="F4F7F8"/>
                    </a:solidFill>
                  </a:tcPr>
                </a:tc>
              </a:tr>
            </a:tbl>
          </a:graphicData>
        </a:graphic>
      </p:graphicFrame>
      <p:sp>
        <p:nvSpPr>
          <p:cNvPr id="30" name="implication"/>
          <p:cNvSpPr/>
          <p:nvPr/>
        </p:nvSpPr>
        <p:spPr>
          <a:xfrm>
            <a:off x="6720840" y="4343400"/>
            <a:ext cx="4922215" cy="1005840"/>
          </a:xfrm>
          <a:prstGeom prst="roundRect">
            <a:avLst>
              <a:gd name="adj" fmla="val 9090"/>
            </a:avLst>
          </a:prstGeom>
          <a:solidFill>
            <a:srgbClr val="FBF1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68580" bIns="68580"/>
          <a:lstStyle/>
          <a:p>
            <a:pPr algn="l"/>
            <a:r>
              <a:rPr sz="1150" b="0" i="0">
                <a:solidFill>
                  <a:srgbClr val="15323F"/>
                </a:solidFill>
                <a:latin typeface="Calibri"/>
              </a:rPr>
              <a:t>Most queries will be outside the training clusters, which is why the out-of-distribution flag and the cluster-split evaluation are part of the product, not optional extras.</a:t>
            </a:r>
          </a:p>
        </p:txBody>
      </p:sp>
      <p:sp>
        <p:nvSpPr>
          <p:cNvPr id="31" name="evidence label"/>
          <p:cNvSpPr txBox="1"/>
          <p:nvPr/>
        </p:nvSpPr>
        <p:spPr>
          <a:xfrm>
            <a:off x="548640" y="6126480"/>
            <a:ext cx="11094415" cy="310896"/>
          </a:xfrm>
          <a:prstGeom prst="rect">
            <a:avLst/>
          </a:prstGeom>
          <a:noFill/>
        </p:spPr>
        <p:txBody>
          <a:bodyPr wrap="square" lIns="0" rIns="0" tIns="0" bIns="0" anchor="t">
            <a:spAutoFit/>
          </a:bodyPr>
          <a:lstStyle/>
          <a:p>
            <a:pPr algn="l"/>
            <a:r>
              <a:rPr sz="1000" b="0" i="0">
                <a:solidFill>
                  <a:srgbClr val="5B7380"/>
                </a:solidFill>
                <a:latin typeface="Calibri"/>
              </a:rPr>
              <a:t>Own counts, research/variant-coverage-2026-10-15. ○ harness and service designed, not built. ClinVar motivates the domain; it is not a validation target.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500"/>
                                        <p:tgtEl>
                                          <p:spTgt spid="26"/>
                                        </p:tgtEl>
                                      </p:cBhvr>
                                    </p:animEffect>
                                  </p:childTnLst>
                                </p:cTn>
                              </p:par>
                              <p:par>
                                <p:cTn id="6" presetID="10" presetClass="entr" presetSubtype="0" fill="hold"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500"/>
                                        <p:tgtEl>
                                          <p:spTgt spid="27"/>
                                        </p:tgtEl>
                                      </p:cBhvr>
                                    </p:animEffect>
                                  </p:childTnLst>
                                </p:cTn>
                              </p:par>
                            </p:childTnLst>
                          </p:cTn>
                        </p:par>
                      </p:childTnLst>
                    </p:cTn>
                  </p:par>
                  <p:par>
                    <p:cTn id="11" fill="hold">
                      <p:stCondLst>
                        <p:cond delay="indefinite"/>
                      </p:stCondLst>
                      <p:childTnLst>
                        <p:par>
                          <p:cTn id="12" fill="hold">
                            <p:stCondLst>
                              <p:cond delay="0"/>
                            </p:stCondLs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Plan for the remaining weeks: a hard checkpoint at week 10, then the software</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25</a:t>
            </a:r>
          </a:p>
        </p:txBody>
      </p:sp>
      <p:sp>
        <p:nvSpPr>
          <p:cNvPr id="15" name="checks head"/>
          <p:cNvSpPr txBox="1"/>
          <p:nvPr/>
        </p:nvSpPr>
        <p:spPr>
          <a:xfrm>
            <a:off x="548640" y="1024128"/>
            <a:ext cx="7315200" cy="274320"/>
          </a:xfrm>
          <a:prstGeom prst="rect">
            <a:avLst/>
          </a:prstGeom>
          <a:noFill/>
        </p:spPr>
        <p:txBody>
          <a:bodyPr wrap="square" lIns="0" rIns="0" tIns="0" bIns="0" anchor="t">
            <a:spAutoFit/>
          </a:bodyPr>
          <a:lstStyle/>
          <a:p>
            <a:pPr algn="l"/>
            <a:r>
              <a:rPr sz="1250" b="1" i="0">
                <a:solidFill>
                  <a:srgbClr val="386FA4"/>
                </a:solidFill>
                <a:latin typeface="Calibri"/>
              </a:rPr>
              <a:t>Where the thesis stands (week 6): internal readiness checks, not course gates</a:t>
            </a:r>
          </a:p>
        </p:txBody>
      </p:sp>
      <p:sp>
        <p:nvSpPr>
          <p:cNvPr id="16" name="card: G1  Labels are indep"/>
          <p:cNvSpPr/>
          <p:nvPr/>
        </p:nvSpPr>
        <p:spPr>
          <a:xfrm>
            <a:off x="548640" y="1371600"/>
            <a:ext cx="3611880" cy="1417320"/>
          </a:xfrm>
          <a:prstGeom prst="roundRect">
            <a:avLst>
              <a:gd name="adj" fmla="val 6451"/>
            </a:avLst>
          </a:prstGeom>
          <a:solidFill>
            <a:srgbClr val="D9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card text: G1  Labels are indep"/>
          <p:cNvSpPr txBox="1"/>
          <p:nvPr/>
        </p:nvSpPr>
        <p:spPr>
          <a:xfrm>
            <a:off x="685800" y="1463040"/>
            <a:ext cx="3337560" cy="1280160"/>
          </a:xfrm>
          <a:prstGeom prst="rect">
            <a:avLst/>
          </a:prstGeom>
          <a:noFill/>
        </p:spPr>
        <p:txBody>
          <a:bodyPr wrap="square" lIns="0" rIns="0" tIns="0" bIns="0" anchor="t">
            <a:spAutoFit/>
          </a:bodyPr>
          <a:lstStyle/>
          <a:p>
            <a:pPr algn="l"/>
            <a:r>
              <a:rPr sz="1250" b="1" i="0">
                <a:solidFill>
                  <a:srgbClr val="1F7A6F"/>
                </a:solidFill>
                <a:latin typeface="Calibri"/>
              </a:rPr>
              <a:t>G1  Labels are independent experimental measurements</a:t>
            </a:r>
          </a:p>
          <a:p>
            <a:pPr algn="l">
              <a:spcBef>
                <a:spcPts val="300"/>
              </a:spcBef>
            </a:pPr>
            <a:r>
              <a:rPr sz="1150" b="0" i="0">
                <a:solidFill>
                  <a:srgbClr val="15323F"/>
                </a:solidFill>
                <a:latin typeface="Calibri"/>
              </a:rPr>
              <a:t>● met: all labels measured, none generated by this pipeline</a:t>
            </a:r>
          </a:p>
        </p:txBody>
      </p:sp>
      <p:sp>
        <p:nvSpPr>
          <p:cNvPr id="18" name="card: G2  A measurable pos"/>
          <p:cNvSpPr/>
          <p:nvPr/>
        </p:nvSpPr>
        <p:spPr>
          <a:xfrm>
            <a:off x="4270248" y="1371600"/>
            <a:ext cx="3611880" cy="1417320"/>
          </a:xfrm>
          <a:prstGeom prst="roundRect">
            <a:avLst>
              <a:gd name="adj" fmla="val 6451"/>
            </a:avLst>
          </a:prstGeom>
          <a:solidFill>
            <a:srgbClr val="D9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card text: G2  A measurable pos"/>
          <p:cNvSpPr txBox="1"/>
          <p:nvPr/>
        </p:nvSpPr>
        <p:spPr>
          <a:xfrm>
            <a:off x="4407408" y="1463040"/>
            <a:ext cx="3337560" cy="1280160"/>
          </a:xfrm>
          <a:prstGeom prst="rect">
            <a:avLst/>
          </a:prstGeom>
          <a:noFill/>
        </p:spPr>
        <p:txBody>
          <a:bodyPr wrap="square" lIns="0" rIns="0" tIns="0" bIns="0" anchor="t">
            <a:spAutoFit/>
          </a:bodyPr>
          <a:lstStyle/>
          <a:p>
            <a:pPr algn="l"/>
            <a:r>
              <a:rPr sz="1250" b="1" i="0">
                <a:solidFill>
                  <a:srgbClr val="1F7A6F"/>
                </a:solidFill>
                <a:latin typeface="Calibri"/>
              </a:rPr>
              <a:t>G2  A measurable positive contribution</a:t>
            </a:r>
          </a:p>
          <a:p>
            <a:pPr algn="l">
              <a:spcBef>
                <a:spcPts val="300"/>
              </a:spcBef>
            </a:pPr>
            <a:r>
              <a:rPr sz="1150" b="0" i="0">
                <a:solidFill>
                  <a:srgbClr val="15323F"/>
                </a:solidFill>
                <a:latin typeface="Calibri"/>
              </a:rPr>
              <a:t>● first positive result: +0.0289 over the composition class, +0.0300 over the published control, CIs exclude zero. ○ The matrix gap (−0.0420) is the remaining target</a:t>
            </a:r>
          </a:p>
        </p:txBody>
      </p:sp>
      <p:sp>
        <p:nvSpPr>
          <p:cNvPr id="20" name="card: G3  A feasible appli"/>
          <p:cNvSpPr/>
          <p:nvPr/>
        </p:nvSpPr>
        <p:spPr>
          <a:xfrm>
            <a:off x="7991856" y="1371600"/>
            <a:ext cx="3611880" cy="1417320"/>
          </a:xfrm>
          <a:prstGeom prst="roundRect">
            <a:avLst>
              <a:gd name="adj" fmla="val 6451"/>
            </a:avLst>
          </a:prstGeom>
          <a:solidFill>
            <a:srgbClr val="FBF1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card text: G3  A feasible appli"/>
          <p:cNvSpPr txBox="1"/>
          <p:nvPr/>
        </p:nvSpPr>
        <p:spPr>
          <a:xfrm>
            <a:off x="8129016" y="1463040"/>
            <a:ext cx="3337560" cy="1280160"/>
          </a:xfrm>
          <a:prstGeom prst="rect">
            <a:avLst/>
          </a:prstGeom>
          <a:noFill/>
        </p:spPr>
        <p:txBody>
          <a:bodyPr wrap="square" lIns="0" rIns="0" tIns="0" bIns="0" anchor="t">
            <a:spAutoFit/>
          </a:bodyPr>
          <a:lstStyle/>
          <a:p>
            <a:pPr algn="l"/>
            <a:r>
              <a:rPr sz="1250" b="1" i="0">
                <a:solidFill>
                  <a:srgbClr val="8A6A12"/>
                </a:solidFill>
                <a:latin typeface="Calibri"/>
              </a:rPr>
              <a:t>G3  A feasible application</a:t>
            </a:r>
          </a:p>
          <a:p>
            <a:pPr algn="l">
              <a:spcBef>
                <a:spcPts val="300"/>
              </a:spcBef>
            </a:pPr>
            <a:r>
              <a:rPr sz="1150" b="0" i="0">
                <a:solidFill>
                  <a:srgbClr val="15323F"/>
                </a:solidFill>
                <a:latin typeface="Calibri"/>
              </a:rPr>
              <a:t>▲ designed, not built: prediction service with measured uncertainty + evaluation harness (slides 23–24)</a:t>
            </a:r>
          </a:p>
        </p:txBody>
      </p:sp>
      <p:sp>
        <p:nvSpPr>
          <p:cNvPr id="22" name="week card 1"/>
          <p:cNvSpPr/>
          <p:nvPr/>
        </p:nvSpPr>
        <p:spPr>
          <a:xfrm>
            <a:off x="548640" y="3154680"/>
            <a:ext cx="1764792" cy="2377440"/>
          </a:xfrm>
          <a:prstGeom prst="roundRect">
            <a:avLst>
              <a:gd name="adj" fmla="val 5181"/>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3" name="week text 1"/>
          <p:cNvSpPr txBox="1"/>
          <p:nvPr/>
        </p:nvSpPr>
        <p:spPr>
          <a:xfrm>
            <a:off x="640080" y="3227832"/>
            <a:ext cx="1581912" cy="2240280"/>
          </a:xfrm>
          <a:prstGeom prst="rect">
            <a:avLst/>
          </a:prstGeom>
          <a:noFill/>
        </p:spPr>
        <p:txBody>
          <a:bodyPr wrap="square" lIns="0" rIns="0" tIns="0" bIns="0" anchor="t">
            <a:spAutoFit/>
          </a:bodyPr>
          <a:lstStyle/>
          <a:p>
            <a:pPr algn="l"/>
            <a:r>
              <a:rPr sz="1300" b="1" i="0">
                <a:solidFill>
                  <a:srgbClr val="386FA4"/>
                </a:solidFill>
                <a:latin typeface="Calibri"/>
              </a:rPr>
              <a:t>Week 7</a:t>
            </a:r>
          </a:p>
          <a:p>
            <a:pPr algn="l">
              <a:spcBef>
                <a:spcPts val="300"/>
              </a:spcBef>
            </a:pPr>
            <a:r>
              <a:rPr sz="1100" b="0" i="0">
                <a:solidFill>
                  <a:srgbClr val="15323F"/>
                </a:solidFill>
                <a:latin typeface="Calibri"/>
              </a:rPr>
              <a:t>architecture variants A / B / C on one grid, aimed at the 0.7693 target</a:t>
            </a:r>
          </a:p>
          <a:p>
            <a:pPr algn="l">
              <a:spcBef>
                <a:spcPts val="400"/>
              </a:spcBef>
            </a:pPr>
            <a:r>
              <a:rPr sz="1100" b="1" i="0">
                <a:solidFill>
                  <a:srgbClr val="15323F"/>
                </a:solidFill>
                <a:latin typeface="Calibri"/>
              </a:rPr>
              <a:t>→ a measured delta on the matrix, with CI</a:t>
            </a:r>
          </a:p>
        </p:txBody>
      </p:sp>
      <p:sp>
        <p:nvSpPr>
          <p:cNvPr id="24" name="week card 2"/>
          <p:cNvSpPr/>
          <p:nvPr/>
        </p:nvSpPr>
        <p:spPr>
          <a:xfrm>
            <a:off x="2414016" y="3154680"/>
            <a:ext cx="1764792" cy="2377440"/>
          </a:xfrm>
          <a:prstGeom prst="roundRect">
            <a:avLst>
              <a:gd name="adj" fmla="val 5181"/>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5" name="week text 2"/>
          <p:cNvSpPr txBox="1"/>
          <p:nvPr/>
        </p:nvSpPr>
        <p:spPr>
          <a:xfrm>
            <a:off x="2505456" y="3227832"/>
            <a:ext cx="1581912" cy="2240280"/>
          </a:xfrm>
          <a:prstGeom prst="rect">
            <a:avLst/>
          </a:prstGeom>
          <a:noFill/>
        </p:spPr>
        <p:txBody>
          <a:bodyPr wrap="square" lIns="0" rIns="0" tIns="0" bIns="0" anchor="t">
            <a:spAutoFit/>
          </a:bodyPr>
          <a:lstStyle/>
          <a:p>
            <a:pPr algn="l"/>
            <a:r>
              <a:rPr sz="1300" b="1" i="0">
                <a:solidFill>
                  <a:srgbClr val="386FA4"/>
                </a:solidFill>
                <a:latin typeface="Calibri"/>
              </a:rPr>
              <a:t>Week 8</a:t>
            </a:r>
          </a:p>
          <a:p>
            <a:pPr algn="l">
              <a:spcBef>
                <a:spcPts val="300"/>
              </a:spcBef>
            </a:pPr>
            <a:r>
              <a:rPr sz="1100" b="0" i="0">
                <a:solidFill>
                  <a:srgbClr val="15323F"/>
                </a:solidFill>
                <a:latin typeface="Calibri"/>
              </a:rPr>
              <a:t>ablations · seed stability · Degformer re-run under the cluster split</a:t>
            </a:r>
          </a:p>
          <a:p>
            <a:pPr algn="l">
              <a:spcBef>
                <a:spcPts val="400"/>
              </a:spcBef>
            </a:pPr>
            <a:r>
              <a:rPr sz="1100" b="1" i="0">
                <a:solidFill>
                  <a:srgbClr val="15323F"/>
                </a:solidFill>
                <a:latin typeface="Calibri"/>
              </a:rPr>
              <a:t>→ controlled comparison table</a:t>
            </a:r>
          </a:p>
        </p:txBody>
      </p:sp>
      <p:sp>
        <p:nvSpPr>
          <p:cNvPr id="26" name="week card 3"/>
          <p:cNvSpPr/>
          <p:nvPr/>
        </p:nvSpPr>
        <p:spPr>
          <a:xfrm>
            <a:off x="4279392" y="3154680"/>
            <a:ext cx="1764792" cy="2377440"/>
          </a:xfrm>
          <a:prstGeom prst="roundRect">
            <a:avLst>
              <a:gd name="adj" fmla="val 5181"/>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7" name="week text 3"/>
          <p:cNvSpPr txBox="1"/>
          <p:nvPr/>
        </p:nvSpPr>
        <p:spPr>
          <a:xfrm>
            <a:off x="4370831" y="3227832"/>
            <a:ext cx="1581912" cy="2240280"/>
          </a:xfrm>
          <a:prstGeom prst="rect">
            <a:avLst/>
          </a:prstGeom>
          <a:noFill/>
        </p:spPr>
        <p:txBody>
          <a:bodyPr wrap="square" lIns="0" rIns="0" tIns="0" bIns="0" anchor="t">
            <a:spAutoFit/>
          </a:bodyPr>
          <a:lstStyle/>
          <a:p>
            <a:pPr algn="l"/>
            <a:r>
              <a:rPr sz="1300" b="1" i="0">
                <a:solidFill>
                  <a:srgbClr val="386FA4"/>
                </a:solidFill>
                <a:latin typeface="Calibri"/>
              </a:rPr>
              <a:t>Week 9</a:t>
            </a:r>
          </a:p>
          <a:p>
            <a:pPr algn="l">
              <a:spcBef>
                <a:spcPts val="300"/>
              </a:spcBef>
            </a:pPr>
            <a:r>
              <a:rPr sz="1100" b="0" i="0">
                <a:solidFill>
                  <a:srgbClr val="15323F"/>
                </a:solidFill>
                <a:latin typeface="Calibri"/>
              </a:rPr>
              <a:t>representation grid (PLM vs one-hot) · error analysis by group</a:t>
            </a:r>
          </a:p>
          <a:p>
            <a:pPr algn="l">
              <a:spcBef>
                <a:spcPts val="400"/>
              </a:spcBef>
            </a:pPr>
            <a:r>
              <a:rPr sz="1100" b="1" i="0">
                <a:solidFill>
                  <a:srgbClr val="15323F"/>
                </a:solidFill>
                <a:latin typeface="Calibri"/>
              </a:rPr>
              <a:t>→ where the gain comes from, where it fails</a:t>
            </a:r>
          </a:p>
        </p:txBody>
      </p:sp>
      <p:sp>
        <p:nvSpPr>
          <p:cNvPr id="28" name="week card 4"/>
          <p:cNvSpPr/>
          <p:nvPr/>
        </p:nvSpPr>
        <p:spPr>
          <a:xfrm>
            <a:off x="6144768" y="3154680"/>
            <a:ext cx="1764792" cy="2377440"/>
          </a:xfrm>
          <a:prstGeom prst="roundRect">
            <a:avLst>
              <a:gd name="adj" fmla="val 5181"/>
            </a:avLst>
          </a:prstGeom>
          <a:solidFill>
            <a:srgbClr val="F6DDE1"/>
          </a:solidFill>
          <a:ln w="25400">
            <a:solidFill>
              <a:srgbClr val="D149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9" name="week text 4"/>
          <p:cNvSpPr txBox="1"/>
          <p:nvPr/>
        </p:nvSpPr>
        <p:spPr>
          <a:xfrm>
            <a:off x="6236207" y="3227832"/>
            <a:ext cx="1581912" cy="2240280"/>
          </a:xfrm>
          <a:prstGeom prst="rect">
            <a:avLst/>
          </a:prstGeom>
          <a:noFill/>
        </p:spPr>
        <p:txBody>
          <a:bodyPr wrap="square" lIns="0" rIns="0" tIns="0" bIns="0" anchor="t">
            <a:spAutoFit/>
          </a:bodyPr>
          <a:lstStyle/>
          <a:p>
            <a:pPr algn="l"/>
            <a:r>
              <a:rPr sz="1300" b="1" i="0">
                <a:solidFill>
                  <a:srgbClr val="D1495B"/>
                </a:solidFill>
                <a:latin typeface="Calibri"/>
              </a:rPr>
              <a:t>Week 10</a:t>
            </a:r>
          </a:p>
          <a:p>
            <a:pPr algn="l">
              <a:spcBef>
                <a:spcPts val="300"/>
              </a:spcBef>
            </a:pPr>
            <a:r>
              <a:rPr sz="1100" b="0" i="0">
                <a:solidFill>
                  <a:srgbClr val="15323F"/>
                </a:solidFill>
                <a:latin typeface="Calibri"/>
              </a:rPr>
              <a:t>hard checkpoint: if the matrix target is not met, report a bounded negative and shift weight to benchmark + application</a:t>
            </a:r>
          </a:p>
          <a:p>
            <a:pPr algn="l">
              <a:spcBef>
                <a:spcPts val="400"/>
              </a:spcBef>
            </a:pPr>
            <a:r>
              <a:rPr sz="1100" b="1" i="0">
                <a:solidFill>
                  <a:srgbClr val="D1495B"/>
                </a:solidFill>
                <a:latin typeface="Calibri"/>
              </a:rPr>
              <a:t>→ checkpoint: pivot if no positive delta</a:t>
            </a:r>
          </a:p>
        </p:txBody>
      </p:sp>
      <p:sp>
        <p:nvSpPr>
          <p:cNvPr id="30" name="week card 5"/>
          <p:cNvSpPr/>
          <p:nvPr/>
        </p:nvSpPr>
        <p:spPr>
          <a:xfrm>
            <a:off x="8010144" y="3154680"/>
            <a:ext cx="1764792" cy="2377440"/>
          </a:xfrm>
          <a:prstGeom prst="roundRect">
            <a:avLst>
              <a:gd name="adj" fmla="val 5181"/>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1" name="week text 5"/>
          <p:cNvSpPr txBox="1"/>
          <p:nvPr/>
        </p:nvSpPr>
        <p:spPr>
          <a:xfrm>
            <a:off x="8101583" y="3227832"/>
            <a:ext cx="1581912" cy="2240280"/>
          </a:xfrm>
          <a:prstGeom prst="rect">
            <a:avLst/>
          </a:prstGeom>
          <a:noFill/>
        </p:spPr>
        <p:txBody>
          <a:bodyPr wrap="square" lIns="0" rIns="0" tIns="0" bIns="0" anchor="t">
            <a:spAutoFit/>
          </a:bodyPr>
          <a:lstStyle/>
          <a:p>
            <a:pPr algn="l"/>
            <a:r>
              <a:rPr sz="1300" b="1" i="0">
                <a:solidFill>
                  <a:srgbClr val="386FA4"/>
                </a:solidFill>
                <a:latin typeface="Calibri"/>
              </a:rPr>
              <a:t>Weeks 11–13</a:t>
            </a:r>
          </a:p>
          <a:p>
            <a:pPr algn="l">
              <a:spcBef>
                <a:spcPts val="300"/>
              </a:spcBef>
            </a:pPr>
            <a:r>
              <a:rPr sz="1100" b="0" i="0">
                <a:solidFill>
                  <a:srgbClr val="15323F"/>
                </a:solidFill>
                <a:latin typeface="Calibri"/>
              </a:rPr>
              <a:t>software: prediction service (28×20, map, uncertainty, API, flags) and the evaluation harness</a:t>
            </a:r>
          </a:p>
          <a:p>
            <a:pPr algn="l">
              <a:spcBef>
                <a:spcPts val="400"/>
              </a:spcBef>
            </a:pPr>
            <a:r>
              <a:rPr sz="1100" b="1" i="0">
                <a:solidFill>
                  <a:srgbClr val="15323F"/>
                </a:solidFill>
                <a:latin typeface="Calibri"/>
              </a:rPr>
              <a:t>→ the deliverable for criterion 5</a:t>
            </a:r>
          </a:p>
        </p:txBody>
      </p:sp>
      <p:sp>
        <p:nvSpPr>
          <p:cNvPr id="32" name="week card 6"/>
          <p:cNvSpPr/>
          <p:nvPr/>
        </p:nvSpPr>
        <p:spPr>
          <a:xfrm>
            <a:off x="9875519" y="3154680"/>
            <a:ext cx="1764792" cy="2377440"/>
          </a:xfrm>
          <a:prstGeom prst="roundRect">
            <a:avLst>
              <a:gd name="adj" fmla="val 5181"/>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3" name="week text 6"/>
          <p:cNvSpPr txBox="1"/>
          <p:nvPr/>
        </p:nvSpPr>
        <p:spPr>
          <a:xfrm>
            <a:off x="9966959" y="3227832"/>
            <a:ext cx="1581912" cy="2240280"/>
          </a:xfrm>
          <a:prstGeom prst="rect">
            <a:avLst/>
          </a:prstGeom>
          <a:noFill/>
        </p:spPr>
        <p:txBody>
          <a:bodyPr wrap="square" lIns="0" rIns="0" tIns="0" bIns="0" anchor="t">
            <a:spAutoFit/>
          </a:bodyPr>
          <a:lstStyle/>
          <a:p>
            <a:pPr algn="l"/>
            <a:r>
              <a:rPr sz="1300" b="1" i="0">
                <a:solidFill>
                  <a:srgbClr val="386FA4"/>
                </a:solidFill>
                <a:latin typeface="Calibri"/>
              </a:rPr>
              <a:t>Weeks 14–15</a:t>
            </a:r>
          </a:p>
          <a:p>
            <a:pPr algn="l">
              <a:spcBef>
                <a:spcPts val="300"/>
              </a:spcBef>
            </a:pPr>
            <a:r>
              <a:rPr sz="1100" b="0" i="0">
                <a:solidFill>
                  <a:srgbClr val="15323F"/>
                </a:solidFill>
                <a:latin typeface="Calibri"/>
              </a:rPr>
              <a:t>thesis write-up and defence</a:t>
            </a:r>
          </a:p>
        </p:txBody>
      </p:sp>
      <p:sp>
        <p:nvSpPr>
          <p:cNvPr id="34" name="week 10 flag"/>
          <p:cNvSpPr/>
          <p:nvPr/>
        </p:nvSpPr>
        <p:spPr>
          <a:xfrm>
            <a:off x="6236207" y="2953512"/>
            <a:ext cx="182880" cy="182880"/>
          </a:xfrm>
          <a:prstGeom prst="triangl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5" name="reproducibility"/>
          <p:cNvSpPr txBox="1"/>
          <p:nvPr/>
        </p:nvSpPr>
        <p:spPr>
          <a:xfrm>
            <a:off x="548640" y="5669280"/>
            <a:ext cx="11064240" cy="411480"/>
          </a:xfrm>
          <a:prstGeom prst="rect">
            <a:avLst/>
          </a:prstGeom>
          <a:noFill/>
        </p:spPr>
        <p:txBody>
          <a:bodyPr wrap="square" lIns="0" rIns="0" tIns="0" bIns="0" anchor="t">
            <a:spAutoFit/>
          </a:bodyPr>
          <a:lstStyle/>
          <a:p>
            <a:pPr algn="l"/>
            <a:r>
              <a:rPr sz="1100" b="0" i="0">
                <a:solidFill>
                  <a:srgbClr val="15323F"/>
                </a:solidFill>
                <a:latin typeface="Calibri"/>
              </a:rPr>
              <a:t>Reproducibility commitments: fixed seeds; configuration and results written to files; every number in the thesis traceable to a result file; all derived data regenerable by script from checksummed raw data.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500"/>
                                        <p:tgtEl>
                                          <p:spTgt spid="22"/>
                                        </p:tgtEl>
                                      </p:cBhvr>
                                    </p:animEffect>
                                  </p:childTnLst>
                                </p:cTn>
                              </p:par>
                              <p:par>
                                <p:cTn id="6" presetID="10" presetClass="entr" presetSubtype="0" fill="hold"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500"/>
                                        <p:tgtEl>
                                          <p:spTgt spid="23"/>
                                        </p:tgtEl>
                                      </p:cBhvr>
                                    </p:animEffect>
                                  </p:childTnLst>
                                </p:cTn>
                              </p:par>
                              <p:par>
                                <p:cTn id="9" presetID="10"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par>
                                <p:cTn id="12" presetID="10" presetClass="entr" presetSubtype="0" fill="hold"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par>
                                <p:cTn id="15" presetID="10"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par>
                                <p:cTn id="18" presetID="10" presetClass="entr" presetSubtype="0" fill="hold"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par>
                                <p:cTn id="29" presetID="10"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par>
                                <p:cTn id="32" presetID="10" presetClass="entr" presetSubtype="0"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par>
                                <p:cTn id="35" presetID="10" presetClass="entr" presetSubtype="0"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par>
                                <p:cTn id="38" presetID="10" presetClass="entr" presetSubtype="0" fill="hold"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childTnLst>
                          </p:cTn>
                        </p:par>
                      </p:childTnLst>
                    </p:cTn>
                  </p:par>
                  <p:par>
                    <p:cTn id="46" fill="hold">
                      <p:stCondLst>
                        <p:cond delay="indefinite"/>
                      </p:stCondLst>
                      <p:childTnLst>
                        <p:par>
                          <p:cTn id="47"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3000" b="1">
                <a:solidFill>
                  <a:srgbClr val="15323F"/>
                </a:solidFill>
                <a:latin typeface="Calibri"/>
              </a:rPr>
              <a:t>Questions for discussion</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26</a:t>
            </a:r>
          </a:p>
        </p:txBody>
      </p:sp>
      <p:sp>
        <p:nvSpPr>
          <p:cNvPr id="15" name="question 1 (to be written)"/>
          <p:cNvSpPr/>
          <p:nvPr/>
        </p:nvSpPr>
        <p:spPr>
          <a:xfrm>
            <a:off x="548640" y="1097280"/>
            <a:ext cx="5376672" cy="2148840"/>
          </a:xfrm>
          <a:prstGeom prst="roundRect">
            <a:avLst>
              <a:gd name="adj" fmla="val 4255"/>
            </a:avLst>
          </a:prstGeom>
          <a:solidFill>
            <a:srgbClr val="FBF1D3"/>
          </a:solidFill>
          <a:ln w="12700">
            <a:solidFill>
              <a:srgbClr val="B08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question 1 text"/>
          <p:cNvSpPr txBox="1"/>
          <p:nvPr/>
        </p:nvSpPr>
        <p:spPr>
          <a:xfrm>
            <a:off x="731520" y="1207007"/>
            <a:ext cx="5029200" cy="1920240"/>
          </a:xfrm>
          <a:prstGeom prst="rect">
            <a:avLst/>
          </a:prstGeom>
          <a:noFill/>
        </p:spPr>
        <p:txBody>
          <a:bodyPr wrap="square" lIns="0" rIns="0" tIns="0" bIns="0" anchor="t">
            <a:spAutoFit/>
          </a:bodyPr>
          <a:lstStyle/>
          <a:p>
            <a:pPr algn="l"/>
            <a:r>
              <a:rPr sz="1500" b="1" i="0">
                <a:solidFill>
                  <a:srgbClr val="8A6A12"/>
                </a:solidFill>
                <a:latin typeface="Calibri"/>
              </a:rPr>
              <a:t>1  Contribution shape</a:t>
            </a:r>
          </a:p>
          <a:p>
            <a:pPr algn="l">
              <a:spcBef>
                <a:spcPts val="400"/>
              </a:spcBef>
            </a:pPr>
            <a:r>
              <a:rPr sz="1200" b="0" i="1">
                <a:solidFill>
                  <a:srgbClr val="15323F"/>
                </a:solidFill>
                <a:latin typeface="Calibri"/>
              </a:rPr>
              <a:t>Wording to be finalised by Nguyễn Thế Trọng after the three-pillar framework (C-5) is settled; see the one-page framework handout.</a:t>
            </a:r>
          </a:p>
        </p:txBody>
      </p:sp>
      <p:sp>
        <p:nvSpPr>
          <p:cNvPr id="17" name="card: 2  Architecture nove"/>
          <p:cNvSpPr/>
          <p:nvPr/>
        </p:nvSpPr>
        <p:spPr>
          <a:xfrm>
            <a:off x="6263640" y="1097280"/>
            <a:ext cx="5376672" cy="2148840"/>
          </a:xfrm>
          <a:prstGeom prst="roundRect">
            <a:avLst>
              <a:gd name="adj" fmla="val 4255"/>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card text: 2  Architecture nove"/>
          <p:cNvSpPr txBox="1"/>
          <p:nvPr/>
        </p:nvSpPr>
        <p:spPr>
          <a:xfrm>
            <a:off x="6400800" y="1188720"/>
            <a:ext cx="5102352" cy="2011680"/>
          </a:xfrm>
          <a:prstGeom prst="rect">
            <a:avLst/>
          </a:prstGeom>
          <a:noFill/>
        </p:spPr>
        <p:txBody>
          <a:bodyPr wrap="square" lIns="0" rIns="0" tIns="0" bIns="0" anchor="t">
            <a:spAutoFit/>
          </a:bodyPr>
          <a:lstStyle/>
          <a:p>
            <a:pPr algn="l"/>
            <a:r>
              <a:rPr sz="1500" b="1" i="0">
                <a:solidFill>
                  <a:srgbClr val="386FA4"/>
                </a:solidFill>
                <a:latin typeface="Calibri"/>
              </a:rPr>
              <a:t>2  Architecture novelty</a:t>
            </a:r>
          </a:p>
          <a:p>
            <a:pPr algn="l">
              <a:spcBef>
                <a:spcPts val="300"/>
              </a:spcBef>
            </a:pPr>
            <a:r>
              <a:rPr sz="1350" b="0" i="0">
                <a:solidFill>
                  <a:srgbClr val="15323F"/>
                </a:solidFill>
                <a:latin typeface="Calibri"/>
              </a:rPr>
              <a:t>The intended novelty is a weak-supervision question: can abundant bag-level labels (260k peptides, 212k tiles), which do not identify positional parameters, be mined for residue-level output through an MIL/attention bridge, and beat a per-position head trained on the smaller cell-level set? Component mechanisms are established prior art. Is that the right level at which to place the novelty claim?</a:t>
            </a:r>
          </a:p>
        </p:txBody>
      </p:sp>
      <p:sp>
        <p:nvSpPr>
          <p:cNvPr id="19" name="card: 3  Reading the two-s"/>
          <p:cNvSpPr/>
          <p:nvPr/>
        </p:nvSpPr>
        <p:spPr>
          <a:xfrm>
            <a:off x="548640" y="3429000"/>
            <a:ext cx="5376672" cy="2148840"/>
          </a:xfrm>
          <a:prstGeom prst="roundRect">
            <a:avLst>
              <a:gd name="adj" fmla="val 4255"/>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card text: 3  Reading the two-s"/>
          <p:cNvSpPr txBox="1"/>
          <p:nvPr/>
        </p:nvSpPr>
        <p:spPr>
          <a:xfrm>
            <a:off x="685800" y="3520440"/>
            <a:ext cx="5102352" cy="2011680"/>
          </a:xfrm>
          <a:prstGeom prst="rect">
            <a:avLst/>
          </a:prstGeom>
          <a:noFill/>
        </p:spPr>
        <p:txBody>
          <a:bodyPr wrap="square" lIns="0" rIns="0" tIns="0" bIns="0" anchor="t">
            <a:spAutoFit/>
          </a:bodyPr>
          <a:lstStyle/>
          <a:p>
            <a:pPr algn="l"/>
            <a:r>
              <a:rPr sz="1500" b="1" i="0">
                <a:solidFill>
                  <a:srgbClr val="386FA4"/>
                </a:solidFill>
                <a:latin typeface="Calibri"/>
              </a:rPr>
              <a:t>3  Reading the two-sided result</a:t>
            </a:r>
          </a:p>
          <a:p>
            <a:pPr algn="l">
              <a:spcBef>
                <a:spcPts val="300"/>
              </a:spcBef>
            </a:pPr>
            <a:r>
              <a:rPr sz="1350" b="0" i="0">
                <a:solidFill>
                  <a:srgbClr val="15323F"/>
                </a:solidFill>
                <a:latin typeface="Calibri"/>
              </a:rPr>
              <a:t>The model is ahead of the published control on the context axis (+0.0300) and behind it on the substitution matrix (−0.0420), and the ranking reverses between cell-level and position-level metrics. Should the thesis commit to one headline metric, or report the split result as the finding?</a:t>
            </a:r>
          </a:p>
        </p:txBody>
      </p:sp>
      <p:sp>
        <p:nvSpPr>
          <p:cNvPr id="21" name="question 4 (to be written)"/>
          <p:cNvSpPr/>
          <p:nvPr/>
        </p:nvSpPr>
        <p:spPr>
          <a:xfrm>
            <a:off x="6263640" y="3429000"/>
            <a:ext cx="5376672" cy="2148840"/>
          </a:xfrm>
          <a:prstGeom prst="roundRect">
            <a:avLst>
              <a:gd name="adj" fmla="val 4255"/>
            </a:avLst>
          </a:prstGeom>
          <a:solidFill>
            <a:srgbClr val="FBF1D3"/>
          </a:solidFill>
          <a:ln w="12700">
            <a:solidFill>
              <a:srgbClr val="B08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2" name="question 4 text"/>
          <p:cNvSpPr txBox="1"/>
          <p:nvPr/>
        </p:nvSpPr>
        <p:spPr>
          <a:xfrm>
            <a:off x="6446520" y="3538728"/>
            <a:ext cx="5029200" cy="1920240"/>
          </a:xfrm>
          <a:prstGeom prst="rect">
            <a:avLst/>
          </a:prstGeom>
          <a:noFill/>
        </p:spPr>
        <p:txBody>
          <a:bodyPr wrap="square" lIns="0" rIns="0" tIns="0" bIns="0" anchor="t">
            <a:spAutoFit/>
          </a:bodyPr>
          <a:lstStyle/>
          <a:p>
            <a:pPr algn="l"/>
            <a:r>
              <a:rPr sz="1500" b="1" i="0">
                <a:solidFill>
                  <a:srgbClr val="8A6A12"/>
                </a:solidFill>
                <a:latin typeface="Calibri"/>
              </a:rPr>
              <a:t>4  Application scope</a:t>
            </a:r>
          </a:p>
          <a:p>
            <a:pPr algn="l">
              <a:spcBef>
                <a:spcPts val="400"/>
              </a:spcBef>
            </a:pPr>
            <a:r>
              <a:rPr sz="1200" b="0" i="1">
                <a:solidFill>
                  <a:srgbClr val="15323F"/>
                </a:solidFill>
                <a:latin typeface="Calibri"/>
              </a:rPr>
              <a:t>Wording to be finalised by Nguyễn Thế Trọng after the three-pillar framework (C-5) is settled; see the one-page framework handout.</a:t>
            </a:r>
          </a:p>
        </p:txBody>
      </p:sp>
      <p:sp>
        <p:nvSpPr>
          <p:cNvPr id="23" name="spacer"/>
          <p:cNvSpPr/>
          <p:nvPr/>
        </p:nvSpPr>
        <p:spPr>
          <a:xfrm>
            <a:off x="548640" y="6080760"/>
            <a:ext cx="9144" cy="91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4" name="thanks"/>
          <p:cNvSpPr txBox="1"/>
          <p:nvPr/>
        </p:nvSpPr>
        <p:spPr>
          <a:xfrm>
            <a:off x="548640" y="5806440"/>
            <a:ext cx="11064240" cy="365760"/>
          </a:xfrm>
          <a:prstGeom prst="rect">
            <a:avLst/>
          </a:prstGeom>
          <a:noFill/>
        </p:spPr>
        <p:txBody>
          <a:bodyPr wrap="square" lIns="0" rIns="0" tIns="0" bIns="0" anchor="t">
            <a:spAutoFit/>
          </a:bodyPr>
          <a:lstStyle/>
          <a:p>
            <a:pPr algn="l"/>
            <a:r>
              <a:rPr sz="1300" b="1" i="0">
                <a:solidFill>
                  <a:srgbClr val="15323F"/>
                </a:solidFill>
                <a:latin typeface="Calibri"/>
              </a:rPr>
              <a:t>Thank you. </a:t>
            </a:r>
            <a:r>
              <a:rPr sz="1300" b="0" i="0">
                <a:solidFill>
                  <a:srgbClr val="15323F"/>
                </a:solidFill>
                <a:latin typeface="Calibri"/>
              </a:rPr>
              <a:t>Data, scripts, result files and the decision log are in the project repository.</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Appendix A1 · References</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27</a:t>
            </a:r>
          </a:p>
        </p:txBody>
      </p:sp>
      <p:sp>
        <p:nvSpPr>
          <p:cNvPr id="15" name="references column 1"/>
          <p:cNvSpPr txBox="1"/>
          <p:nvPr/>
        </p:nvSpPr>
        <p:spPr>
          <a:xfrm>
            <a:off x="548640" y="1097280"/>
            <a:ext cx="5440680" cy="4937760"/>
          </a:xfrm>
          <a:prstGeom prst="rect">
            <a:avLst/>
          </a:prstGeom>
          <a:noFill/>
        </p:spPr>
        <p:txBody>
          <a:bodyPr wrap="square" lIns="0" rIns="0" tIns="0" bIns="0" anchor="t">
            <a:spAutoFit/>
          </a:bodyPr>
          <a:lstStyle/>
          <a:p>
            <a:pPr algn="l">
              <a:spcBef>
                <a:spcPts val="700"/>
              </a:spcBef>
            </a:pPr>
            <a:r>
              <a:rPr sz="1150" b="0" i="0">
                <a:solidFill>
                  <a:srgbClr val="15323F"/>
                </a:solidFill>
                <a:latin typeface="Calibri"/>
              </a:rPr>
              <a:t>1.  Koren I, Timms RT, Kula T, Xu Q, Li MZ, Elledge SJ. The eukaryotic proteome is shaped by E3 ubiquitin ligases targeting C-terminal degrons. Cell 173(7):1622–1635.e14, 2018. doi:10.1016/j.cell.2018.04.028</a:t>
            </a:r>
          </a:p>
          <a:p>
            <a:pPr algn="l">
              <a:spcBef>
                <a:spcPts val="700"/>
              </a:spcBef>
            </a:pPr>
            <a:r>
              <a:rPr sz="1150" b="0" i="0">
                <a:solidFill>
                  <a:srgbClr val="15323F"/>
                </a:solidFill>
                <a:latin typeface="Calibri"/>
              </a:rPr>
              <a:t>2.  Hou C, Li Y, Wang M, Wu H, Li T. Systematic prediction of degrons and E3 ubiquitin ligase binding via deep learning. BMC Biol 20(1):162, 2022. doi:10.1186/s12915-022-01364-6</a:t>
            </a:r>
          </a:p>
          <a:p>
            <a:pPr algn="l">
              <a:spcBef>
                <a:spcPts val="700"/>
              </a:spcBef>
            </a:pPr>
            <a:r>
              <a:rPr sz="1150" b="0" i="0">
                <a:solidFill>
                  <a:srgbClr val="15323F"/>
                </a:solidFill>
                <a:latin typeface="Calibri"/>
              </a:rPr>
              <a:t>3.  Zhang Z, Sie B, Chang A, Leng Y, Nardone C, Timms RT, Elledge SJ. Elucidation of E3 ubiquitin ligase specificity through proteome-wide internal degron mapping. Mol Cell 83(18):3377–3392.e6, 2023. doi:10.1016/j.molcel.2023.08.022</a:t>
            </a:r>
          </a:p>
          <a:p>
            <a:pPr algn="l">
              <a:spcBef>
                <a:spcPts val="700"/>
              </a:spcBef>
            </a:pPr>
            <a:r>
              <a:rPr sz="1150" b="0" i="0">
                <a:solidFill>
                  <a:srgbClr val="15323F"/>
                </a:solidFill>
                <a:latin typeface="Calibri"/>
              </a:rPr>
              <a:t>4.  Xu H, Hu R, Zhao Z. DegronMD. Mol Biol Evol 40(12), 2023. doi:10.1093/molbev/msad253</a:t>
            </a:r>
          </a:p>
          <a:p>
            <a:pPr algn="l">
              <a:spcBef>
                <a:spcPts val="700"/>
              </a:spcBef>
            </a:pPr>
            <a:r>
              <a:rPr sz="1150" b="0" i="0">
                <a:solidFill>
                  <a:srgbClr val="15323F"/>
                </a:solidFill>
                <a:latin typeface="Calibri"/>
              </a:rPr>
              <a:t>5.  Szulc NA, et al. DEGRONOPEDIA: a web server for proteome-wide inspection of degrons. Nucleic Acids Res 52(W1):W221–W232, 2024. doi:10.1093/nar/gkae238</a:t>
            </a:r>
          </a:p>
          <a:p>
            <a:pPr algn="l">
              <a:spcBef>
                <a:spcPts val="700"/>
              </a:spcBef>
            </a:pPr>
            <a:r>
              <a:rPr sz="1150" b="0" i="0">
                <a:solidFill>
                  <a:srgbClr val="15323F"/>
                </a:solidFill>
                <a:latin typeface="Calibri"/>
              </a:rPr>
              <a:t>6.  Zheng M, Lin S, Chen K, Hu R, Wang L, Zhao Z, Xu H. MetaDegron: multimodal feature-integrated protein language model for predicting E3 ligase targeted degrons. Brief Bioinform 25(6), 2024. doi:10.1093/bib/bbae519</a:t>
            </a:r>
          </a:p>
          <a:p>
            <a:pPr algn="l">
              <a:spcBef>
                <a:spcPts val="700"/>
              </a:spcBef>
            </a:pPr>
            <a:r>
              <a:rPr sz="1150" b="0" i="0">
                <a:solidFill>
                  <a:srgbClr val="15323F"/>
                </a:solidFill>
                <a:latin typeface="Calibri"/>
              </a:rPr>
              <a:t>7.  Voutsinos V, et al. A near-complete map of human cytosolic degrons and their relevance for disease. Sci Adv 12(6):eadz3483, 2026. doi:10.1126/sciadv.adz3483</a:t>
            </a:r>
          </a:p>
        </p:txBody>
      </p:sp>
      <p:sp>
        <p:nvSpPr>
          <p:cNvPr id="16" name="references column 2"/>
          <p:cNvSpPr txBox="1"/>
          <p:nvPr/>
        </p:nvSpPr>
        <p:spPr>
          <a:xfrm>
            <a:off x="6172200" y="1097280"/>
            <a:ext cx="5440680" cy="4937760"/>
          </a:xfrm>
          <a:prstGeom prst="rect">
            <a:avLst/>
          </a:prstGeom>
          <a:noFill/>
        </p:spPr>
        <p:txBody>
          <a:bodyPr wrap="square" lIns="0" rIns="0" tIns="0" bIns="0" anchor="t">
            <a:spAutoFit/>
          </a:bodyPr>
          <a:lstStyle/>
          <a:p>
            <a:pPr algn="l">
              <a:spcBef>
                <a:spcPts val="700"/>
              </a:spcBef>
            </a:pPr>
            <a:r>
              <a:rPr sz="1150" b="0" i="0">
                <a:solidFill>
                  <a:srgbClr val="15323F"/>
                </a:solidFill>
                <a:latin typeface="Calibri"/>
              </a:rPr>
              <a:t>8.  Larsen FB, Voutsinos V, et al. Comprehensive degron mapping in human transcription factors. bioRxiv 2025.05.16.654404 (preprint, not peer reviewed). doi:10.1101/2025.05.16.654404</a:t>
            </a:r>
          </a:p>
          <a:p>
            <a:pPr algn="l">
              <a:spcBef>
                <a:spcPts val="700"/>
              </a:spcBef>
            </a:pPr>
            <a:r>
              <a:rPr sz="1150" b="0" i="0">
                <a:solidFill>
                  <a:srgbClr val="15323F"/>
                </a:solidFill>
                <a:latin typeface="Calibri"/>
              </a:rPr>
              <a:t>9.  Degformer, GitHub Alpine2048/Degformer, Apache-2.0, created 24 Mar 2026. No publication.</a:t>
            </a:r>
          </a:p>
          <a:p>
            <a:pPr algn="l">
              <a:spcBef>
                <a:spcPts val="700"/>
              </a:spcBef>
            </a:pPr>
            <a:r>
              <a:rPr sz="1150" b="0" i="0">
                <a:solidFill>
                  <a:srgbClr val="15323F"/>
                </a:solidFill>
                <a:latin typeface="Calibri"/>
              </a:rPr>
              <a:t>10.  Schulze TK, Lindorff-Larsen K. Effects of residue substitutions on the cellular abundance of proteins. eLife 13, 2026. doi:10.7554/eLife.103721</a:t>
            </a:r>
          </a:p>
          <a:p>
            <a:pPr algn="l">
              <a:spcBef>
                <a:spcPts val="700"/>
              </a:spcBef>
            </a:pPr>
            <a:r>
              <a:rPr sz="1150" b="0" i="0">
                <a:solidFill>
                  <a:srgbClr val="15323F"/>
                </a:solidFill>
                <a:latin typeface="Calibri"/>
              </a:rPr>
              <a:t>11.  LeBlanc CJ, Agarwal P, Demaray JE, Hu G, Zintel MA, Lam AWY, Castro Hernandez JE, Staller MV. Interpretable biophysical neural networks of transcriptional activation domains. Cell Syst 17(9):101701, 2026. doi:10.1016/j.cels.2026.101701</a:t>
            </a:r>
          </a:p>
          <a:p>
            <a:pPr algn="l">
              <a:spcBef>
                <a:spcPts val="700"/>
              </a:spcBef>
            </a:pPr>
            <a:r>
              <a:rPr sz="1150" b="0" i="0">
                <a:solidFill>
                  <a:srgbClr val="15323F"/>
                </a:solidFill>
                <a:latin typeface="Calibri"/>
              </a:rPr>
              <a:t>12.  Landrum MJ, et al. ClinVar: improvements to accessing data. Nucleic Acids Res 2018. PMID 29165669</a:t>
            </a:r>
          </a:p>
          <a:p>
            <a:pPr algn="l">
              <a:spcBef>
                <a:spcPts val="700"/>
              </a:spcBef>
            </a:pPr>
            <a:r>
              <a:rPr sz="1150" b="0" i="0">
                <a:solidFill>
                  <a:srgbClr val="15323F"/>
                </a:solidFill>
                <a:latin typeface="Calibri"/>
              </a:rPr>
              <a:t>13.  Tokheim C, Wang X, Timms RT, …, Liu XS. Systematic characterization of mutations altering protein degradation in human cancers. Mol Cell 81(6):1292–1308.e11, 2021. doi:10.1016/j.molcel.2021.01.020</a:t>
            </a:r>
          </a:p>
          <a:p>
            <a:pPr algn="l">
              <a:spcBef>
                <a:spcPts val="700"/>
              </a:spcBef>
            </a:pPr>
            <a:r>
              <a:rPr sz="1150" b="0" i="0">
                <a:solidFill>
                  <a:srgbClr val="15323F"/>
                </a:solidFill>
                <a:latin typeface="Calibri"/>
              </a:rPr>
              <a:t>14.  Liu J, Tokheim C, Lee JD, …, Pandolfi PP, Wei W. Nat Commun 12:6704, 2021. doi:10.1038/s41467-021-26871-y</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itle 1"/>
          <p:cNvSpPr>
            <a:spLocks noGrp="1"/>
          </p:cNvSpPr>
          <p:nvPr>
            <p:ph type="title"/>
          </p:nvPr>
        </p:nvSpPr>
        <p:spPr>
          <a:xfrm>
            <a:off x="548640" y="384048"/>
            <a:ext cx="11094415" cy="457200"/>
          </a:xfrm>
        </p:spPr>
        <p:txBody>
          <a:bodyPr wrap="square" anchor="t" lIns="0" rIns="0" tIns="0" bIns="0"/>
          <a:lstStyle/>
          <a:p>
            <a:pPr algn="l"/>
            <a:r>
              <a:rPr sz="2600" b="1">
                <a:solidFill>
                  <a:srgbClr val="15323F"/>
                </a:solidFill>
                <a:latin typeface="Calibri"/>
              </a:rPr>
              <a:t>Appendix A2 · Record format and identifier decoding</a:t>
            </a:r>
          </a:p>
        </p:txBody>
      </p:sp>
      <p:sp>
        <p:nvSpPr>
          <p:cNvPr id="3" name="footer"/>
          <p:cNvSpPr txBox="1"/>
          <p:nvPr/>
        </p:nvSpPr>
        <p:spPr>
          <a:xfrm>
            <a:off x="548640" y="6473952"/>
            <a:ext cx="6400800" cy="228600"/>
          </a:xfrm>
          <a:prstGeom prst="rect">
            <a:avLst/>
          </a:prstGeom>
          <a:noFill/>
        </p:spPr>
        <p:txBody>
          <a:bodyPr wrap="square" lIns="0" rIns="0" tIns="0" bIns="0" anchor="t">
            <a:spAutoFit/>
          </a:bodyPr>
          <a:lstStyle/>
          <a:p>
            <a:pPr algn="l"/>
            <a:r>
              <a:rPr sz="1000" b="0" i="0">
                <a:solidFill>
                  <a:srgbClr val="5B7380"/>
                </a:solidFill>
                <a:latin typeface="Calibri"/>
              </a:rPr>
              <a:t>Residue-level prediction of degron mutation effects  ·  CT553H  ·  Nguyễn Thế Trọng</a:t>
            </a:r>
          </a:p>
        </p:txBody>
      </p:sp>
      <p:sp>
        <p:nvSpPr>
          <p:cNvPr id="4" name="progress 1"/>
          <p:cNvSpPr/>
          <p:nvPr/>
        </p:nvSpPr>
        <p:spPr>
          <a:xfrm>
            <a:off x="880841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progress 2"/>
          <p:cNvSpPr/>
          <p:nvPr/>
        </p:nvSpPr>
        <p:spPr>
          <a:xfrm>
            <a:off x="900958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progress 3"/>
          <p:cNvSpPr/>
          <p:nvPr/>
        </p:nvSpPr>
        <p:spPr>
          <a:xfrm>
            <a:off x="921075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progress 4"/>
          <p:cNvSpPr/>
          <p:nvPr/>
        </p:nvSpPr>
        <p:spPr>
          <a:xfrm>
            <a:off x="941191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progress 5"/>
          <p:cNvSpPr/>
          <p:nvPr/>
        </p:nvSpPr>
        <p:spPr>
          <a:xfrm>
            <a:off x="961308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rogress 6"/>
          <p:cNvSpPr/>
          <p:nvPr/>
        </p:nvSpPr>
        <p:spPr>
          <a:xfrm>
            <a:off x="9814255"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progress 7"/>
          <p:cNvSpPr/>
          <p:nvPr/>
        </p:nvSpPr>
        <p:spPr>
          <a:xfrm>
            <a:off x="10015423"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progress 8"/>
          <p:cNvSpPr/>
          <p:nvPr/>
        </p:nvSpPr>
        <p:spPr>
          <a:xfrm>
            <a:off x="10216591"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progress 9"/>
          <p:cNvSpPr/>
          <p:nvPr/>
        </p:nvSpPr>
        <p:spPr>
          <a:xfrm>
            <a:off x="10417759"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rogress 10"/>
          <p:cNvSpPr/>
          <p:nvPr/>
        </p:nvSpPr>
        <p:spPr>
          <a:xfrm>
            <a:off x="10618927" y="6519672"/>
            <a:ext cx="146304" cy="146304"/>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slide number"/>
          <p:cNvSpPr txBox="1"/>
          <p:nvPr/>
        </p:nvSpPr>
        <p:spPr>
          <a:xfrm>
            <a:off x="10957255" y="6473952"/>
            <a:ext cx="685800" cy="228600"/>
          </a:xfrm>
          <a:prstGeom prst="rect">
            <a:avLst/>
          </a:prstGeom>
          <a:noFill/>
        </p:spPr>
        <p:txBody>
          <a:bodyPr wrap="square" lIns="0" rIns="0" tIns="0" bIns="0" anchor="t">
            <a:spAutoFit/>
          </a:bodyPr>
          <a:lstStyle/>
          <a:p>
            <a:pPr algn="r"/>
            <a:r>
              <a:rPr sz="1000" b="0" i="0">
                <a:solidFill>
                  <a:srgbClr val="5B7380"/>
                </a:solidFill>
                <a:latin typeface="Calibri"/>
              </a:rPr>
              <a:t>28</a:t>
            </a:r>
          </a:p>
        </p:txBody>
      </p:sp>
      <p:graphicFrame>
        <p:nvGraphicFramePr>
          <p:cNvPr id="15" name="fields"/>
          <p:cNvGraphicFramePr>
            <a:graphicFrameLocks noGrp="1"/>
          </p:cNvGraphicFramePr>
          <p:nvPr/>
        </p:nvGraphicFramePr>
        <p:xfrm>
          <a:off x="548640" y="1097280"/>
          <a:ext cx="11091672" cy="1371600"/>
        </p:xfrm>
        <a:graphic>
          <a:graphicData uri="http://schemas.openxmlformats.org/drawingml/2006/table">
            <a:tbl>
              <a:tblPr firstRow="0" bandRow="0">
                <a:tableStyleId>{2D5ABB26-0587-4C30-8999-92F81FD0307C}</a:tableStyleId>
              </a:tblPr>
              <a:tblGrid>
                <a:gridCol w="1280160"/>
                <a:gridCol w="1371600"/>
                <a:gridCol w="8439912"/>
              </a:tblGrid>
              <a:tr h="274320">
                <a:tc>
                  <a:txBody>
                    <a:bodyPr wrap="square"/>
                    <a:lstStyle/>
                    <a:p>
                      <a:pPr algn="l"/>
                      <a:r>
                        <a:rPr sz="1200" b="1" i="0">
                          <a:solidFill>
                            <a:srgbClr val="FAFBFC"/>
                          </a:solidFill>
                          <a:latin typeface="Courier New"/>
                        </a:rPr>
                        <a:t>Field</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200" b="1" i="0">
                          <a:solidFill>
                            <a:srgbClr val="FAFBFC"/>
                          </a:solidFill>
                          <a:latin typeface="Calibri"/>
                        </a:rPr>
                        <a:t>Type</a:t>
                      </a:r>
                    </a:p>
                  </a:txBody>
                  <a:tcPr marL="54864" marR="54864" marT="27432" marB="27432" anchor="ctr">
                    <a:lnL w="0">
                      <a:noFill/>
                    </a:lnL>
                    <a:lnR w="0">
                      <a:noFill/>
                    </a:lnR>
                    <a:lnT w="0">
                      <a:noFill/>
                    </a:lnT>
                    <a:lnB w="6350">
                      <a:solidFill>
                        <a:srgbClr val="DDE4E8"/>
                      </a:solidFill>
                    </a:lnB>
                    <a:solidFill>
                      <a:srgbClr val="15323F"/>
                    </a:solidFill>
                  </a:tcPr>
                </a:tc>
                <a:tc>
                  <a:txBody>
                    <a:bodyPr wrap="square"/>
                    <a:lstStyle/>
                    <a:p>
                      <a:pPr algn="l"/>
                      <a:r>
                        <a:rPr sz="1200" b="1" i="0">
                          <a:solidFill>
                            <a:srgbClr val="FAFBFC"/>
                          </a:solidFill>
                          <a:latin typeface="Calibri"/>
                        </a:rPr>
                        <a:t>Meaning</a:t>
                      </a:r>
                    </a:p>
                  </a:txBody>
                  <a:tcPr marL="54864" marR="54864" marT="27432" marB="27432" anchor="ctr">
                    <a:lnL w="0">
                      <a:noFill/>
                    </a:lnL>
                    <a:lnR w="0">
                      <a:noFill/>
                    </a:lnR>
                    <a:lnT w="0">
                      <a:noFill/>
                    </a:lnT>
                    <a:lnB w="6350">
                      <a:solidFill>
                        <a:srgbClr val="DDE4E8"/>
                      </a:solidFill>
                    </a:lnB>
                    <a:solidFill>
                      <a:srgbClr val="15323F"/>
                    </a:solidFill>
                  </a:tcPr>
                </a:tc>
              </a:tr>
              <a:tr h="274320">
                <a:tc>
                  <a:txBody>
                    <a:bodyPr wrap="square"/>
                    <a:lstStyle/>
                    <a:p>
                      <a:pPr algn="l"/>
                      <a:r>
                        <a:rPr sz="1200" b="1" i="0">
                          <a:solidFill>
                            <a:srgbClr val="15323F"/>
                          </a:solidFill>
                          <a:latin typeface="Courier New"/>
                        </a:rPr>
                        <a:t>id</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200" b="0" i="0">
                          <a:solidFill>
                            <a:srgbClr val="15323F"/>
                          </a:solidFill>
                          <a:latin typeface="Calibri"/>
                        </a:rPr>
                        <a:t>string</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200" b="0" i="0">
                          <a:solidFill>
                            <a:srgbClr val="15323F"/>
                          </a:solidFill>
                          <a:latin typeface="Calibri"/>
                        </a:rPr>
                        <a:t>&lt;ACCESSION&gt;_&lt;GENE&gt;_&lt;tile&gt;_mut&lt;pos&gt;&lt;aa&gt;, e.g. A2RUQ5_C17orf102_2_mut10a</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200" b="1" i="0">
                          <a:solidFill>
                            <a:srgbClr val="15323F"/>
                          </a:solidFill>
                          <a:latin typeface="Courier New"/>
                        </a:rPr>
                        <a:t>psi</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200" b="0" i="0">
                          <a:solidFill>
                            <a:srgbClr val="15323F"/>
                          </a:solidFill>
                          <a:latin typeface="Calibri"/>
                        </a:rPr>
                        <a:t>float, 1…6</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200" b="0" i="0">
                          <a:solidFill>
                            <a:srgbClr val="15323F"/>
                          </a:solidFill>
                          <a:latin typeface="Calibri"/>
                        </a:rPr>
                        <a:t>Protein Stability Index: low = degraded = strong degron</a:t>
                      </a:r>
                    </a:p>
                  </a:txBody>
                  <a:tcPr marL="54864" marR="54864" marT="27432" marB="27432" anchor="ctr">
                    <a:lnL w="0">
                      <a:noFill/>
                    </a:lnL>
                    <a:lnR w="0">
                      <a:noFill/>
                    </a:lnR>
                    <a:lnT w="0">
                      <a:noFill/>
                    </a:lnT>
                    <a:lnB w="6350">
                      <a:solidFill>
                        <a:srgbClr val="DDE4E8"/>
                      </a:solidFill>
                    </a:lnB>
                    <a:solidFill>
                      <a:srgbClr val="F4F7F8"/>
                    </a:solidFill>
                  </a:tcPr>
                </a:tc>
              </a:tr>
              <a:tr h="274320">
                <a:tc>
                  <a:txBody>
                    <a:bodyPr wrap="square"/>
                    <a:lstStyle/>
                    <a:p>
                      <a:pPr algn="l"/>
                      <a:r>
                        <a:rPr sz="1200" b="1" i="0">
                          <a:solidFill>
                            <a:srgbClr val="15323F"/>
                          </a:solidFill>
                          <a:latin typeface="Courier New"/>
                        </a:rPr>
                        <a:t>sum</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200" b="0" i="0">
                          <a:solidFill>
                            <a:srgbClr val="15323F"/>
                          </a:solidFill>
                          <a:latin typeface="Calibri"/>
                        </a:rPr>
                        <a:t>float</a:t>
                      </a:r>
                    </a:p>
                  </a:txBody>
                  <a:tcPr marL="54864" marR="54864" marT="27432" marB="27432" anchor="ctr">
                    <a:lnL w="0">
                      <a:noFill/>
                    </a:lnL>
                    <a:lnR w="0">
                      <a:noFill/>
                    </a:lnR>
                    <a:lnT w="0">
                      <a:noFill/>
                    </a:lnT>
                    <a:lnB w="6350">
                      <a:solidFill>
                        <a:srgbClr val="DDE4E8"/>
                      </a:solidFill>
                    </a:lnB>
                    <a:solidFill>
                      <a:srgbClr val="FFFFFF"/>
                    </a:solidFill>
                  </a:tcPr>
                </a:tc>
                <a:tc>
                  <a:txBody>
                    <a:bodyPr wrap="square"/>
                    <a:lstStyle/>
                    <a:p>
                      <a:pPr algn="l"/>
                      <a:r>
                        <a:rPr sz="1200" b="0" i="0">
                          <a:solidFill>
                            <a:srgbClr val="15323F"/>
                          </a:solidFill>
                          <a:latin typeface="Calibri"/>
                        </a:rPr>
                        <a:t>normalised read depth, used for filtering (scanning: sum ≥ 10)</a:t>
                      </a:r>
                    </a:p>
                  </a:txBody>
                  <a:tcPr marL="54864" marR="54864" marT="27432" marB="27432" anchor="ctr">
                    <a:lnL w="0">
                      <a:noFill/>
                    </a:lnL>
                    <a:lnR w="0">
                      <a:noFill/>
                    </a:lnR>
                    <a:lnT w="0">
                      <a:noFill/>
                    </a:lnT>
                    <a:lnB w="6350">
                      <a:solidFill>
                        <a:srgbClr val="DDE4E8"/>
                      </a:solidFill>
                    </a:lnB>
                    <a:solidFill>
                      <a:srgbClr val="FFFFFF"/>
                    </a:solidFill>
                  </a:tcPr>
                </a:tc>
              </a:tr>
              <a:tr h="274320">
                <a:tc>
                  <a:txBody>
                    <a:bodyPr wrap="square"/>
                    <a:lstStyle/>
                    <a:p>
                      <a:pPr algn="l"/>
                      <a:r>
                        <a:rPr sz="1200" b="1" i="0">
                          <a:solidFill>
                            <a:srgbClr val="15323F"/>
                          </a:solidFill>
                          <a:latin typeface="Courier New"/>
                        </a:rPr>
                        <a:t>nb1…nb6</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200" b="0" i="0">
                          <a:solidFill>
                            <a:srgbClr val="15323F"/>
                          </a:solidFill>
                          <a:latin typeface="Calibri"/>
                        </a:rPr>
                        <a:t>float</a:t>
                      </a:r>
                    </a:p>
                  </a:txBody>
                  <a:tcPr marL="54864" marR="54864" marT="27432" marB="27432" anchor="ctr">
                    <a:lnL w="0">
                      <a:noFill/>
                    </a:lnL>
                    <a:lnR w="0">
                      <a:noFill/>
                    </a:lnR>
                    <a:lnT w="0">
                      <a:noFill/>
                    </a:lnT>
                    <a:lnB w="6350">
                      <a:solidFill>
                        <a:srgbClr val="DDE4E8"/>
                      </a:solidFill>
                    </a:lnB>
                    <a:solidFill>
                      <a:srgbClr val="F4F7F8"/>
                    </a:solidFill>
                  </a:tcPr>
                </a:tc>
                <a:tc>
                  <a:txBody>
                    <a:bodyPr wrap="square"/>
                    <a:lstStyle/>
                    <a:p>
                      <a:pPr algn="l"/>
                      <a:r>
                        <a:rPr sz="1200" b="0" i="0">
                          <a:solidFill>
                            <a:srgbClr val="15323F"/>
                          </a:solidFill>
                          <a:latin typeface="Calibri"/>
                        </a:rPr>
                        <a:t>normalised reads in stability bins 1…6</a:t>
                      </a:r>
                    </a:p>
                  </a:txBody>
                  <a:tcPr marL="54864" marR="54864" marT="27432" marB="27432" anchor="ctr">
                    <a:lnL w="0">
                      <a:noFill/>
                    </a:lnL>
                    <a:lnR w="0">
                      <a:noFill/>
                    </a:lnR>
                    <a:lnT w="0">
                      <a:noFill/>
                    </a:lnT>
                    <a:lnB w="6350">
                      <a:solidFill>
                        <a:srgbClr val="DDE4E8"/>
                      </a:solidFill>
                    </a:lnB>
                    <a:solidFill>
                      <a:srgbClr val="F4F7F8"/>
                    </a:solidFill>
                  </a:tcPr>
                </a:tc>
              </a:tr>
            </a:tbl>
          </a:graphicData>
        </a:graphic>
      </p:graphicFrame>
      <p:sp>
        <p:nvSpPr>
          <p:cNvPr id="16" name="card: Identifier decoding"/>
          <p:cNvSpPr/>
          <p:nvPr/>
        </p:nvSpPr>
        <p:spPr>
          <a:xfrm>
            <a:off x="548640" y="2697480"/>
            <a:ext cx="5394960" cy="1737360"/>
          </a:xfrm>
          <a:prstGeom prst="roundRect">
            <a:avLst>
              <a:gd name="adj" fmla="val 5263"/>
            </a:avLst>
          </a:prstGeom>
          <a:solidFill>
            <a:srgbClr val="DCE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card text: Identifier decoding"/>
          <p:cNvSpPr txBox="1"/>
          <p:nvPr/>
        </p:nvSpPr>
        <p:spPr>
          <a:xfrm>
            <a:off x="685800" y="2788920"/>
            <a:ext cx="5120640" cy="1600200"/>
          </a:xfrm>
          <a:prstGeom prst="rect">
            <a:avLst/>
          </a:prstGeom>
          <a:noFill/>
        </p:spPr>
        <p:txBody>
          <a:bodyPr wrap="square" lIns="0" rIns="0" tIns="0" bIns="0" anchor="t">
            <a:spAutoFit/>
          </a:bodyPr>
          <a:lstStyle/>
          <a:p>
            <a:pPr algn="l"/>
            <a:r>
              <a:rPr sz="1300" b="1" i="0">
                <a:solidFill>
                  <a:srgbClr val="386FA4"/>
                </a:solidFill>
                <a:latin typeface="Calibri"/>
              </a:rPr>
              <a:t>Identifier decoding</a:t>
            </a:r>
          </a:p>
          <a:p>
            <a:pPr algn="l">
              <a:spcBef>
                <a:spcPts val="300"/>
              </a:spcBef>
            </a:pPr>
            <a:r>
              <a:rPr sz="1200" b="0" i="0">
                <a:solidFill>
                  <a:srgbClr val="15323F"/>
                </a:solidFill>
                <a:latin typeface="Calibri"/>
              </a:rPr>
              <a:t>accession → wild-type sequence. Tile n starts at residue (n−1)×23 + 1 and has length 28. mut10a = position 10 substituted to alanine. The tile rule is verified on 128 of 130 peptides with a known sequence; the 2 mismatches are excluded.</a:t>
            </a:r>
          </a:p>
        </p:txBody>
      </p:sp>
      <p:sp>
        <p:nvSpPr>
          <p:cNvPr id="18" name="card: Real rows (psi-rep1."/>
          <p:cNvSpPr/>
          <p:nvPr/>
        </p:nvSpPr>
        <p:spPr>
          <a:xfrm>
            <a:off x="6217920" y="2697480"/>
            <a:ext cx="5422392" cy="1737360"/>
          </a:xfrm>
          <a:prstGeom prst="roundRect">
            <a:avLst>
              <a:gd name="adj" fmla="val 5263"/>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card text: Real rows (psi-rep1."/>
          <p:cNvSpPr txBox="1"/>
          <p:nvPr/>
        </p:nvSpPr>
        <p:spPr>
          <a:xfrm>
            <a:off x="6355080" y="2788920"/>
            <a:ext cx="5148072" cy="1600200"/>
          </a:xfrm>
          <a:prstGeom prst="rect">
            <a:avLst/>
          </a:prstGeom>
          <a:noFill/>
        </p:spPr>
        <p:txBody>
          <a:bodyPr wrap="square" lIns="0" rIns="0" tIns="0" bIns="0" anchor="t">
            <a:spAutoFit/>
          </a:bodyPr>
          <a:lstStyle/>
          <a:p>
            <a:pPr algn="l"/>
            <a:r>
              <a:rPr sz="1300" b="1" i="0">
                <a:solidFill>
                  <a:srgbClr val="15323F"/>
                </a:solidFill>
                <a:latin typeface="Calibri"/>
              </a:rPr>
              <a:t>Real rows (psi-rep1.tsv, psi-sat_a.tsv)</a:t>
            </a:r>
          </a:p>
          <a:p>
            <a:pPr algn="l">
              <a:spcBef>
                <a:spcPts val="300"/>
              </a:spcBef>
            </a:pPr>
            <a:r>
              <a:rPr sz="1100" b="0" i="0">
                <a:solidFill>
                  <a:srgbClr val="15323F"/>
                </a:solidFill>
                <a:latin typeface="Courier New"/>
              </a:rPr>
              <a:t>A0A0B4J1Y8_IGLV9-49_1_mut24   1.884  364.9</a:t>
            </a:r>
          </a:p>
          <a:p>
            <a:pPr algn="l">
              <a:spcBef>
                <a:spcPts val="200"/>
              </a:spcBef>
            </a:pPr>
            <a:r>
              <a:rPr sz="1100" b="0" i="0">
                <a:solidFill>
                  <a:srgbClr val="15323F"/>
                </a:solidFill>
                <a:latin typeface="Courier New"/>
              </a:rPr>
              <a:t>A0A0B4J1Y8_IGLV9-49_1_mut26   2.168  199.1</a:t>
            </a:r>
          </a:p>
          <a:p>
            <a:pPr algn="l">
              <a:spcBef>
                <a:spcPts val="200"/>
              </a:spcBef>
            </a:pPr>
            <a:r>
              <a:rPr sz="1100" b="0" i="0">
                <a:solidFill>
                  <a:srgbClr val="15323F"/>
                </a:solidFill>
                <a:latin typeface="Courier New"/>
              </a:rPr>
              <a:t>A2RUQ5_C17orf102_2_mut10a     4.916  484.4</a:t>
            </a:r>
          </a:p>
          <a:p>
            <a:pPr algn="l">
              <a:spcBef>
                <a:spcPts val="400"/>
              </a:spcBef>
            </a:pPr>
            <a:r>
              <a:rPr sz="1050" b="0" i="0">
                <a:solidFill>
                  <a:srgbClr val="5B7380"/>
                </a:solidFill>
                <a:latin typeface="Calibri"/>
              </a:rPr>
              <a:t>columns: id, psi, sum (nb1…nb6 omitted)</a:t>
            </a:r>
          </a:p>
        </p:txBody>
      </p:sp>
      <p:sp>
        <p:nvSpPr>
          <p:cNvPr id="20" name="notes"/>
          <p:cNvSpPr txBox="1"/>
          <p:nvPr/>
        </p:nvSpPr>
        <p:spPr>
          <a:xfrm>
            <a:off x="548640" y="4709160"/>
            <a:ext cx="11064240" cy="822960"/>
          </a:xfrm>
          <a:prstGeom prst="rect">
            <a:avLst/>
          </a:prstGeom>
          <a:noFill/>
        </p:spPr>
        <p:txBody>
          <a:bodyPr wrap="square" lIns="0" rIns="0" tIns="0" bIns="0" anchor="t">
            <a:spAutoFit/>
          </a:bodyPr>
          <a:lstStyle/>
          <a:p>
            <a:pPr algn="l" marL="182880" indent="-182880">
              <a:spcBef>
                <a:spcPts val="400"/>
              </a:spcBef>
              <a:buClr>
                <a:srgbClr val="D1495B"/>
              </a:buClr>
              <a:buFont typeface="Arial"/>
              <a:buChar char="•"/>
            </a:pPr>
            <a:r>
              <a:rPr sz="1200" b="0" i="0">
                <a:solidFill>
                  <a:srgbClr val="15323F"/>
                </a:solidFill>
                <a:latin typeface="Calibri"/>
              </a:rPr>
              <a:t>Saturation set has no separate wild-type measurement: synonymous-codon cells (28 per peptide) serve as the internal wild type; median within-peptide PSI SD 0.0576</a:t>
            </a:r>
          </a:p>
          <a:p>
            <a:pPr algn="l" marL="182880" indent="-182880">
              <a:spcBef>
                <a:spcPts val="400"/>
              </a:spcBef>
              <a:buClr>
                <a:srgbClr val="D1495B"/>
              </a:buClr>
              <a:buFont typeface="Arial"/>
              <a:buChar char="•"/>
            </a:pPr>
            <a:r>
              <a:rPr sz="1200" b="0" i="0">
                <a:solidFill>
                  <a:srgbClr val="15323F"/>
                </a:solidFill>
                <a:latin typeface="Calibri"/>
              </a:rPr>
              <a:t>A trailing “*” (813 peptides of 27 aa) is masked, never fed to the model as a 21st token</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Residue-Level Prediction of Degron Mutation Effects: progress report, week 6</dc:title>
  <dc:subject>CT553H thesis, Can Tho University</dc:subject>
  <dc:creator>Nguyễn Thế Trọng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